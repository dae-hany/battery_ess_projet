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99" r:id="rId2"/>
    <p:sldId id="300" r:id="rId3"/>
    <p:sldId id="301" r:id="rId4"/>
    <p:sldId id="319" r:id="rId5"/>
    <p:sldId id="320" r:id="rId6"/>
    <p:sldId id="321" r:id="rId7"/>
    <p:sldId id="322" r:id="rId8"/>
    <p:sldId id="323" r:id="rId9"/>
    <p:sldId id="324" r:id="rId10"/>
    <p:sldId id="325" r:id="rId11"/>
  </p:sldIdLst>
  <p:sldSz cx="12192000" cy="6858000"/>
  <p:notesSz cx="6858000" cy="9144000"/>
  <p:custDataLst>
    <p:tags r:id="rId1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02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298" y="72"/>
      </p:cViewPr>
      <p:guideLst>
        <p:guide orient="horz" pos="2195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5A3DFB-0CC4-37C5-52EB-06B43223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BC839D-F34D-BFEC-6C1E-589F837B20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94F3DF71-84CE-0941-B6C4-1D934A8302AF}" type="datetimeFigureOut">
              <a:rPr lang="zh-CN" altLang="en-US"/>
              <a:pPr>
                <a:defRPr/>
              </a:pPr>
              <a:t>2025/11/4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316" name="幻灯片图像占位符 3">
            <a:extLst>
              <a:ext uri="{FF2B5EF4-FFF2-40B4-BE49-F238E27FC236}">
                <a16:creationId xmlns:a16="http://schemas.microsoft.com/office/drawing/2014/main" id="{F3B262A3-3BB8-0FCF-9ABC-73BD4FD1E99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:a16="http://schemas.microsoft.com/office/drawing/2014/main" id="{CB2BA2B0-5DD7-3EB3-8C2C-3D2BE8294C40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30AA2-BBE5-7926-B653-02B16EF9A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B90DF-8012-5E73-0121-2E3FE0F94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56DCF6-2428-DA40-9012-2B3EB60B5C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BD14CE-2C57-96E4-BD38-3CAB7F73EFF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A1C3A-3E82-4749-98EB-A95B5627E404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AF934A-88DB-B8A1-AED5-46ED294E446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05650-375B-CA52-6966-C26F178928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9E1F8-6FA0-0E49-8349-1996509027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68555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853A3-E390-6D30-8DBE-9F2BD112171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14BE3-C6ED-C143-93A7-55FCEAFA95E3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985C9-3AEA-C8E4-97E8-496C07529F7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FC73E-63F5-9855-E4B2-9FB5C5DE357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42E63-9D58-4446-856B-9A71F5C1F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068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/>
            </a:lvl1pPr>
          </a:lstStyle>
          <a:p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425096-C909-99E5-8035-25CE8D2E1E5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E627A-D761-F644-8387-208C92DA5A7F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1EB3C6-B7B1-7B9F-6560-F4F4274B4A5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DBC04-641A-D36D-9F17-18E3AC30B2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29289-737B-1D44-88D9-AFCC36CC43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9600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2A16737-BEDF-1032-DB09-2C312A9BCA9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7BBB4-8707-4149-A508-14FDBBD3FA27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1663E70-437E-C8D8-2E72-A42C788C3F3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E40A6C0-FE3E-7616-3F69-919168121E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A0A9E-44BF-7944-9D7F-9330E1A354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4563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07F502D5-E314-AAF3-E09D-A95763355F4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6014-5D61-1D42-95ED-C8F73CB86D96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4E3BF81-E25A-F1C7-C3A2-05E9631AE2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70664B67-7D74-9377-F99E-3E422890A7E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27393-A748-8C45-ACD3-7F6861C2A6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377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D266C1C-27F6-47FC-EDA1-602870BF566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720D1-B3D5-3344-A667-24896FF3FBBC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5980524-2A93-F550-4BCA-220930A017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DA0D3B8-247F-2A68-0614-3FA870A8FB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09F95-9F2A-D947-A86C-9CF7FA3A78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6825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E09BEC2-C92D-3380-EFC7-CDEF058A743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5149F-C2FB-4E4F-9930-7DA18A774CAE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99F0259-3FB0-4F86-7DA8-EB6C3755AD5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3C4E403-91B3-B00F-0FCC-174B7FBC6A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91551-B82F-2143-BEA8-475C7C2D3E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960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0E362F3-1A22-D4EA-11A7-FBB4313A805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26781-BDFC-2E4A-95E0-4A88063B4EE2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09B3F-DE46-F240-31E0-5293235DE8C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79A43-0080-E577-DB1D-BB42984F06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56AFD-CF6D-5144-8B64-DB3B5CE66F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9108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EC20D-A30D-7BD2-4AC3-FF762184B20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9F34-27BA-5E4A-8B78-279D92F914E8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88D56-C5DD-879A-0404-8DDABE4C68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415A4-ED3D-E15B-2336-C19C7CBEC6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A5AE3-5251-6C45-90AE-B8B9FE9C2A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135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89C4CD2-293F-EE1A-4217-3F98EBE2E7B3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45E31-5649-1042-9D83-5FF32BB38DEB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310A6E70-CC05-0B61-2454-2020380E6427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D582139-C06C-162E-3662-18565997C70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8387D-639B-394E-8901-25CB7CDE3C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6523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7354990-8A5B-F829-52A1-7D2488430884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82EB2-F97E-2E4C-8583-7FA8F2C3C202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4CDC066-128C-E756-7C16-26B35419CE88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E55CC8E-6BF3-BBD9-8778-4CD3FD78B2FB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6B83A-10B7-4C4F-9C8D-9884B8F329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3865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9CB8685-A9E4-421D-BBFE-94DDC3FB16ED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3EF7798-1301-8291-DBB3-151FA1E3B7EB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EDE19-1DA9-246B-8516-8C0EC42C04C5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31DC8B-FC27-CB4B-AC06-B861A817705A}" type="datetimeFigureOut">
              <a:rPr lang="zh-CN" altLang="en-US"/>
              <a:pPr>
                <a:defRPr/>
              </a:pPr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335F5-68AF-0936-EAF4-6F991D98FD0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1E001-0AE7-41D4-5326-CEBA29217B7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10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88629C0-BCCA-DF47-84F7-A8AC4C4442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spc="300">
          <a:solidFill>
            <a:srgbClr val="262626"/>
          </a:solidFill>
          <a:latin typeface="+mj-lt"/>
          <a:ea typeface="Microsoft YaHei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itchFamily="2" charset="2"/>
        <a:buChar char=""/>
        <a:defRPr sz="14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object 2">
            <a:extLst>
              <a:ext uri="{FF2B5EF4-FFF2-40B4-BE49-F238E27FC236}">
                <a16:creationId xmlns:a16="http://schemas.microsoft.com/office/drawing/2014/main" id="{140EB44B-DC82-0C8A-D27D-A8457978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0413" cy="5311775"/>
          </a:xfrm>
          <a:custGeom>
            <a:avLst/>
            <a:gdLst>
              <a:gd name="T0" fmla="*/ 10795 w 12192000"/>
              <a:gd name="T1" fmla="*/ 0 h 5260975"/>
              <a:gd name="T2" fmla="*/ 2700 w 12192000"/>
              <a:gd name="T3" fmla="*/ 11328 h 5260975"/>
              <a:gd name="T4" fmla="*/ 10795 w 12192000"/>
              <a:gd name="T5" fmla="*/ 5666 h 5260975"/>
              <a:gd name="T6" fmla="*/ 24285 w 12192000"/>
              <a:gd name="T7" fmla="*/ 11329 h 5260975"/>
              <a:gd name="T8" fmla="*/ 18890 w 12192000"/>
              <a:gd name="T9" fmla="*/ 16996 h 5260975"/>
              <a:gd name="T10" fmla="*/ 13490 w 12192000"/>
              <a:gd name="T11" fmla="*/ 11329 h 52609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12192000"/>
              <a:gd name="T19" fmla="*/ 3163 h 5260975"/>
              <a:gd name="T20" fmla="*/ 18437 w 12192000"/>
              <a:gd name="T21" fmla="*/ 18437 h 52609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192000" h="5260975">
                <a:moveTo>
                  <a:pt x="0" y="5260848"/>
                </a:moveTo>
                <a:lnTo>
                  <a:pt x="12192000" y="5260848"/>
                </a:lnTo>
                <a:lnTo>
                  <a:pt x="12192000" y="0"/>
                </a:lnTo>
                <a:lnTo>
                  <a:pt x="0" y="0"/>
                </a:lnTo>
                <a:lnTo>
                  <a:pt x="0" y="5260848"/>
                </a:lnTo>
                <a:close/>
              </a:path>
            </a:pathLst>
          </a:custGeom>
          <a:solidFill>
            <a:srgbClr val="204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4338" name="object 3">
            <a:extLst>
              <a:ext uri="{FF2B5EF4-FFF2-40B4-BE49-F238E27FC236}">
                <a16:creationId xmlns:a16="http://schemas.microsoft.com/office/drawing/2014/main" id="{10B82580-22D7-B66E-F1C5-068A40E2D864}"/>
              </a:ext>
            </a:extLst>
          </p:cNvPr>
          <p:cNvGrpSpPr>
            <a:grpSpLocks/>
          </p:cNvGrpSpPr>
          <p:nvPr/>
        </p:nvGrpSpPr>
        <p:grpSpPr bwMode="auto">
          <a:xfrm>
            <a:off x="0" y="3663950"/>
            <a:ext cx="12192000" cy="3194050"/>
            <a:chOff x="0" y="2308"/>
            <a:chExt cx="7680" cy="2012"/>
          </a:xfrm>
        </p:grpSpPr>
        <p:sp>
          <p:nvSpPr>
            <p:cNvPr id="14347" name="object 4">
              <a:extLst>
                <a:ext uri="{FF2B5EF4-FFF2-40B4-BE49-F238E27FC236}">
                  <a16:creationId xmlns:a16="http://schemas.microsoft.com/office/drawing/2014/main" id="{6D082A70-8A66-D9CA-2886-125F4786D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08"/>
              <a:ext cx="7679" cy="2012"/>
            </a:xfrm>
            <a:custGeom>
              <a:avLst/>
              <a:gdLst>
                <a:gd name="T0" fmla="*/ 0 w 12192000"/>
                <a:gd name="T1" fmla="*/ 0 h 3194684"/>
                <a:gd name="T2" fmla="*/ 0 w 12192000"/>
                <a:gd name="T3" fmla="*/ 0 h 3194684"/>
                <a:gd name="T4" fmla="*/ 0 w 12192000"/>
                <a:gd name="T5" fmla="*/ 0 h 3194684"/>
                <a:gd name="T6" fmla="*/ 0 w 12192000"/>
                <a:gd name="T7" fmla="*/ 0 h 3194684"/>
                <a:gd name="T8" fmla="*/ 0 w 12192000"/>
                <a:gd name="T9" fmla="*/ 0 h 3194684"/>
                <a:gd name="T10" fmla="*/ 0 w 12192000"/>
                <a:gd name="T11" fmla="*/ 0 h 3194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5 w 12192000"/>
                <a:gd name="T19" fmla="*/ 3176 h 3194684"/>
                <a:gd name="T20" fmla="*/ 19052 w 12192000"/>
                <a:gd name="T21" fmla="*/ 19054 h 31946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92000" h="3194684">
                  <a:moveTo>
                    <a:pt x="12192000" y="1597152"/>
                  </a:moveTo>
                  <a:lnTo>
                    <a:pt x="10594848" y="1597152"/>
                  </a:lnTo>
                  <a:lnTo>
                    <a:pt x="0" y="1597152"/>
                  </a:lnTo>
                  <a:lnTo>
                    <a:pt x="0" y="3194304"/>
                  </a:lnTo>
                  <a:lnTo>
                    <a:pt x="12192000" y="3194304"/>
                  </a:lnTo>
                  <a:lnTo>
                    <a:pt x="12192000" y="1597152"/>
                  </a:lnTo>
                  <a:close/>
                </a:path>
                <a:path w="12192000" h="3194684">
                  <a:moveTo>
                    <a:pt x="12192000" y="0"/>
                  </a:moveTo>
                  <a:lnTo>
                    <a:pt x="10594848" y="0"/>
                  </a:lnTo>
                  <a:lnTo>
                    <a:pt x="10594848" y="15971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48" name="object 5">
              <a:extLst>
                <a:ext uri="{FF2B5EF4-FFF2-40B4-BE49-F238E27FC236}">
                  <a16:creationId xmlns:a16="http://schemas.microsoft.com/office/drawing/2014/main" id="{8B53EFA4-22E3-E612-6D87-DA36761FE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" y="2308"/>
              <a:ext cx="2012" cy="2012"/>
            </a:xfrm>
            <a:custGeom>
              <a:avLst/>
              <a:gdLst>
                <a:gd name="T0" fmla="*/ 0 w 3194684"/>
                <a:gd name="T1" fmla="*/ 0 h 3194684"/>
                <a:gd name="T2" fmla="*/ 0 w 3194684"/>
                <a:gd name="T3" fmla="*/ 0 h 3194684"/>
                <a:gd name="T4" fmla="*/ 0 w 3194684"/>
                <a:gd name="T5" fmla="*/ 0 h 3194684"/>
                <a:gd name="T6" fmla="*/ 0 w 3194684"/>
                <a:gd name="T7" fmla="*/ 0 h 3194684"/>
                <a:gd name="T8" fmla="*/ 0 w 3194684"/>
                <a:gd name="T9" fmla="*/ 0 h 3194684"/>
                <a:gd name="T10" fmla="*/ 0 w 3194684"/>
                <a:gd name="T11" fmla="*/ 0 h 3194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6 w 3194684"/>
                <a:gd name="T19" fmla="*/ 3176 h 3194684"/>
                <a:gd name="T20" fmla="*/ 19054 w 3194684"/>
                <a:gd name="T21" fmla="*/ 19054 h 31946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4684" h="3194684">
                  <a:moveTo>
                    <a:pt x="1597152" y="0"/>
                  </a:moveTo>
                  <a:lnTo>
                    <a:pt x="0" y="1597152"/>
                  </a:lnTo>
                  <a:lnTo>
                    <a:pt x="1597152" y="1597152"/>
                  </a:lnTo>
                  <a:lnTo>
                    <a:pt x="1597152" y="0"/>
                  </a:lnTo>
                  <a:close/>
                </a:path>
                <a:path w="3194684" h="3194684">
                  <a:moveTo>
                    <a:pt x="3194304" y="1597152"/>
                  </a:moveTo>
                  <a:lnTo>
                    <a:pt x="1597152" y="1597152"/>
                  </a:lnTo>
                  <a:lnTo>
                    <a:pt x="1597152" y="3194304"/>
                  </a:lnTo>
                  <a:lnTo>
                    <a:pt x="3194304" y="1597152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39" name="object 8">
            <a:extLst>
              <a:ext uri="{FF2B5EF4-FFF2-40B4-BE49-F238E27FC236}">
                <a16:creationId xmlns:a16="http://schemas.microsoft.com/office/drawing/2014/main" id="{F1570645-3A7F-18C2-BF9A-58743052F397}"/>
              </a:ext>
            </a:extLst>
          </p:cNvPr>
          <p:cNvSpPr>
            <a:spLocks/>
          </p:cNvSpPr>
          <p:nvPr/>
        </p:nvSpPr>
        <p:spPr bwMode="auto">
          <a:xfrm flipV="1">
            <a:off x="2301875" y="2747963"/>
            <a:ext cx="7921625" cy="46037"/>
          </a:xfrm>
          <a:custGeom>
            <a:avLst/>
            <a:gdLst>
              <a:gd name="T0" fmla="*/ 17408 w 7200265"/>
              <a:gd name="T1" fmla="*/ 0 h 1"/>
              <a:gd name="T2" fmla="*/ 4353 w 7200265"/>
              <a:gd name="T3" fmla="*/ 2147483646 h 1"/>
              <a:gd name="T4" fmla="*/ 17408 w 7200265"/>
              <a:gd name="T5" fmla="*/ 2147483646 h 1"/>
              <a:gd name="T6" fmla="*/ 39169 w 7200265"/>
              <a:gd name="T7" fmla="*/ 2147483646 h 1"/>
              <a:gd name="T8" fmla="*/ 30465 w 7200265"/>
              <a:gd name="T9" fmla="*/ 2147483646 h 1"/>
              <a:gd name="T10" fmla="*/ 21761 w 7200265"/>
              <a:gd name="T11" fmla="*/ 2147483646 h 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7200265"/>
              <a:gd name="T19" fmla="*/ 3163 h 1"/>
              <a:gd name="T20" fmla="*/ 18437 w 7200265"/>
              <a:gd name="T21" fmla="*/ 18437 h 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200265" h="1">
                <a:moveTo>
                  <a:pt x="7200010" y="0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AFE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object 9">
            <a:extLst>
              <a:ext uri="{FF2B5EF4-FFF2-40B4-BE49-F238E27FC236}">
                <a16:creationId xmlns:a16="http://schemas.microsoft.com/office/drawing/2014/main" id="{5A6F5CFB-4B9C-6C6F-EDE6-84019BA7B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5329238"/>
            <a:ext cx="7440612" cy="109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127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최대한</a:t>
            </a: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Distributed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Network</a:t>
            </a:r>
            <a:r>
              <a:rPr lang="en-US" altLang="ko-KR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 and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System</a:t>
            </a:r>
            <a:r>
              <a:rPr lang="en-US" altLang="ko-KR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Laboratory</a:t>
            </a: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Chonnam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National </a:t>
            </a: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University</a:t>
            </a: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14341" name="그룹 21">
            <a:extLst>
              <a:ext uri="{FF2B5EF4-FFF2-40B4-BE49-F238E27FC236}">
                <a16:creationId xmlns:a16="http://schemas.microsoft.com/office/drawing/2014/main" id="{83F0E7CC-8669-77AD-0AF4-9C5D6B245FA6}"/>
              </a:ext>
            </a:extLst>
          </p:cNvPr>
          <p:cNvGrpSpPr>
            <a:grpSpLocks/>
          </p:cNvGrpSpPr>
          <p:nvPr/>
        </p:nvGrpSpPr>
        <p:grpSpPr bwMode="auto">
          <a:xfrm>
            <a:off x="7721600" y="5508625"/>
            <a:ext cx="2717800" cy="1196975"/>
            <a:chOff x="4864" y="3470"/>
            <a:chExt cx="1712" cy="754"/>
          </a:xfrm>
        </p:grpSpPr>
        <p:pic>
          <p:nvPicPr>
            <p:cNvPr id="14345" name="그림 22">
              <a:extLst>
                <a:ext uri="{FF2B5EF4-FFF2-40B4-BE49-F238E27FC236}">
                  <a16:creationId xmlns:a16="http://schemas.microsoft.com/office/drawing/2014/main" id="{F182EF9B-5ABF-898F-3027-4DF7A6B15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2" y="3470"/>
              <a:ext cx="754" cy="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6" name="그림 23">
              <a:extLst>
                <a:ext uri="{FF2B5EF4-FFF2-40B4-BE49-F238E27FC236}">
                  <a16:creationId xmlns:a16="http://schemas.microsoft.com/office/drawing/2014/main" id="{ADB49CF6-079A-1552-27E0-5E1C7B779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4" y="3470"/>
              <a:ext cx="754" cy="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42" name="TextBox 1">
            <a:extLst>
              <a:ext uri="{FF2B5EF4-FFF2-40B4-BE49-F238E27FC236}">
                <a16:creationId xmlns:a16="http://schemas.microsoft.com/office/drawing/2014/main" id="{12F155EB-C232-CEBE-255B-AE6D7C812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052513"/>
            <a:ext cx="1154588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3600" b="1" dirty="0">
                <a:solidFill>
                  <a:srgbClr val="FFFFFF"/>
                </a:solidFill>
                <a:cs typeface="Arial" panose="020B0604020202020204" pitchFamily="34" charset="0"/>
              </a:rPr>
              <a:t>LSTM </a:t>
            </a:r>
            <a:r>
              <a:rPr lang="ko-KR" altLang="en-US" sz="3600" b="1" dirty="0">
                <a:solidFill>
                  <a:srgbClr val="FFFFFF"/>
                </a:solidFill>
                <a:cs typeface="Arial" panose="020B0604020202020204" pitchFamily="34" charset="0"/>
              </a:rPr>
              <a:t>기반으로 잔여 수명 예측</a:t>
            </a:r>
          </a:p>
        </p:txBody>
      </p:sp>
      <p:sp>
        <p:nvSpPr>
          <p:cNvPr id="14343" name="灯片编号占位符 1">
            <a:extLst>
              <a:ext uri="{FF2B5EF4-FFF2-40B4-BE49-F238E27FC236}">
                <a16:creationId xmlns:a16="http://schemas.microsoft.com/office/drawing/2014/main" id="{5CCF659E-C3D4-9E0D-2B9F-45BB59942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fld id="{8D3CDFC1-69C0-234D-9BE9-1C42EF576458}" type="slidenum">
              <a:rPr lang="zh-CN" altLang="en-US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4344" name="Text Box 12">
            <a:extLst>
              <a:ext uri="{FF2B5EF4-FFF2-40B4-BE49-F238E27FC236}">
                <a16:creationId xmlns:a16="http://schemas.microsoft.com/office/drawing/2014/main" id="{875DE044-CE6A-8486-7A2C-13D9FDD01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74613"/>
            <a:ext cx="3883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-1020">
            <a:extLst>
              <a:ext uri="{FF2B5EF4-FFF2-40B4-BE49-F238E27FC236}">
                <a16:creationId xmlns:a16="http://schemas.microsoft.com/office/drawing/2014/main" id="{F6B40308-F6A2-26C0-4B38-6481CBE868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2800350" cy="6846888"/>
          </a:xfrm>
          <a:prstGeom prst="rect">
            <a:avLst/>
          </a:prstGeom>
          <a:solidFill>
            <a:srgbClr val="204767"/>
          </a:solidFill>
          <a:ln w="25400">
            <a:solidFill>
              <a:srgbClr val="1C334E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Index</a:t>
            </a:r>
          </a:p>
        </p:txBody>
      </p:sp>
      <p:sp>
        <p:nvSpPr>
          <p:cNvPr id="15362" name="Rectangle -1019">
            <a:extLst>
              <a:ext uri="{FF2B5EF4-FFF2-40B4-BE49-F238E27FC236}">
                <a16:creationId xmlns:a16="http://schemas.microsoft.com/office/drawing/2014/main" id="{DCF82C7F-7A1F-12F9-22FE-BDEC1E96D82C}"/>
              </a:ext>
            </a:extLst>
          </p:cNvPr>
          <p:cNvSpPr>
            <a:spLocks noChangeAspect="1"/>
          </p:cNvSpPr>
          <p:nvPr/>
        </p:nvSpPr>
        <p:spPr bwMode="auto">
          <a:xfrm>
            <a:off x="3205034" y="2715500"/>
            <a:ext cx="7791450" cy="2255837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1. 데이터 구조 탐색</a:t>
            </a: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2. 시계열 </a:t>
            </a:r>
            <a:r>
              <a:rPr lang="ko-KR" altLang="en-US" sz="24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전처리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및 정규화</a:t>
            </a: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3. </a:t>
            </a:r>
            <a:r>
              <a:rPr lang="en-US" altLang="ko-KR" sz="24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PyTorch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LSTM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학습 및 평가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15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데이터 구조 탐색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지난 시간에는 과거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값을 사용하여 미래의 </a:t>
            </a:r>
            <a:r>
              <a:rPr lang="en-US" altLang="ko-KR" dirty="0">
                <a:cs typeface="Arial" panose="020B0604020202020204" pitchFamily="34" charset="0"/>
              </a:rPr>
              <a:t>SOH</a:t>
            </a:r>
            <a:r>
              <a:rPr lang="ko-KR" altLang="en-US" dirty="0">
                <a:cs typeface="Arial" panose="020B0604020202020204" pitchFamily="34" charset="0"/>
              </a:rPr>
              <a:t>를 예측하는 방식을 사용했음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이번에는 </a:t>
            </a:r>
            <a:r>
              <a:rPr lang="en-US" altLang="ko-KR" dirty="0">
                <a:cs typeface="Arial" panose="020B0604020202020204" pitchFamily="34" charset="0"/>
              </a:rPr>
              <a:t>csv</a:t>
            </a:r>
            <a:r>
              <a:rPr lang="ko-KR" altLang="en-US" dirty="0">
                <a:cs typeface="Arial" panose="020B0604020202020204" pitchFamily="34" charset="0"/>
              </a:rPr>
              <a:t>의 </a:t>
            </a:r>
            <a:r>
              <a:rPr lang="en-US" altLang="ko-KR" dirty="0">
                <a:cs typeface="Arial" panose="020B0604020202020204" pitchFamily="34" charset="0"/>
              </a:rPr>
              <a:t>feature 5</a:t>
            </a:r>
            <a:r>
              <a:rPr lang="ko-KR" altLang="en-US" dirty="0">
                <a:cs typeface="Arial" panose="020B0604020202020204" pitchFamily="34" charset="0"/>
              </a:rPr>
              <a:t>개를 사용하여</a:t>
            </a:r>
            <a:r>
              <a:rPr lang="en-US" altLang="ko-KR" dirty="0">
                <a:cs typeface="Arial" panose="020B0604020202020204" pitchFamily="34" charset="0"/>
              </a:rPr>
              <a:t> RUL</a:t>
            </a:r>
            <a:r>
              <a:rPr lang="ko-KR" altLang="en-US" dirty="0">
                <a:cs typeface="Arial" panose="020B0604020202020204" pitchFamily="34" charset="0"/>
              </a:rPr>
              <a:t>을 직접적으로 예측하는 것을 시도하였음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b="1" dirty="0">
                <a:cs typeface="Arial" panose="020B0604020202020204" pitchFamily="34" charset="0"/>
              </a:rPr>
              <a:t>이때</a:t>
            </a:r>
            <a:r>
              <a:rPr lang="en-US" altLang="ko-KR" b="1" dirty="0">
                <a:cs typeface="Arial" panose="020B0604020202020204" pitchFamily="34" charset="0"/>
              </a:rPr>
              <a:t>, RUL</a:t>
            </a:r>
            <a:r>
              <a:rPr lang="ko-KR" altLang="en-US" b="1" dirty="0">
                <a:cs typeface="Arial" panose="020B0604020202020204" pitchFamily="34" charset="0"/>
              </a:rPr>
              <a:t>은 데이터가 끝나는 지점까지 남은 사이클로 </a:t>
            </a:r>
            <a:r>
              <a:rPr lang="ko-KR" altLang="en-US" b="1" dirty="0" err="1">
                <a:cs typeface="Arial" panose="020B0604020202020204" pitchFamily="34" charset="0"/>
              </a:rPr>
              <a:t>정의해보았음</a:t>
            </a:r>
            <a:r>
              <a:rPr lang="en-US" altLang="ko-KR" b="1" dirty="0">
                <a:cs typeface="Arial" panose="020B0604020202020204" pitchFamily="34" charset="0"/>
              </a:rPr>
              <a:t>. (capacity</a:t>
            </a:r>
            <a:r>
              <a:rPr lang="ko-KR" altLang="en-US" b="1" dirty="0">
                <a:cs typeface="Arial" panose="020B0604020202020204" pitchFamily="34" charset="0"/>
              </a:rPr>
              <a:t>의 </a:t>
            </a:r>
            <a:r>
              <a:rPr lang="en-US" altLang="ko-KR" b="1" dirty="0">
                <a:cs typeface="Arial" panose="020B0604020202020204" pitchFamily="34" charset="0"/>
              </a:rPr>
              <a:t>80%</a:t>
            </a:r>
            <a:r>
              <a:rPr lang="ko-KR" altLang="en-US" b="1" dirty="0">
                <a:cs typeface="Arial" panose="020B0604020202020204" pitchFamily="34" charset="0"/>
              </a:rPr>
              <a:t>가 아님</a:t>
            </a:r>
            <a:r>
              <a:rPr lang="en-US" altLang="ko-KR" b="1" dirty="0"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b="1" u="sng" dirty="0">
                <a:cs typeface="Arial" panose="020B0604020202020204" pitchFamily="34" charset="0"/>
              </a:rPr>
              <a:t>metadata.csv </a:t>
            </a:r>
            <a:r>
              <a:rPr lang="ko-KR" altLang="en-US" b="1" u="sng" dirty="0">
                <a:cs typeface="Arial" panose="020B0604020202020204" pitchFamily="34" charset="0"/>
              </a:rPr>
              <a:t>에 </a:t>
            </a:r>
            <a:r>
              <a:rPr lang="en-US" altLang="ko-KR" b="1" u="sng" dirty="0" err="1">
                <a:cs typeface="Arial" panose="020B0604020202020204" pitchFamily="34" charset="0"/>
              </a:rPr>
              <a:t>cycle_index</a:t>
            </a:r>
            <a:r>
              <a:rPr lang="ko-KR" altLang="en-US" b="1" u="sng" dirty="0">
                <a:cs typeface="Arial" panose="020B0604020202020204" pitchFamily="34" charset="0"/>
              </a:rPr>
              <a:t>와 </a:t>
            </a:r>
            <a:r>
              <a:rPr lang="en-US" altLang="ko-KR" b="1" u="sng" dirty="0" err="1">
                <a:cs typeface="Arial" panose="020B0604020202020204" pitchFamily="34" charset="0"/>
              </a:rPr>
              <a:t>rul_cycle</a:t>
            </a:r>
            <a:r>
              <a:rPr lang="en-US" altLang="ko-KR" b="1" u="sng" dirty="0">
                <a:cs typeface="Arial" panose="020B0604020202020204" pitchFamily="34" charset="0"/>
              </a:rPr>
              <a:t> </a:t>
            </a:r>
            <a:r>
              <a:rPr lang="ko-KR" altLang="en-US" b="1" u="sng" dirty="0">
                <a:cs typeface="Arial" panose="020B0604020202020204" pitchFamily="34" charset="0"/>
              </a:rPr>
              <a:t>을 추가하였음</a:t>
            </a:r>
            <a:endParaRPr lang="en-US" altLang="ko-KR" b="1" u="sng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   </a:t>
            </a:r>
            <a:endParaRPr lang="en-US" altLang="ko-KR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Tx/>
              <a:buChar char="-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DEFC00-1DEA-574F-14D9-40B5AF486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145" y="2644523"/>
            <a:ext cx="5575839" cy="346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1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7105-E292-EAC0-1543-1CCEF6C6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89061A10-A8B1-F445-14FF-3A453CC6E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데이터 구조 탐색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A4E60733-6633-550C-853F-E3F97280321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DD9C6D66-E873-F4A0-8C4A-23A76055772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416D2C7B-3A30-A0C8-8390-6895CF260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097FF0A9-5FB2-12A4-A96B-872AFB32763F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b="1" dirty="0">
                <a:cs typeface="Arial" panose="020B0604020202020204" pitchFamily="34" charset="0"/>
              </a:rPr>
              <a:t>6</a:t>
            </a:r>
            <a:r>
              <a:rPr lang="ko-KR" altLang="en-US" b="1" dirty="0">
                <a:cs typeface="Arial" panose="020B0604020202020204" pitchFamily="34" charset="0"/>
              </a:rPr>
              <a:t>번 배터리에 대해 실험 진행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b="1" dirty="0">
                <a:cs typeface="Arial" panose="020B0604020202020204" pitchFamily="34" charset="0"/>
              </a:rPr>
              <a:t>Cycle</a:t>
            </a:r>
            <a:r>
              <a:rPr lang="ko-KR" altLang="en-US" b="1" dirty="0">
                <a:cs typeface="Arial" panose="020B0604020202020204" pitchFamily="34" charset="0"/>
              </a:rPr>
              <a:t>이 진행됨에 따라 </a:t>
            </a:r>
            <a:r>
              <a:rPr lang="en-US" altLang="ko-KR" b="1" dirty="0">
                <a:cs typeface="Arial" panose="020B0604020202020204" pitchFamily="34" charset="0"/>
              </a:rPr>
              <a:t>Capacity</a:t>
            </a:r>
            <a:r>
              <a:rPr lang="ko-KR" altLang="en-US" b="1" dirty="0">
                <a:cs typeface="Arial" panose="020B0604020202020204" pitchFamily="34" charset="0"/>
              </a:rPr>
              <a:t>가 역시 감소함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b="1" dirty="0">
                <a:cs typeface="Arial" panose="020B0604020202020204" pitchFamily="34" charset="0"/>
              </a:rPr>
              <a:t>진동이 극심한 것을 확인할 수 있음</a:t>
            </a:r>
            <a:endParaRPr lang="en-US" altLang="ko-KR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b="1" dirty="0">
                <a:cs typeface="Arial" panose="020B0604020202020204" pitchFamily="34" charset="0"/>
              </a:rPr>
              <a:t>     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Tx/>
              <a:buChar char="-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b="1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F76326-2C7F-01FD-5A8E-5841952B8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852" y="2295934"/>
            <a:ext cx="81248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DB87-88E8-8F39-C33D-12FD6AD5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64B2CBC5-6901-A465-9AE4-9B4427792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2.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시계열 </a:t>
            </a:r>
            <a:r>
              <a:rPr lang="ko-KR" altLang="en-US" sz="2000" b="1" dirty="0" err="1">
                <a:solidFill>
                  <a:srgbClr val="FFFFFF"/>
                </a:solidFill>
                <a:cs typeface="Arial" panose="020B0604020202020204" pitchFamily="34" charset="0"/>
              </a:rPr>
              <a:t>전처리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및 정규화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3E028E05-7898-C7BA-73AF-5393364AD65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4F20BEB7-0A29-1B21-B343-FA2DEBB2153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981CBB76-3104-AF0B-03A2-F06150F3B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597D7D33-68AA-F59B-C3A5-772089605BBF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PyTorch</a:t>
            </a:r>
            <a:r>
              <a:rPr lang="en-US" altLang="ko-KR" b="1" dirty="0">
                <a:cs typeface="Arial" panose="020B0604020202020204" pitchFamily="34" charset="0"/>
              </a:rPr>
              <a:t> LSTM</a:t>
            </a:r>
            <a:r>
              <a:rPr lang="ko-KR" altLang="en-US" b="1" dirty="0">
                <a:cs typeface="Arial" panose="020B0604020202020204" pitchFamily="34" charset="0"/>
              </a:rPr>
              <a:t>은 </a:t>
            </a:r>
            <a:r>
              <a:rPr lang="en-US" altLang="ko-KR" b="1" dirty="0">
                <a:cs typeface="Arial" panose="020B0604020202020204" pitchFamily="34" charset="0"/>
              </a:rPr>
              <a:t>(</a:t>
            </a:r>
            <a:r>
              <a:rPr lang="ko-KR" altLang="en-US" b="1" dirty="0">
                <a:cs typeface="Arial" panose="020B0604020202020204" pitchFamily="34" charset="0"/>
              </a:rPr>
              <a:t>배치</a:t>
            </a:r>
            <a:r>
              <a:rPr lang="en-US" altLang="ko-KR" b="1" dirty="0">
                <a:cs typeface="Arial" panose="020B0604020202020204" pitchFamily="34" charset="0"/>
              </a:rPr>
              <a:t>, </a:t>
            </a:r>
            <a:r>
              <a:rPr lang="ko-KR" altLang="en-US" b="1" dirty="0">
                <a:cs typeface="Arial" panose="020B0604020202020204" pitchFamily="34" charset="0"/>
              </a:rPr>
              <a:t>시퀀스</a:t>
            </a:r>
            <a:r>
              <a:rPr lang="en-US" altLang="ko-KR" b="1" dirty="0">
                <a:cs typeface="Arial" panose="020B0604020202020204" pitchFamily="34" charset="0"/>
              </a:rPr>
              <a:t>, </a:t>
            </a:r>
            <a:r>
              <a:rPr lang="ko-KR" altLang="en-US" b="1" dirty="0" err="1">
                <a:cs typeface="Arial" panose="020B0604020202020204" pitchFamily="34" charset="0"/>
              </a:rPr>
              <a:t>피쳐</a:t>
            </a:r>
            <a:r>
              <a:rPr lang="ko-KR" altLang="en-US" b="1" dirty="0">
                <a:cs typeface="Arial" panose="020B0604020202020204" pitchFamily="34" charset="0"/>
              </a:rPr>
              <a:t> 수</a:t>
            </a:r>
            <a:r>
              <a:rPr lang="en-US" altLang="ko-KR" b="1" dirty="0">
                <a:cs typeface="Arial" panose="020B0604020202020204" pitchFamily="34" charset="0"/>
              </a:rPr>
              <a:t>) </a:t>
            </a:r>
            <a:r>
              <a:rPr lang="ko-KR" altLang="en-US" b="1" dirty="0">
                <a:cs typeface="Arial" panose="020B0604020202020204" pitchFamily="34" charset="0"/>
              </a:rPr>
              <a:t>형태로 데이터를 받으며 한 배치 안의 모든 시퀀스의 길이는 같아야 함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b="1" dirty="0">
                <a:cs typeface="Arial" panose="020B0604020202020204" pitchFamily="34" charset="0"/>
              </a:rPr>
              <a:t>원본 </a:t>
            </a:r>
            <a:r>
              <a:rPr lang="en-US" altLang="ko-KR" b="1" dirty="0">
                <a:cs typeface="Arial" panose="020B0604020202020204" pitchFamily="34" charset="0"/>
              </a:rPr>
              <a:t>CSV</a:t>
            </a:r>
            <a:r>
              <a:rPr lang="ko-KR" altLang="en-US" b="1" dirty="0">
                <a:cs typeface="Arial" panose="020B0604020202020204" pitchFamily="34" charset="0"/>
              </a:rPr>
              <a:t>마다 측정 시간이 다르기 때문에 </a:t>
            </a:r>
            <a:r>
              <a:rPr lang="en-US" altLang="ko-KR" b="1" dirty="0">
                <a:cs typeface="Arial" panose="020B0604020202020204" pitchFamily="34" charset="0"/>
              </a:rPr>
              <a:t>120 </a:t>
            </a:r>
            <a:r>
              <a:rPr lang="ko-KR" altLang="en-US" b="1" dirty="0">
                <a:cs typeface="Arial" panose="020B0604020202020204" pitchFamily="34" charset="0"/>
              </a:rPr>
              <a:t>스텝으로 </a:t>
            </a:r>
            <a:r>
              <a:rPr lang="ko-KR" altLang="en-US" b="1" dirty="0" err="1">
                <a:cs typeface="Arial" panose="020B0604020202020204" pitchFamily="34" charset="0"/>
              </a:rPr>
              <a:t>리샘플링하였음</a:t>
            </a:r>
            <a:r>
              <a:rPr lang="ko-KR" altLang="en-US" b="1" dirty="0">
                <a:cs typeface="Arial" panose="020B0604020202020204" pitchFamily="34" charset="0"/>
              </a:rPr>
              <a:t>    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b="1" dirty="0">
                <a:cs typeface="Arial" panose="020B0604020202020204" pitchFamily="34" charset="0"/>
              </a:rPr>
              <a:t>Csv</a:t>
            </a:r>
            <a:r>
              <a:rPr lang="ko-KR" altLang="en-US" b="1" dirty="0">
                <a:cs typeface="Arial" panose="020B0604020202020204" pitchFamily="34" charset="0"/>
              </a:rPr>
              <a:t> 파일의 모든 </a:t>
            </a:r>
            <a:r>
              <a:rPr lang="en-US" altLang="ko-KR" b="1" dirty="0">
                <a:cs typeface="Arial" panose="020B0604020202020204" pitchFamily="34" charset="0"/>
              </a:rPr>
              <a:t>feature</a:t>
            </a:r>
            <a:r>
              <a:rPr lang="ko-KR" altLang="en-US" b="1" dirty="0">
                <a:cs typeface="Arial" panose="020B0604020202020204" pitchFamily="34" charset="0"/>
              </a:rPr>
              <a:t>를 활용하였음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Tx/>
              <a:buChar char="-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b="1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D5B939-CB86-E768-733E-AB27AFFA8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64" y="2714085"/>
            <a:ext cx="5556811" cy="39169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D99843-6280-B48D-7029-588E01F63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47762"/>
            <a:ext cx="6015189" cy="26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0C47-1C09-842A-CEFE-BF96A089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200C582E-8E12-F06D-7E4A-0C287362B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2.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시계열 </a:t>
            </a:r>
            <a:r>
              <a:rPr lang="ko-KR" altLang="en-US" sz="2000" b="1" dirty="0" err="1">
                <a:solidFill>
                  <a:srgbClr val="FFFFFF"/>
                </a:solidFill>
                <a:cs typeface="Arial" panose="020B0604020202020204" pitchFamily="34" charset="0"/>
              </a:rPr>
              <a:t>전처리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및 정규화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28E306AF-8555-A415-8B6A-C615B505E2F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188E0057-A703-20B6-0A7B-08D4662D0CA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11941B54-F642-928E-04A2-DE8021189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489759ED-5ADE-DE0E-A5F0-7139421407F5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sz="1600" b="1" dirty="0">
                <a:cs typeface="Arial" panose="020B0604020202020204" pitchFamily="34" charset="0"/>
              </a:rPr>
              <a:t>train size </a:t>
            </a:r>
            <a:r>
              <a:rPr lang="ko-KR" altLang="en-US" sz="1600" b="1" dirty="0">
                <a:cs typeface="Arial" panose="020B0604020202020204" pitchFamily="34" charset="0"/>
              </a:rPr>
              <a:t>만큼 학습</a:t>
            </a:r>
            <a:r>
              <a:rPr lang="en-US" altLang="ko-KR" sz="1600" b="1" dirty="0">
                <a:cs typeface="Arial" panose="020B0604020202020204" pitchFamily="34" charset="0"/>
              </a:rPr>
              <a:t>/</a:t>
            </a:r>
            <a:r>
              <a:rPr lang="ko-KR" altLang="en-US" sz="1600" b="1" dirty="0">
                <a:cs typeface="Arial" panose="020B0604020202020204" pitchFamily="34" charset="0"/>
              </a:rPr>
              <a:t>검증 세트를 분할하고 정규화를 수행하였음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sz="1600" b="1" dirty="0">
                <a:cs typeface="Arial" panose="020B0604020202020204" pitchFamily="34" charset="0"/>
              </a:rPr>
              <a:t>이후 </a:t>
            </a:r>
            <a:r>
              <a:rPr lang="en-US" altLang="ko-KR" sz="1600" b="1" dirty="0">
                <a:cs typeface="Arial" panose="020B0604020202020204" pitchFamily="34" charset="0"/>
              </a:rPr>
              <a:t>Dataset, </a:t>
            </a:r>
            <a:r>
              <a:rPr lang="en-US" altLang="ko-KR" sz="1600" b="1" dirty="0" err="1">
                <a:cs typeface="Arial" panose="020B0604020202020204" pitchFamily="34" charset="0"/>
              </a:rPr>
              <a:t>DataLoader</a:t>
            </a:r>
            <a:r>
              <a:rPr lang="en-US" altLang="ko-KR" sz="1600" b="1" dirty="0">
                <a:cs typeface="Arial" panose="020B0604020202020204" pitchFamily="34" charset="0"/>
              </a:rPr>
              <a:t>, LSTM</a:t>
            </a:r>
            <a:r>
              <a:rPr lang="ko-KR" altLang="en-US" sz="1600" b="1" dirty="0">
                <a:cs typeface="Arial" panose="020B0604020202020204" pitchFamily="34" charset="0"/>
              </a:rPr>
              <a:t>을 정의하고 학습을 진행하였음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b="1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6B87DB-7D73-07CA-E73B-D9B5A7CF3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38" y="1390650"/>
            <a:ext cx="6916115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71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9373-BC46-45C5-7D26-DCAF44F5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0D0A3E8C-CD90-667B-B706-05AF8D6E7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 </a:t>
            </a:r>
            <a:r>
              <a:rPr lang="en-US" altLang="ko-KR" sz="2000" b="1" dirty="0" err="1">
                <a:solidFill>
                  <a:srgbClr val="FFFFFF"/>
                </a:solidFill>
                <a:cs typeface="Arial" panose="020B0604020202020204" pitchFamily="34" charset="0"/>
              </a:rPr>
              <a:t>PyTorch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 LSTM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학습 및 평가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DDC61C2B-A6A9-F9C1-12DB-B4351464FE7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C47A744A-B984-BD86-99B0-0445178C7A7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A70C1067-0087-BA20-9440-1D4FD156C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04B0BB07-7DE3-2A28-D3FF-2C9F0B73E5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33531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sz="1600" b="1" dirty="0">
                <a:cs typeface="Arial" panose="020B0604020202020204" pitchFamily="34" charset="0"/>
              </a:rPr>
              <a:t>학습 세트에는 </a:t>
            </a:r>
            <a:r>
              <a:rPr lang="en-US" altLang="ko-KR" sz="1600" b="1" dirty="0"/>
              <a:t>RUL</a:t>
            </a:r>
            <a:r>
              <a:rPr lang="ko-KR" altLang="en-US" sz="1600" b="1" dirty="0"/>
              <a:t>이 </a:t>
            </a:r>
            <a:r>
              <a:rPr lang="en-US" altLang="ko-KR" sz="1600" b="1" dirty="0"/>
              <a:t>167→34 </a:t>
            </a:r>
            <a:r>
              <a:rPr lang="ko-KR" altLang="en-US" sz="1600" b="1" dirty="0"/>
              <a:t>사이에 있는 초기 사이클만 들어가고 검증 세트는 </a:t>
            </a:r>
            <a:r>
              <a:rPr lang="en-US" altLang="ko-KR" sz="1600" b="1" dirty="0"/>
              <a:t>33→0 </a:t>
            </a:r>
            <a:r>
              <a:rPr lang="ko-KR" altLang="en-US" sz="1600" b="1" dirty="0"/>
              <a:t>사이의 말기 사이클로만 구성되어 있음</a:t>
            </a: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sz="1600" b="1" dirty="0">
                <a:cs typeface="Arial" panose="020B0604020202020204" pitchFamily="34" charset="0"/>
              </a:rPr>
              <a:t>LSTM</a:t>
            </a:r>
            <a:r>
              <a:rPr lang="ko-KR" altLang="en-US" sz="1600" b="1" dirty="0">
                <a:cs typeface="Arial" panose="020B0604020202020204" pitchFamily="34" charset="0"/>
              </a:rPr>
              <a:t>은 말기 패턴</a:t>
            </a:r>
            <a:r>
              <a:rPr lang="en-US" altLang="ko-KR" sz="1600" b="1" dirty="0">
                <a:cs typeface="Arial" panose="020B0604020202020204" pitchFamily="34" charset="0"/>
              </a:rPr>
              <a:t>(</a:t>
            </a:r>
            <a:r>
              <a:rPr lang="ko-KR" altLang="en-US" sz="1600" b="1" dirty="0">
                <a:cs typeface="Arial" panose="020B0604020202020204" pitchFamily="34" charset="0"/>
              </a:rPr>
              <a:t>낮은 </a:t>
            </a:r>
            <a:r>
              <a:rPr lang="en-US" altLang="ko-KR" sz="1600" b="1" dirty="0">
                <a:cs typeface="Arial" panose="020B0604020202020204" pitchFamily="34" charset="0"/>
              </a:rPr>
              <a:t>RUL)</a:t>
            </a:r>
            <a:r>
              <a:rPr lang="ko-KR" altLang="en-US" sz="1600" b="1" dirty="0">
                <a:cs typeface="Arial" panose="020B0604020202020204" pitchFamily="34" charset="0"/>
              </a:rPr>
              <a:t>을 한 번도 보지 못한 채 높은 </a:t>
            </a:r>
            <a:r>
              <a:rPr lang="en-US" altLang="ko-KR" sz="1600" b="1" dirty="0">
                <a:cs typeface="Arial" panose="020B0604020202020204" pitchFamily="34" charset="0"/>
              </a:rPr>
              <a:t>RUL </a:t>
            </a:r>
            <a:r>
              <a:rPr lang="ko-KR" altLang="en-US" sz="1600" b="1" dirty="0">
                <a:cs typeface="Arial" panose="020B0604020202020204" pitchFamily="34" charset="0"/>
              </a:rPr>
              <a:t>구간만 </a:t>
            </a:r>
            <a:r>
              <a:rPr lang="ko-KR" altLang="en-US" sz="1600" b="1" dirty="0" err="1">
                <a:cs typeface="Arial" panose="020B0604020202020204" pitchFamily="34" charset="0"/>
              </a:rPr>
              <a:t>학습하게됨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sz="1600" b="1" dirty="0">
                <a:cs typeface="Arial" panose="020B0604020202020204" pitchFamily="34" charset="0"/>
              </a:rPr>
              <a:t>LSTM</a:t>
            </a:r>
            <a:r>
              <a:rPr lang="ko-KR" altLang="en-US" sz="1600" b="1" dirty="0">
                <a:cs typeface="Arial" panose="020B0604020202020204" pitchFamily="34" charset="0"/>
              </a:rPr>
              <a:t>은 손실을 줄이기 위해 가장 간단한 방법인 평균값만 예측하게 됨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sz="1600" b="1" dirty="0">
                <a:cs typeface="Arial" panose="020B0604020202020204" pitchFamily="34" charset="0"/>
              </a:rPr>
              <a:t>이 현상은 다른 배터리에서도 동일하게 발생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b="1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B2A20B-E874-41E4-752E-17D9227C0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64" y="2985796"/>
            <a:ext cx="5056142" cy="27805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64B8C8-B733-B54D-A04F-388B6F234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85796"/>
            <a:ext cx="4864139" cy="278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D7BD-56B7-783E-2C80-170E63D1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2F89F790-CBE8-0773-212B-965B12A13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 </a:t>
            </a:r>
            <a:r>
              <a:rPr lang="en-US" altLang="ko-KR" sz="2000" b="1" dirty="0" err="1">
                <a:solidFill>
                  <a:srgbClr val="FFFFFF"/>
                </a:solidFill>
                <a:cs typeface="Arial" panose="020B0604020202020204" pitchFamily="34" charset="0"/>
              </a:rPr>
              <a:t>PyTorch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 LSTM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학습 및 평가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C010273F-90F6-49C6-700F-009A2C9C61C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19A3C2A8-17CF-C4CF-2AEF-E37D8FD0B6A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61C4D675-E214-36A7-7B0A-80105EA7A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A1E268B4-8836-640B-5876-F0B1E90056EB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33531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sz="1600" b="1" dirty="0">
                <a:cs typeface="Arial" panose="020B0604020202020204" pitchFamily="34" charset="0"/>
              </a:rPr>
              <a:t>시간 순서를 유지하되</a:t>
            </a:r>
            <a:r>
              <a:rPr lang="en-US" altLang="ko-KR" sz="1600" b="1" dirty="0">
                <a:cs typeface="Arial" panose="020B0604020202020204" pitchFamily="34" charset="0"/>
              </a:rPr>
              <a:t>, </a:t>
            </a:r>
            <a:r>
              <a:rPr lang="ko-KR" altLang="en-US" sz="1600" b="1" dirty="0"/>
              <a:t>학습 구간에 말기 사이클 일부를 포함하도록 슬라이딩 윈도우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누적 학습 시도</a:t>
            </a: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sz="1600" b="1" dirty="0"/>
              <a:t>Capacity</a:t>
            </a:r>
            <a:r>
              <a:rPr lang="ko-KR" altLang="en-US" sz="1600" b="1" dirty="0"/>
              <a:t>를 함께 예측하여 보조 손실로 활용</a:t>
            </a: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25B18F-E614-EEF1-E62E-69B495AF8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91" y="1213614"/>
            <a:ext cx="6097204" cy="426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5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F3A48-1878-F7FC-3DCF-47925272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151769F9-220F-7992-A7EA-91D3458C8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 </a:t>
            </a:r>
            <a:r>
              <a:rPr lang="en-US" altLang="ko-KR" sz="2000" b="1" dirty="0" err="1">
                <a:solidFill>
                  <a:srgbClr val="FFFFFF"/>
                </a:solidFill>
                <a:cs typeface="Arial" panose="020B0604020202020204" pitchFamily="34" charset="0"/>
              </a:rPr>
              <a:t>PyTorch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 LSTM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학습 및 평가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6B60395C-FD44-DFF2-AF1E-1EB23206C0D2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4695F25A-F572-EE9B-9417-0BE199347493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91B1D1A7-D5EB-54F9-BB27-91400B84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5523EA03-859B-852C-F811-3E2702098C4B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33531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sz="1600" b="1" dirty="0"/>
              <a:t>슬라이딩 윈도우 도입 후에도 초기 </a:t>
            </a:r>
            <a:r>
              <a:rPr lang="ko-KR" altLang="en-US" sz="1600" b="1" dirty="0" err="1"/>
              <a:t>폴드</a:t>
            </a:r>
            <a:r>
              <a:rPr lang="ko-KR" altLang="en-US" sz="1600" b="1" dirty="0"/>
              <a:t> 성능이 매우 낮고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통합 예측이 여전히 완만한 상수 근사에 머무름</a:t>
            </a: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sz="1600" b="1" dirty="0"/>
              <a:t>학습 세트의 </a:t>
            </a:r>
            <a:r>
              <a:rPr lang="en-US" altLang="ko-KR" sz="1600" b="1" dirty="0"/>
              <a:t>RUL </a:t>
            </a:r>
            <a:r>
              <a:rPr lang="ko-KR" altLang="en-US" sz="1600" b="1" dirty="0"/>
              <a:t>분포가 충분히 넓지 않고 가중치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모델이 저 </a:t>
            </a:r>
            <a:r>
              <a:rPr lang="en-US" altLang="ko-KR" sz="1600" b="1" dirty="0"/>
              <a:t>RUL </a:t>
            </a:r>
            <a:r>
              <a:rPr lang="ko-KR" altLang="en-US" sz="1600" b="1" dirty="0"/>
              <a:t>패턴을 포착하지 못함</a:t>
            </a: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ko-KR" altLang="en-US" sz="1600" b="1" dirty="0"/>
              <a:t>용량을 보조 타깃으로 넣어도 </a:t>
            </a:r>
            <a:r>
              <a:rPr lang="en-US" altLang="ko-KR" sz="1600" b="1" dirty="0"/>
              <a:t>RUL </a:t>
            </a:r>
            <a:r>
              <a:rPr lang="ko-KR" altLang="en-US" sz="1600" b="1" dirty="0"/>
              <a:t>예측 개선이 미미</a:t>
            </a:r>
            <a:r>
              <a:rPr lang="en-US" altLang="ko-KR" sz="1600" b="1" dirty="0"/>
              <a:t>; </a:t>
            </a:r>
            <a:r>
              <a:rPr lang="ko-KR" altLang="en-US" sz="1600" b="1" dirty="0" err="1"/>
              <a:t>멀티태스크</a:t>
            </a:r>
            <a:r>
              <a:rPr lang="ko-KR" altLang="en-US" sz="1600" b="1" dirty="0"/>
              <a:t> 손실 비중과 피처 설계가 추가로 필요</a:t>
            </a: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/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b="1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b="1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AE9042-3F2F-4501-4914-961826A4C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495" y="2295934"/>
            <a:ext cx="72580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7387-3249-8934-C96E-155977F8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6544C74C-D3ED-2AC3-D586-3350F41F2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추후 개선 제안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44E18C7E-5182-85D8-5A22-2D310BFBB95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88A253ED-4503-6EEA-7C2C-318F4930AF2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77CBAF6A-3AC9-6EF8-99C3-506D8E64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ADF6B155-6B8B-809B-0022-203B4F398AD0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33531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ko-KR" altLang="en-US" sz="1600" b="1" dirty="0"/>
              <a:t>분할 전략 재설계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누적 학습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초기 전 구간 </a:t>
            </a:r>
            <a:r>
              <a:rPr lang="en-US" altLang="ko-KR" sz="1600" b="1" dirty="0"/>
              <a:t>+ </a:t>
            </a:r>
            <a:r>
              <a:rPr lang="ko-KR" altLang="en-US" sz="1600" b="1" dirty="0"/>
              <a:t>말기 일부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이나 </a:t>
            </a:r>
            <a:r>
              <a:rPr lang="en-US" altLang="ko-KR" sz="1600" b="1" dirty="0"/>
              <a:t>k-</a:t>
            </a:r>
            <a:r>
              <a:rPr lang="ko-KR" altLang="en-US" sz="1600" b="1" dirty="0"/>
              <a:t>겹 시계열 검증으로 각 </a:t>
            </a:r>
            <a:r>
              <a:rPr lang="ko-KR" altLang="en-US" sz="1600" b="1" dirty="0" err="1"/>
              <a:t>폴드에</a:t>
            </a:r>
            <a:r>
              <a:rPr lang="ko-KR" altLang="en-US" sz="1600" b="1" dirty="0"/>
              <a:t> 저 </a:t>
            </a:r>
            <a:r>
              <a:rPr lang="en-US" altLang="ko-KR" sz="1600" b="1" dirty="0"/>
              <a:t>RUL </a:t>
            </a:r>
            <a:r>
              <a:rPr lang="ko-KR" altLang="en-US" sz="1600" b="1" dirty="0"/>
              <a:t>데이터를 충분히 포함</a:t>
            </a:r>
            <a:r>
              <a:rPr lang="en-US" altLang="ko-KR" sz="1600" b="1" dirty="0"/>
              <a:t>.</a:t>
            </a:r>
          </a:p>
          <a:p>
            <a:r>
              <a:rPr lang="ko-KR" altLang="en-US" sz="1600" b="1" dirty="0"/>
              <a:t>타깃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손실 재구성</a:t>
            </a:r>
            <a:r>
              <a:rPr lang="en-US" altLang="ko-KR" sz="1600" b="1" dirty="0"/>
              <a:t>: RUL</a:t>
            </a:r>
            <a:r>
              <a:rPr lang="ko-KR" altLang="en-US" sz="1600" b="1" dirty="0"/>
              <a:t>을 </a:t>
            </a:r>
            <a:r>
              <a:rPr lang="en-US" altLang="ko-KR" sz="1600" b="1" dirty="0"/>
              <a:t>0–1 </a:t>
            </a:r>
            <a:r>
              <a:rPr lang="ko-KR" altLang="en-US" sz="1600" b="1" dirty="0"/>
              <a:t>범위로 정규화하고 가중치를 강화하거나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포컬</a:t>
            </a:r>
            <a:r>
              <a:rPr lang="ko-KR" altLang="en-US" sz="1600" b="1" dirty="0"/>
              <a:t> 손실</a:t>
            </a:r>
            <a:r>
              <a:rPr lang="en-US" altLang="ko-KR" sz="1600" b="1" dirty="0"/>
              <a:t>·Quantile loss </a:t>
            </a:r>
            <a:r>
              <a:rPr lang="ko-KR" altLang="en-US" sz="1600" b="1" dirty="0"/>
              <a:t>등으로 평균 예측을 벌점</a:t>
            </a:r>
            <a:r>
              <a:rPr lang="en-US" altLang="ko-KR" sz="1600" b="1" dirty="0"/>
              <a:t>.</a:t>
            </a:r>
          </a:p>
          <a:p>
            <a:r>
              <a:rPr lang="ko-KR" altLang="en-US" sz="1600" b="1" dirty="0"/>
              <a:t>피처 확장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전압 기울기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누적 전하량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임피던스 등 도메인 파생 특성 추가 후 모델 구조</a:t>
            </a:r>
            <a:r>
              <a:rPr lang="en-US" altLang="ko-KR" sz="1600" b="1" dirty="0"/>
              <a:t>(GRU, TCN, 1D CNN) </a:t>
            </a:r>
            <a:r>
              <a:rPr lang="ko-KR" altLang="en-US" sz="1600" b="1" dirty="0"/>
              <a:t>비교 실험</a:t>
            </a:r>
            <a:r>
              <a:rPr lang="en-US" altLang="ko-KR" sz="1600" b="1" dirty="0"/>
              <a:t>.</a:t>
            </a:r>
          </a:p>
          <a:p>
            <a:r>
              <a:rPr lang="ko-KR" altLang="en-US" sz="1600" b="1" dirty="0" err="1"/>
              <a:t>멀티태스크</a:t>
            </a:r>
            <a:r>
              <a:rPr lang="ko-KR" altLang="en-US" sz="1600" b="1" dirty="0"/>
              <a:t> 검증</a:t>
            </a:r>
            <a:r>
              <a:rPr lang="en-US" altLang="ko-KR" sz="1600" b="1" dirty="0"/>
              <a:t>: Capacity </a:t>
            </a:r>
            <a:r>
              <a:rPr lang="ko-KR" altLang="en-US" sz="1600" b="1" dirty="0"/>
              <a:t>헤드가 실제로 도움 되는지 로그를 분석하고</a:t>
            </a:r>
            <a:r>
              <a:rPr lang="en-US" altLang="ko-KR" sz="1600" b="1" dirty="0"/>
              <a:t>, RUL </a:t>
            </a:r>
            <a:r>
              <a:rPr lang="ko-KR" altLang="en-US" sz="1600" b="1" dirty="0"/>
              <a:t>단일 타깃 대비 성능을 체계적으로 비교</a:t>
            </a:r>
            <a:r>
              <a:rPr lang="en-US" altLang="ko-KR" sz="1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6528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ljNmZmMDI3MGUxNmMwZGY2NDBjOWFjMTRiN2U3N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7920</TotalTime>
  <Pages>1</Pages>
  <Words>462</Words>
  <Characters>0</Characters>
  <Application>Microsoft Office PowerPoint</Application>
  <DocSecurity>0</DocSecurity>
  <PresentationFormat>와이드스크린</PresentationFormat>
  <Lines>0</Lines>
  <Paragraphs>180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Wingdings</vt:lpstr>
      <vt:lpstr>WPS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穽ᐺ</dc:title>
  <dc:creator>김태림</dc:creator>
  <cp:lastModifiedBy>최대한</cp:lastModifiedBy>
  <cp:revision>100</cp:revision>
  <dcterms:created xsi:type="dcterms:W3CDTF">2019-06-19T02:08:00Z</dcterms:created>
  <dcterms:modified xsi:type="dcterms:W3CDTF">2025-11-04T01:00:56Z</dcterms:modified>
</cp:coreProperties>
</file>