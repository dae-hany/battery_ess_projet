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99" r:id="rId2"/>
    <p:sldId id="300" r:id="rId3"/>
    <p:sldId id="301" r:id="rId4"/>
    <p:sldId id="302" r:id="rId5"/>
    <p:sldId id="303" r:id="rId6"/>
    <p:sldId id="305" r:id="rId7"/>
    <p:sldId id="306" r:id="rId8"/>
    <p:sldId id="307" r:id="rId9"/>
    <p:sldId id="308" r:id="rId10"/>
    <p:sldId id="309" r:id="rId11"/>
    <p:sldId id="313" r:id="rId12"/>
    <p:sldId id="314" r:id="rId13"/>
    <p:sldId id="315" r:id="rId14"/>
    <p:sldId id="316" r:id="rId15"/>
    <p:sldId id="311" r:id="rId16"/>
    <p:sldId id="318" r:id="rId17"/>
  </p:sldIdLst>
  <p:sldSz cx="1219200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02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144" y="198"/>
      </p:cViewPr>
      <p:guideLst>
        <p:guide orient="horz" pos="2195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5A3DFB-0CC4-37C5-52EB-06B43223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BC839D-F34D-BFEC-6C1E-589F837B20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4F3DF71-84CE-0941-B6C4-1D934A8302AF}" type="datetimeFigureOut">
              <a:rPr lang="zh-CN" altLang="en-US"/>
              <a:pPr>
                <a:defRPr/>
              </a:pPr>
              <a:t>2025/11/9</a:t>
            </a:fld>
            <a:endParaRPr lang="zh-CN" altLang="en-US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316" name="幻灯片图像占位符 3">
            <a:extLst>
              <a:ext uri="{FF2B5EF4-FFF2-40B4-BE49-F238E27FC236}">
                <a16:creationId xmlns:a16="http://schemas.microsoft.com/office/drawing/2014/main" id="{F3B262A3-3BB8-0FCF-9ABC-73BD4FD1E99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CB2BA2B0-5DD7-3EB3-8C2C-3D2BE8294C40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30AA2-BBE5-7926-B653-02B16EF9A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B90DF-8012-5E73-0121-2E3FE0F9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56DCF6-2428-DA40-9012-2B3EB60B5C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D14CE-2C57-96E4-BD38-3CAB7F73EFF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A1C3A-3E82-4749-98EB-A95B5627E404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F934A-88DB-B8A1-AED5-46ED294E446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05650-375B-CA52-6966-C26F178928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9E1F8-6FA0-0E49-8349-1996509027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68555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853A3-E390-6D30-8DBE-9F2BD112171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14BE3-C6ED-C143-93A7-55FCEAFA95E3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985C9-3AEA-C8E4-97E8-496C07529F7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FC73E-63F5-9855-E4B2-9FB5C5DE357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42E63-9D58-4446-856B-9A71F5C1F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706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/>
            </a:lvl1pPr>
          </a:lstStyle>
          <a:p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425096-C909-99E5-8035-25CE8D2E1E5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E627A-D761-F644-8387-208C92DA5A7F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EB3C6-B7B1-7B9F-6560-F4F4274B4A5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DBC04-641A-D36D-9F17-18E3AC30B2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29289-737B-1D44-88D9-AFCC36CC43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960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A16737-BEDF-1032-DB09-2C312A9BCA9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7BBB4-8707-4149-A508-14FDBBD3FA27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1663E70-437E-C8D8-2E72-A42C788C3F3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E40A6C0-FE3E-7616-3F69-919168121E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A0A9E-44BF-7944-9D7F-9330E1A354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4563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noProof="1"/>
              <a:t>마스터 텍스트 스타일을 편집하려면 클릭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7F502D5-E314-AAF3-E09D-A95763355F4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6014-5D61-1D42-95ED-C8F73CB86D96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4E3BF81-E25A-F1C7-C3A2-05E9631AE2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0664B67-7D74-9377-F99E-3E422890A7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27393-A748-8C45-ACD3-7F6861C2A6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377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D266C1C-27F6-47FC-EDA1-602870BF566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720D1-B3D5-3344-A667-24896FF3FBBC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5980524-2A93-F550-4BCA-220930A017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DA0D3B8-247F-2A68-0614-3FA870A8FBA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09F95-9F2A-D947-A86C-9CF7FA3A78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825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E09BEC2-C92D-3380-EFC7-CDEF058A743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5149F-C2FB-4E4F-9930-7DA18A774CAE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99F0259-3FB0-4F86-7DA8-EB6C3755AD5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3C4E403-91B3-B00F-0FCC-174B7FBC6A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91551-B82F-2143-BEA8-475C7C2D3E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960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0E362F3-1A22-D4EA-11A7-FBB4313A805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6781-BDFC-2E4A-95E0-4A88063B4EE2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09B3F-DE46-F240-31E0-5293235DE8C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79A43-0080-E577-DB1D-BB42984F06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56AFD-CF6D-5144-8B64-DB3B5CE66F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108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C20D-A30D-7BD2-4AC3-FF762184B20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F9F34-27BA-5E4A-8B78-279D92F914E8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88D56-C5DD-879A-0404-8DDABE4C68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415A4-ED3D-E15B-2336-C19C7CBEC66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A5AE3-5251-6C45-90AE-B8B9FE9C2A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135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89C4CD2-293F-EE1A-4217-3F98EBE2E7B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45E31-5649-1042-9D83-5FF32BB38DEB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310A6E70-CC05-0B61-2454-2020380E6427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D582139-C06C-162E-3662-18565997C70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8387D-639B-394E-8901-25CB7CDE3C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6523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ko-KR" altLang="en-US" noProof="1"/>
              <a:t>마스터 제목 스타일 편집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7354990-8A5B-F829-52A1-7D2488430884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82EB2-F97E-2E4C-8583-7FA8F2C3C202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4CDC066-128C-E756-7C16-26B35419CE88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E55CC8E-6BF3-BBD9-8778-4CD3FD78B2FB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6B83A-10B7-4C4F-9C8D-9884B8F329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865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9CB8685-A9E4-421D-BBFE-94DDC3FB16ED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3EF7798-1301-8291-DBB3-151FA1E3B7E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EDE19-1DA9-246B-8516-8C0EC42C04C5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831DC8B-FC27-CB4B-AC06-B861A817705A}" type="datetimeFigureOut">
              <a:rPr lang="zh-CN" altLang="en-US"/>
              <a:pPr>
                <a:defRPr/>
              </a:pPr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335F5-68AF-0936-EAF4-6F991D98FD0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1E001-0AE7-41D4-5326-CEBA29217B7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 eaLnBrk="1" hangingPunct="1">
              <a:defRPr sz="10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88629C0-BCCA-DF47-84F7-A8AC4C4442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spc="300">
          <a:solidFill>
            <a:srgbClr val="262626"/>
          </a:solidFill>
          <a:latin typeface="+mj-lt"/>
          <a:ea typeface="Microsoft YaHei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itchFamily="2" charset="2"/>
        <a:buChar char="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kern="1200" spc="150">
          <a:solidFill>
            <a:srgbClr val="595959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object 2">
            <a:extLst>
              <a:ext uri="{FF2B5EF4-FFF2-40B4-BE49-F238E27FC236}">
                <a16:creationId xmlns:a16="http://schemas.microsoft.com/office/drawing/2014/main" id="{140EB44B-DC82-0C8A-D27D-A8457978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0413" cy="5311775"/>
          </a:xfrm>
          <a:custGeom>
            <a:avLst/>
            <a:gdLst>
              <a:gd name="T0" fmla="*/ 10795 w 12192000"/>
              <a:gd name="T1" fmla="*/ 0 h 5260975"/>
              <a:gd name="T2" fmla="*/ 2700 w 12192000"/>
              <a:gd name="T3" fmla="*/ 11328 h 5260975"/>
              <a:gd name="T4" fmla="*/ 10795 w 12192000"/>
              <a:gd name="T5" fmla="*/ 5666 h 5260975"/>
              <a:gd name="T6" fmla="*/ 24285 w 12192000"/>
              <a:gd name="T7" fmla="*/ 11329 h 5260975"/>
              <a:gd name="T8" fmla="*/ 18890 w 12192000"/>
              <a:gd name="T9" fmla="*/ 16996 h 5260975"/>
              <a:gd name="T10" fmla="*/ 13490 w 12192000"/>
              <a:gd name="T11" fmla="*/ 11329 h 52609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12192000"/>
              <a:gd name="T19" fmla="*/ 3163 h 5260975"/>
              <a:gd name="T20" fmla="*/ 18437 w 12192000"/>
              <a:gd name="T21" fmla="*/ 18437 h 52609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192000" h="5260975">
                <a:moveTo>
                  <a:pt x="0" y="5260848"/>
                </a:moveTo>
                <a:lnTo>
                  <a:pt x="12192000" y="5260848"/>
                </a:lnTo>
                <a:lnTo>
                  <a:pt x="12192000" y="0"/>
                </a:lnTo>
                <a:lnTo>
                  <a:pt x="0" y="0"/>
                </a:lnTo>
                <a:lnTo>
                  <a:pt x="0" y="5260848"/>
                </a:lnTo>
                <a:close/>
              </a:path>
            </a:pathLst>
          </a:custGeom>
          <a:solidFill>
            <a:srgbClr val="204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4338" name="object 3">
            <a:extLst>
              <a:ext uri="{FF2B5EF4-FFF2-40B4-BE49-F238E27FC236}">
                <a16:creationId xmlns:a16="http://schemas.microsoft.com/office/drawing/2014/main" id="{10B82580-22D7-B66E-F1C5-068A40E2D864}"/>
              </a:ext>
            </a:extLst>
          </p:cNvPr>
          <p:cNvGrpSpPr>
            <a:grpSpLocks/>
          </p:cNvGrpSpPr>
          <p:nvPr/>
        </p:nvGrpSpPr>
        <p:grpSpPr bwMode="auto">
          <a:xfrm>
            <a:off x="0" y="3663950"/>
            <a:ext cx="12192000" cy="3194050"/>
            <a:chOff x="0" y="2308"/>
            <a:chExt cx="7680" cy="2012"/>
          </a:xfrm>
        </p:grpSpPr>
        <p:sp>
          <p:nvSpPr>
            <p:cNvPr id="14347" name="object 4">
              <a:extLst>
                <a:ext uri="{FF2B5EF4-FFF2-40B4-BE49-F238E27FC236}">
                  <a16:creationId xmlns:a16="http://schemas.microsoft.com/office/drawing/2014/main" id="{6D082A70-8A66-D9CA-2886-125F4786D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08"/>
              <a:ext cx="7679" cy="2012"/>
            </a:xfrm>
            <a:custGeom>
              <a:avLst/>
              <a:gdLst>
                <a:gd name="T0" fmla="*/ 0 w 12192000"/>
                <a:gd name="T1" fmla="*/ 0 h 3194684"/>
                <a:gd name="T2" fmla="*/ 0 w 12192000"/>
                <a:gd name="T3" fmla="*/ 0 h 3194684"/>
                <a:gd name="T4" fmla="*/ 0 w 12192000"/>
                <a:gd name="T5" fmla="*/ 0 h 3194684"/>
                <a:gd name="T6" fmla="*/ 0 w 12192000"/>
                <a:gd name="T7" fmla="*/ 0 h 3194684"/>
                <a:gd name="T8" fmla="*/ 0 w 12192000"/>
                <a:gd name="T9" fmla="*/ 0 h 3194684"/>
                <a:gd name="T10" fmla="*/ 0 w 12192000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5 w 12192000"/>
                <a:gd name="T19" fmla="*/ 3176 h 3194684"/>
                <a:gd name="T20" fmla="*/ 19052 w 12192000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92000" h="3194684">
                  <a:moveTo>
                    <a:pt x="12192000" y="1597152"/>
                  </a:moveTo>
                  <a:lnTo>
                    <a:pt x="10594848" y="1597152"/>
                  </a:lnTo>
                  <a:lnTo>
                    <a:pt x="0" y="1597152"/>
                  </a:lnTo>
                  <a:lnTo>
                    <a:pt x="0" y="3194304"/>
                  </a:lnTo>
                  <a:lnTo>
                    <a:pt x="12192000" y="3194304"/>
                  </a:lnTo>
                  <a:lnTo>
                    <a:pt x="12192000" y="1597152"/>
                  </a:lnTo>
                  <a:close/>
                </a:path>
                <a:path w="12192000" h="3194684">
                  <a:moveTo>
                    <a:pt x="12192000" y="0"/>
                  </a:moveTo>
                  <a:lnTo>
                    <a:pt x="10594848" y="0"/>
                  </a:lnTo>
                  <a:lnTo>
                    <a:pt x="10594848" y="15971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48" name="object 5">
              <a:extLst>
                <a:ext uri="{FF2B5EF4-FFF2-40B4-BE49-F238E27FC236}">
                  <a16:creationId xmlns:a16="http://schemas.microsoft.com/office/drawing/2014/main" id="{8B53EFA4-22E3-E612-6D87-DA36761FE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8" y="2308"/>
              <a:ext cx="2012" cy="2012"/>
            </a:xfrm>
            <a:custGeom>
              <a:avLst/>
              <a:gdLst>
                <a:gd name="T0" fmla="*/ 0 w 3194684"/>
                <a:gd name="T1" fmla="*/ 0 h 3194684"/>
                <a:gd name="T2" fmla="*/ 0 w 3194684"/>
                <a:gd name="T3" fmla="*/ 0 h 3194684"/>
                <a:gd name="T4" fmla="*/ 0 w 3194684"/>
                <a:gd name="T5" fmla="*/ 0 h 3194684"/>
                <a:gd name="T6" fmla="*/ 0 w 3194684"/>
                <a:gd name="T7" fmla="*/ 0 h 3194684"/>
                <a:gd name="T8" fmla="*/ 0 w 3194684"/>
                <a:gd name="T9" fmla="*/ 0 h 3194684"/>
                <a:gd name="T10" fmla="*/ 0 w 3194684"/>
                <a:gd name="T11" fmla="*/ 0 h 31946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6 w 3194684"/>
                <a:gd name="T19" fmla="*/ 3176 h 3194684"/>
                <a:gd name="T20" fmla="*/ 19054 w 3194684"/>
                <a:gd name="T21" fmla="*/ 19054 h 319468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4684" h="3194684">
                  <a:moveTo>
                    <a:pt x="1597152" y="0"/>
                  </a:moveTo>
                  <a:lnTo>
                    <a:pt x="0" y="1597152"/>
                  </a:lnTo>
                  <a:lnTo>
                    <a:pt x="1597152" y="1597152"/>
                  </a:lnTo>
                  <a:lnTo>
                    <a:pt x="1597152" y="0"/>
                  </a:lnTo>
                  <a:close/>
                </a:path>
                <a:path w="3194684" h="3194684">
                  <a:moveTo>
                    <a:pt x="3194304" y="1597152"/>
                  </a:moveTo>
                  <a:lnTo>
                    <a:pt x="1597152" y="1597152"/>
                  </a:lnTo>
                  <a:lnTo>
                    <a:pt x="1597152" y="3194304"/>
                  </a:lnTo>
                  <a:lnTo>
                    <a:pt x="3194304" y="1597152"/>
                  </a:lnTo>
                  <a:close/>
                </a:path>
              </a:pathLst>
            </a:custGeom>
            <a:solidFill>
              <a:srgbClr val="00A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339" name="object 8">
            <a:extLst>
              <a:ext uri="{FF2B5EF4-FFF2-40B4-BE49-F238E27FC236}">
                <a16:creationId xmlns:a16="http://schemas.microsoft.com/office/drawing/2014/main" id="{F1570645-3A7F-18C2-BF9A-58743052F397}"/>
              </a:ext>
            </a:extLst>
          </p:cNvPr>
          <p:cNvSpPr>
            <a:spLocks/>
          </p:cNvSpPr>
          <p:nvPr/>
        </p:nvSpPr>
        <p:spPr bwMode="auto">
          <a:xfrm flipV="1">
            <a:off x="2301875" y="2747963"/>
            <a:ext cx="7921625" cy="46037"/>
          </a:xfrm>
          <a:custGeom>
            <a:avLst/>
            <a:gdLst>
              <a:gd name="T0" fmla="*/ 17408 w 7200265"/>
              <a:gd name="T1" fmla="*/ 0 h 1"/>
              <a:gd name="T2" fmla="*/ 4353 w 7200265"/>
              <a:gd name="T3" fmla="*/ 2147483646 h 1"/>
              <a:gd name="T4" fmla="*/ 17408 w 7200265"/>
              <a:gd name="T5" fmla="*/ 2147483646 h 1"/>
              <a:gd name="T6" fmla="*/ 39169 w 7200265"/>
              <a:gd name="T7" fmla="*/ 2147483646 h 1"/>
              <a:gd name="T8" fmla="*/ 30465 w 7200265"/>
              <a:gd name="T9" fmla="*/ 2147483646 h 1"/>
              <a:gd name="T10" fmla="*/ 21761 w 7200265"/>
              <a:gd name="T11" fmla="*/ 2147483646 h 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7200265"/>
              <a:gd name="T19" fmla="*/ 3163 h 1"/>
              <a:gd name="T20" fmla="*/ 18437 w 7200265"/>
              <a:gd name="T21" fmla="*/ 18437 h 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200265" h="1">
                <a:moveTo>
                  <a:pt x="7200010" y="0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AFE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object 9">
            <a:extLst>
              <a:ext uri="{FF2B5EF4-FFF2-40B4-BE49-F238E27FC236}">
                <a16:creationId xmlns:a16="http://schemas.microsoft.com/office/drawing/2014/main" id="{5A6F5CFB-4B9C-6C6F-EDE6-84019BA7B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5329238"/>
            <a:ext cx="7440612" cy="109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127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최대한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Distributed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Network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 and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System</a:t>
            </a:r>
            <a:r>
              <a:rPr lang="en-US" altLang="ko-KR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Laboratory</a:t>
            </a: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Chonnam</a:t>
            </a:r>
            <a:r>
              <a:rPr lang="ko-KR" altLang="en-US" sz="17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National </a:t>
            </a:r>
            <a:r>
              <a:rPr lang="ko-KR" altLang="en-US" sz="1700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University</a:t>
            </a: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eaLnBrk="1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FontTx/>
              <a:buNone/>
            </a:pPr>
            <a:endParaRPr lang="en-US" altLang="ko-KR" sz="17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14341" name="그룹 21">
            <a:extLst>
              <a:ext uri="{FF2B5EF4-FFF2-40B4-BE49-F238E27FC236}">
                <a16:creationId xmlns:a16="http://schemas.microsoft.com/office/drawing/2014/main" id="{83F0E7CC-8669-77AD-0AF4-9C5D6B245FA6}"/>
              </a:ext>
            </a:extLst>
          </p:cNvPr>
          <p:cNvGrpSpPr>
            <a:grpSpLocks/>
          </p:cNvGrpSpPr>
          <p:nvPr/>
        </p:nvGrpSpPr>
        <p:grpSpPr bwMode="auto">
          <a:xfrm>
            <a:off x="7721600" y="5508625"/>
            <a:ext cx="2717800" cy="1196975"/>
            <a:chOff x="4864" y="3470"/>
            <a:chExt cx="1712" cy="754"/>
          </a:xfrm>
        </p:grpSpPr>
        <p:pic>
          <p:nvPicPr>
            <p:cNvPr id="14345" name="그림 22">
              <a:extLst>
                <a:ext uri="{FF2B5EF4-FFF2-40B4-BE49-F238E27FC236}">
                  <a16:creationId xmlns:a16="http://schemas.microsoft.com/office/drawing/2014/main" id="{F182EF9B-5ABF-898F-3027-4DF7A6B15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2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그림 23">
              <a:extLst>
                <a:ext uri="{FF2B5EF4-FFF2-40B4-BE49-F238E27FC236}">
                  <a16:creationId xmlns:a16="http://schemas.microsoft.com/office/drawing/2014/main" id="{ADB49CF6-079A-1552-27E0-5E1C7B779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4" y="3470"/>
              <a:ext cx="754" cy="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12F155EB-C232-CEBE-255B-AE6D7C812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052513"/>
            <a:ext cx="115458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3600" b="1" dirty="0">
                <a:solidFill>
                  <a:srgbClr val="FFFFFF"/>
                </a:solidFill>
                <a:cs typeface="Arial" panose="020B0604020202020204" pitchFamily="34" charset="0"/>
              </a:rPr>
              <a:t>LSTM </a:t>
            </a:r>
            <a:r>
              <a:rPr lang="ko-KR" altLang="en-US" sz="3600" b="1" dirty="0">
                <a:solidFill>
                  <a:srgbClr val="FFFFFF"/>
                </a:solidFill>
                <a:cs typeface="Arial" panose="020B0604020202020204" pitchFamily="34" charset="0"/>
              </a:rPr>
              <a:t>기반으로 </a:t>
            </a:r>
            <a:r>
              <a:rPr lang="en-US" altLang="ko-KR" sz="3600" b="1" dirty="0">
                <a:solidFill>
                  <a:srgbClr val="FFFFFF"/>
                </a:solidFill>
                <a:cs typeface="Arial" panose="020B0604020202020204" pitchFamily="34" charset="0"/>
              </a:rPr>
              <a:t>SOH</a:t>
            </a:r>
            <a:r>
              <a:rPr lang="ko-KR" altLang="en-US" sz="3600" b="1" dirty="0">
                <a:solidFill>
                  <a:srgbClr val="FFFFFF"/>
                </a:solidFill>
                <a:cs typeface="Arial" panose="020B0604020202020204" pitchFamily="34" charset="0"/>
              </a:rPr>
              <a:t> 예측</a:t>
            </a:r>
          </a:p>
        </p:txBody>
      </p:sp>
      <p:sp>
        <p:nvSpPr>
          <p:cNvPr id="14343" name="灯片编号占位符 1">
            <a:extLst>
              <a:ext uri="{FF2B5EF4-FFF2-40B4-BE49-F238E27FC236}">
                <a16:creationId xmlns:a16="http://schemas.microsoft.com/office/drawing/2014/main" id="{5CCF659E-C3D4-9E0D-2B9F-45BB599422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fld id="{8D3CDFC1-69C0-234D-9BE9-1C42EF576458}" type="slidenum">
              <a:rPr lang="zh-CN" altLang="en-US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t>1</a:t>
            </a:fld>
            <a:endParaRPr lang="zh-CN" altLang="en-US">
              <a:solidFill>
                <a:srgbClr val="898989"/>
              </a:solidFill>
            </a:endParaRPr>
          </a:p>
        </p:txBody>
      </p:sp>
      <p:sp>
        <p:nvSpPr>
          <p:cNvPr id="14344" name="Text Box 12">
            <a:extLst>
              <a:ext uri="{FF2B5EF4-FFF2-40B4-BE49-F238E27FC236}">
                <a16:creationId xmlns:a16="http://schemas.microsoft.com/office/drawing/2014/main" id="{875DE044-CE6A-8486-7A2C-13D9FDD01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74613"/>
            <a:ext cx="3883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-1020">
            <a:extLst>
              <a:ext uri="{FF2B5EF4-FFF2-40B4-BE49-F238E27FC236}">
                <a16:creationId xmlns:a16="http://schemas.microsoft.com/office/drawing/2014/main" id="{F6B40308-F6A2-26C0-4B38-6481CBE868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2800350" cy="6846888"/>
          </a:xfrm>
          <a:prstGeom prst="rect">
            <a:avLst/>
          </a:prstGeom>
          <a:solidFill>
            <a:srgbClr val="204767"/>
          </a:solidFill>
          <a:ln w="25400">
            <a:solidFill>
              <a:srgbClr val="1C334E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Index</a:t>
            </a:r>
          </a:p>
        </p:txBody>
      </p:sp>
      <p:sp>
        <p:nvSpPr>
          <p:cNvPr id="15362" name="Rectangle -1019">
            <a:extLst>
              <a:ext uri="{FF2B5EF4-FFF2-40B4-BE49-F238E27FC236}">
                <a16:creationId xmlns:a16="http://schemas.microsoft.com/office/drawing/2014/main" id="{DCF82C7F-7A1F-12F9-22FE-BDEC1E96D82C}"/>
              </a:ext>
            </a:extLst>
          </p:cNvPr>
          <p:cNvSpPr>
            <a:spLocks noChangeAspect="1"/>
          </p:cNvSpPr>
          <p:nvPr/>
        </p:nvSpPr>
        <p:spPr bwMode="auto">
          <a:xfrm>
            <a:off x="3451220" y="1453305"/>
            <a:ext cx="7791450" cy="4191355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1. 시계열 데이터에 대해 학습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검증 분할 방법 </a:t>
            </a: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 LSTM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모델 학습 결과</a:t>
            </a: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3. </a:t>
            </a: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N_SPLITS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값에 따른 모델 예측력 비교</a:t>
            </a: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4.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배터리 종류에 따른 모델 예측력 비교</a:t>
            </a: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en-US" altLang="ko-KR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5. </a:t>
            </a:r>
            <a:r>
              <a:rPr lang="ko-KR" altLang="en-US" sz="24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인사이트</a:t>
            </a: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15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FontTx/>
              <a:buNone/>
            </a:pPr>
            <a:endParaRPr lang="ko-KR" altLang="en-US" sz="28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시계열 데이터에 대해 학습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/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검증 분할 방법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6</a:t>
            </a:r>
            <a:r>
              <a:rPr lang="ko-KR" altLang="en-US" dirty="0">
                <a:cs typeface="Arial" panose="020B0604020202020204" pitchFamily="34" charset="0"/>
              </a:rPr>
              <a:t>번 배터리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discharge type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 err="1">
                <a:cs typeface="Arial" panose="020B0604020202020204" pitchFamily="34" charset="0"/>
              </a:rPr>
              <a:t>cycle_index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와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열 추가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soh = </a:t>
            </a:r>
            <a:r>
              <a:rPr lang="ko-KR" altLang="en-US" dirty="0">
                <a:cs typeface="Arial" panose="020B0604020202020204" pitchFamily="34" charset="0"/>
              </a:rPr>
              <a:t>현재 </a:t>
            </a:r>
            <a:r>
              <a:rPr lang="en-US" altLang="ko-KR" dirty="0">
                <a:cs typeface="Arial" panose="020B0604020202020204" pitchFamily="34" charset="0"/>
              </a:rPr>
              <a:t>Capacity / </a:t>
            </a:r>
            <a:r>
              <a:rPr lang="ko-KR" altLang="en-US" dirty="0">
                <a:cs typeface="Arial" panose="020B0604020202020204" pitchFamily="34" charset="0"/>
              </a:rPr>
              <a:t>초기 </a:t>
            </a:r>
            <a:r>
              <a:rPr lang="en-US" altLang="ko-KR" dirty="0">
                <a:cs typeface="Arial" panose="020B0604020202020204" pitchFamily="34" charset="0"/>
              </a:rPr>
              <a:t>Capacity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   </a:t>
            </a:r>
            <a:endParaRPr lang="en-US" altLang="ko-KR" dirty="0"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0000"/>
              </a:lnSpc>
              <a:buFontTx/>
              <a:buChar char="-"/>
              <a:defRPr/>
            </a:pP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865E0A-F486-485C-A48C-167B65DBD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851" y="751657"/>
            <a:ext cx="3181272" cy="19820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FB8D12-924C-4094-916D-5AD754912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34" y="3013874"/>
            <a:ext cx="7500813" cy="34382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A157A1-BA6B-462F-AADF-8C52C037E27F}"/>
              </a:ext>
            </a:extLst>
          </p:cNvPr>
          <p:cNvSpPr txBox="1"/>
          <p:nvPr/>
        </p:nvSpPr>
        <p:spPr>
          <a:xfrm>
            <a:off x="3484685" y="6408622"/>
            <a:ext cx="3181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1. 6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Capacity </a:t>
            </a:r>
            <a:r>
              <a:rPr lang="ko-KR" altLang="en-US" sz="1000" dirty="0"/>
              <a:t>변화</a:t>
            </a:r>
          </a:p>
        </p:txBody>
      </p:sp>
    </p:spTree>
    <p:extLst>
      <p:ext uri="{BB962C8B-B14F-4D97-AF65-F5344CB8AC3E}">
        <p14:creationId xmlns:p14="http://schemas.microsoft.com/office/powerpoint/2010/main" val="424361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시계열 데이터에 대해 학습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/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검증 분할 방법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Sequence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Length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= 120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FEATURE_COLS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 err="1"/>
              <a:t>Voltage_measured</a:t>
            </a:r>
            <a:endParaRPr lang="en-US" altLang="ko-KR" dirty="0"/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 err="1"/>
              <a:t>Current_measured</a:t>
            </a:r>
            <a:endParaRPr lang="en-US" altLang="ko-KR" dirty="0"/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 err="1"/>
              <a:t>Temperature_measured</a:t>
            </a:r>
            <a:endParaRPr lang="en-US" altLang="ko-KR" dirty="0"/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 err="1"/>
              <a:t>Current_load</a:t>
            </a:r>
            <a:endParaRPr lang="en-US" altLang="ko-KR" dirty="0"/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 err="1"/>
              <a:t>Voltage_load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설정된 </a:t>
            </a:r>
            <a:r>
              <a:rPr lang="en-US" altLang="ko-KR" dirty="0">
                <a:cs typeface="Arial" panose="020B0604020202020204" pitchFamily="34" charset="0"/>
              </a:rPr>
              <a:t>Sequence Length </a:t>
            </a:r>
            <a:r>
              <a:rPr lang="ko-KR" altLang="en-US" dirty="0">
                <a:cs typeface="Arial" panose="020B0604020202020204" pitchFamily="34" charset="0"/>
              </a:rPr>
              <a:t>값으로 각 방전 테스트의 </a:t>
            </a:r>
            <a:r>
              <a:rPr lang="en-US" altLang="ko-KR" dirty="0">
                <a:cs typeface="Arial" panose="020B0604020202020204" pitchFamily="34" charset="0"/>
              </a:rPr>
              <a:t>Sequence Length</a:t>
            </a:r>
            <a:r>
              <a:rPr lang="ko-KR" altLang="en-US" dirty="0">
                <a:cs typeface="Arial" panose="020B0604020202020204" pitchFamily="34" charset="0"/>
              </a:rPr>
              <a:t> 값을 고정</a:t>
            </a: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(Batch, Sequence Length, Features) </a:t>
            </a:r>
            <a:r>
              <a:rPr lang="ko-KR" altLang="en-US" dirty="0">
                <a:cs typeface="Arial" panose="020B0604020202020204" pitchFamily="34" charset="0"/>
              </a:rPr>
              <a:t>형태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DEF501-3FB6-4B14-AD7F-ACF7598E2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34" y="4320646"/>
            <a:ext cx="322942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1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1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시계열 데이터에 대해 학습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/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검증 분할 방법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N_SPLITS = 5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 err="1">
                <a:cs typeface="Arial" panose="020B0604020202020204" pitchFamily="34" charset="0"/>
              </a:rPr>
              <a:t>train_ratio</a:t>
            </a:r>
            <a:r>
              <a:rPr lang="en-US" altLang="ko-KR" dirty="0">
                <a:cs typeface="Arial" panose="020B0604020202020204" pitchFamily="34" charset="0"/>
              </a:rPr>
              <a:t> = 0.8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b="1" dirty="0">
                <a:cs typeface="Arial" panose="020B0604020202020204" pitchFamily="34" charset="0"/>
              </a:rPr>
              <a:t>120 </a:t>
            </a:r>
            <a:r>
              <a:rPr lang="ko-KR" altLang="en-US" b="1" dirty="0">
                <a:cs typeface="Arial" panose="020B0604020202020204" pitchFamily="34" charset="0"/>
              </a:rPr>
              <a:t>길이의 </a:t>
            </a:r>
            <a:r>
              <a:rPr lang="en-US" altLang="ko-KR" b="1" dirty="0">
                <a:cs typeface="Arial" panose="020B0604020202020204" pitchFamily="34" charset="0"/>
              </a:rPr>
              <a:t>5</a:t>
            </a:r>
            <a:r>
              <a:rPr lang="ko-KR" altLang="en-US" b="1" dirty="0">
                <a:cs typeface="Arial" panose="020B0604020202020204" pitchFamily="34" charset="0"/>
              </a:rPr>
              <a:t>차원 데이터를 </a:t>
            </a:r>
            <a:r>
              <a:rPr lang="en-US" altLang="ko-KR" b="1" dirty="0">
                <a:cs typeface="Arial" panose="020B0604020202020204" pitchFamily="34" charset="0"/>
              </a:rPr>
              <a:t>N_SPLITS</a:t>
            </a:r>
            <a:r>
              <a:rPr lang="ko-KR" altLang="en-US" b="1" dirty="0">
                <a:cs typeface="Arial" panose="020B0604020202020204" pitchFamily="34" charset="0"/>
              </a:rPr>
              <a:t> 값에 따라 구간을 나눔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각 구간에 대해 </a:t>
            </a:r>
            <a:r>
              <a:rPr lang="en-US" altLang="ko-KR" dirty="0" err="1">
                <a:cs typeface="Arial" panose="020B0604020202020204" pitchFamily="34" charset="0"/>
              </a:rPr>
              <a:t>train_ratio</a:t>
            </a: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ko-KR" altLang="en-US" dirty="0">
                <a:cs typeface="Arial" panose="020B0604020202020204" pitchFamily="34" charset="0"/>
              </a:rPr>
              <a:t>값을 기준으로 학습</a:t>
            </a:r>
            <a:r>
              <a:rPr lang="en-US" altLang="ko-KR" dirty="0">
                <a:cs typeface="Arial" panose="020B0604020202020204" pitchFamily="34" charset="0"/>
              </a:rPr>
              <a:t>/</a:t>
            </a:r>
            <a:r>
              <a:rPr lang="ko-KR" altLang="en-US" dirty="0">
                <a:cs typeface="Arial" panose="020B0604020202020204" pitchFamily="34" charset="0"/>
              </a:rPr>
              <a:t>검증 데이터셋을 분할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이후 각 </a:t>
            </a:r>
            <a:r>
              <a:rPr lang="en-US" altLang="ko-KR" dirty="0">
                <a:cs typeface="Arial" panose="020B0604020202020204" pitchFamily="34" charset="0"/>
              </a:rPr>
              <a:t>feature</a:t>
            </a:r>
            <a:r>
              <a:rPr lang="ko-KR" altLang="en-US" dirty="0">
                <a:cs typeface="Arial" panose="020B0604020202020204" pitchFamily="34" charset="0"/>
              </a:rPr>
              <a:t>에 대한 평균과 표준편차로 </a:t>
            </a:r>
            <a:r>
              <a:rPr lang="ko-KR" altLang="en-US" dirty="0" err="1">
                <a:cs typeface="Arial" panose="020B0604020202020204" pitchFamily="34" charset="0"/>
              </a:rPr>
              <a:t>정규화하였음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이후 학습에 사용될 </a:t>
            </a:r>
            <a:r>
              <a:rPr lang="en-US" altLang="ko-KR" dirty="0">
                <a:cs typeface="Arial" panose="020B0604020202020204" pitchFamily="34" charset="0"/>
              </a:rPr>
              <a:t>LSTM </a:t>
            </a:r>
            <a:r>
              <a:rPr lang="ko-KR" altLang="en-US" dirty="0">
                <a:cs typeface="Arial" panose="020B0604020202020204" pitchFamily="34" charset="0"/>
              </a:rPr>
              <a:t>모델 구현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A6359E-0592-40B9-948B-9C65B80C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03" y="3018944"/>
            <a:ext cx="6697010" cy="10288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CB3D22-07B5-4CFB-ABF9-E450EA7D6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03" y="4690627"/>
            <a:ext cx="602064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6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2.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LSTM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모델 학습 결과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EPOCHS = 25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criterion = </a:t>
            </a:r>
            <a:r>
              <a:rPr lang="en-US" altLang="ko-KR" dirty="0" err="1">
                <a:cs typeface="Arial" panose="020B0604020202020204" pitchFamily="34" charset="0"/>
              </a:rPr>
              <a:t>nn.MSELoss</a:t>
            </a:r>
            <a:r>
              <a:rPr lang="en-US" altLang="ko-KR" dirty="0">
                <a:cs typeface="Arial" panose="020B0604020202020204" pitchFamily="34" charset="0"/>
              </a:rPr>
              <a:t>()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Font typeface="Arial" panose="020B0604020202020204" pitchFamily="34" charset="0"/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optimizer = </a:t>
            </a:r>
            <a:r>
              <a:rPr lang="en-US" altLang="ko-KR" dirty="0" err="1"/>
              <a:t>torch.optim.Adam</a:t>
            </a:r>
            <a:r>
              <a:rPr lang="en-US" altLang="ko-KR" dirty="0"/>
              <a:t>()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A6742A-AA03-4558-9EE8-DCEB8E9B5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377" y="2382715"/>
            <a:ext cx="6581775" cy="3724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6022FC-6CCC-4E16-9ECA-950E901CFEA9}"/>
              </a:ext>
            </a:extLst>
          </p:cNvPr>
          <p:cNvSpPr txBox="1"/>
          <p:nvPr/>
        </p:nvSpPr>
        <p:spPr>
          <a:xfrm>
            <a:off x="4821887" y="6106990"/>
            <a:ext cx="21834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2. LSTM </a:t>
            </a:r>
            <a:r>
              <a:rPr lang="ko-KR" altLang="en-US" sz="1000" dirty="0"/>
              <a:t>모델의 학습 그래프</a:t>
            </a:r>
          </a:p>
        </p:txBody>
      </p:sp>
    </p:spTree>
    <p:extLst>
      <p:ext uri="{BB962C8B-B14F-4D97-AF65-F5344CB8AC3E}">
        <p14:creationId xmlns:p14="http://schemas.microsoft.com/office/powerpoint/2010/main" val="207760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2.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LSTM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모델 학습 결과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검증 </a:t>
            </a:r>
            <a:r>
              <a:rPr lang="en-US" altLang="ko-KR" dirty="0">
                <a:cs typeface="Arial" panose="020B0604020202020204" pitchFamily="34" charset="0"/>
              </a:rPr>
              <a:t>MAE : 0.016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검증 </a:t>
            </a:r>
            <a:r>
              <a:rPr lang="en-US" altLang="ko-KR" dirty="0">
                <a:cs typeface="Arial" panose="020B0604020202020204" pitchFamily="34" charset="0"/>
              </a:rPr>
              <a:t>RMSE : 0.019</a:t>
            </a: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위 두 이미지는 학습된 실제 </a:t>
            </a:r>
            <a:r>
              <a:rPr lang="en-US" altLang="ko-KR" dirty="0">
                <a:cs typeface="Arial" panose="020B0604020202020204" pitchFamily="34" charset="0"/>
              </a:rPr>
              <a:t>soh</a:t>
            </a:r>
            <a:r>
              <a:rPr lang="ko-KR" altLang="en-US" dirty="0">
                <a:cs typeface="Arial" panose="020B0604020202020204" pitchFamily="34" charset="0"/>
              </a:rPr>
              <a:t> 값과 예측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값의 차이를 비교하는 이미지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C21FEE-C82D-4B1F-A3A2-3F1999752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239" y="806779"/>
            <a:ext cx="3308245" cy="164758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325670-AB66-41E1-B322-DFF5D760B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279" y="806779"/>
            <a:ext cx="3872592" cy="16475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C70E98-C1F0-4AE7-8B69-C7C935F52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9947" y="3075470"/>
            <a:ext cx="6476635" cy="297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D82716-B903-4875-AE9B-5D1D385DCFFD}"/>
              </a:ext>
            </a:extLst>
          </p:cNvPr>
          <p:cNvSpPr txBox="1"/>
          <p:nvPr/>
        </p:nvSpPr>
        <p:spPr>
          <a:xfrm>
            <a:off x="4821887" y="6106990"/>
            <a:ext cx="28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3. </a:t>
            </a:r>
            <a:r>
              <a:rPr lang="ko-KR" altLang="en-US" sz="1000" dirty="0"/>
              <a:t>실제 </a:t>
            </a:r>
            <a:r>
              <a:rPr lang="en-US" altLang="ko-KR" sz="1000" dirty="0"/>
              <a:t>soh </a:t>
            </a:r>
            <a:r>
              <a:rPr lang="ko-KR" altLang="en-US" sz="1000" dirty="0"/>
              <a:t>값과 예측 </a:t>
            </a:r>
            <a:r>
              <a:rPr lang="en-US" altLang="ko-KR" sz="1000" dirty="0"/>
              <a:t>soh </a:t>
            </a:r>
            <a:r>
              <a:rPr lang="ko-KR" altLang="en-US" sz="1000" dirty="0"/>
              <a:t>값의 차이</a:t>
            </a:r>
          </a:p>
        </p:txBody>
      </p:sp>
    </p:spTree>
    <p:extLst>
      <p:ext uri="{BB962C8B-B14F-4D97-AF65-F5344CB8AC3E}">
        <p14:creationId xmlns:p14="http://schemas.microsoft.com/office/powerpoint/2010/main" val="253143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 N_SPLITS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값에 따른 모델 예측력 비교 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N_SPLITS = [1, 5, 10, 20] -&gt; </a:t>
            </a:r>
            <a:r>
              <a:rPr lang="ko-KR" altLang="en-US" dirty="0">
                <a:cs typeface="Arial" panose="020B0604020202020204" pitchFamily="34" charset="0"/>
              </a:rPr>
              <a:t>예측력이 큰 차이가 보이지 않음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FF5C07-B5A3-4FEA-AD0B-068804929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1241546"/>
            <a:ext cx="4760930" cy="21874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79332C-6D1F-41C6-B920-9CDD784A0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845" y="1241545"/>
            <a:ext cx="4760931" cy="21874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8A1E70-D0B0-479A-A03D-29B5BE99A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32755"/>
            <a:ext cx="4760930" cy="22082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1C38B01-B2FD-4ED8-93C0-5AAEA0AB16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4845" y="3832755"/>
            <a:ext cx="4760930" cy="22082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6EFB31-9D8B-4271-80F2-757111494008}"/>
              </a:ext>
            </a:extLst>
          </p:cNvPr>
          <p:cNvSpPr txBox="1"/>
          <p:nvPr/>
        </p:nvSpPr>
        <p:spPr>
          <a:xfrm>
            <a:off x="1944711" y="3429000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4. </a:t>
            </a:r>
            <a:r>
              <a:rPr lang="ko-KR" altLang="en-US" sz="1000" dirty="0"/>
              <a:t>실제 </a:t>
            </a:r>
            <a:r>
              <a:rPr lang="en-US" altLang="ko-KR" sz="1000" dirty="0"/>
              <a:t>soh </a:t>
            </a:r>
            <a:r>
              <a:rPr lang="ko-KR" altLang="en-US" sz="1000" dirty="0"/>
              <a:t>값과 예측 </a:t>
            </a:r>
            <a:r>
              <a:rPr lang="en-US" altLang="ko-KR" sz="1000" dirty="0"/>
              <a:t>soh </a:t>
            </a:r>
            <a:r>
              <a:rPr lang="ko-KR" altLang="en-US" sz="1000" dirty="0"/>
              <a:t>값의 차이</a:t>
            </a:r>
            <a:r>
              <a:rPr lang="en-US" altLang="ko-KR" sz="1000" dirty="0"/>
              <a:t>(N_SPLITS = 1)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DF18D-4ACD-4FAB-9D3A-6FD78922F54E}"/>
              </a:ext>
            </a:extLst>
          </p:cNvPr>
          <p:cNvSpPr txBox="1"/>
          <p:nvPr/>
        </p:nvSpPr>
        <p:spPr>
          <a:xfrm>
            <a:off x="6747510" y="3410255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5. </a:t>
            </a:r>
            <a:r>
              <a:rPr lang="ko-KR" altLang="en-US" sz="1000" dirty="0"/>
              <a:t>실제 </a:t>
            </a:r>
            <a:r>
              <a:rPr lang="en-US" altLang="ko-KR" sz="1000" dirty="0"/>
              <a:t>soh </a:t>
            </a:r>
            <a:r>
              <a:rPr lang="ko-KR" altLang="en-US" sz="1000" dirty="0"/>
              <a:t>값과 예측 </a:t>
            </a:r>
            <a:r>
              <a:rPr lang="en-US" altLang="ko-KR" sz="1000" dirty="0"/>
              <a:t>soh </a:t>
            </a:r>
            <a:r>
              <a:rPr lang="ko-KR" altLang="en-US" sz="1000" dirty="0"/>
              <a:t>값의 차이</a:t>
            </a:r>
            <a:r>
              <a:rPr lang="en-US" altLang="ko-KR" sz="1000" dirty="0"/>
              <a:t>(N_SPLITS = 5)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2567B-67DE-42F4-B66E-763E32C5ADEA}"/>
              </a:ext>
            </a:extLst>
          </p:cNvPr>
          <p:cNvSpPr txBox="1"/>
          <p:nvPr/>
        </p:nvSpPr>
        <p:spPr>
          <a:xfrm>
            <a:off x="1944711" y="6025787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6. </a:t>
            </a:r>
            <a:r>
              <a:rPr lang="ko-KR" altLang="en-US" sz="1000" dirty="0"/>
              <a:t>실제 </a:t>
            </a:r>
            <a:r>
              <a:rPr lang="en-US" altLang="ko-KR" sz="1000" dirty="0"/>
              <a:t>soh </a:t>
            </a:r>
            <a:r>
              <a:rPr lang="ko-KR" altLang="en-US" sz="1000" dirty="0"/>
              <a:t>값과 예측 </a:t>
            </a:r>
            <a:r>
              <a:rPr lang="en-US" altLang="ko-KR" sz="1000" dirty="0"/>
              <a:t>soh </a:t>
            </a:r>
            <a:r>
              <a:rPr lang="ko-KR" altLang="en-US" sz="1000" dirty="0"/>
              <a:t>값의 차이</a:t>
            </a:r>
            <a:r>
              <a:rPr lang="en-US" altLang="ko-KR" sz="1000" dirty="0"/>
              <a:t>(N_SPLITS = 10)</a:t>
            </a:r>
            <a:endParaRPr lang="ko-KR" alt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B52303-FA3C-454E-8163-3BCD10FCC105}"/>
              </a:ext>
            </a:extLst>
          </p:cNvPr>
          <p:cNvSpPr txBox="1"/>
          <p:nvPr/>
        </p:nvSpPr>
        <p:spPr>
          <a:xfrm>
            <a:off x="6810937" y="5998209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7. </a:t>
            </a:r>
            <a:r>
              <a:rPr lang="ko-KR" altLang="en-US" sz="1000" dirty="0"/>
              <a:t>실제 </a:t>
            </a:r>
            <a:r>
              <a:rPr lang="en-US" altLang="ko-KR" sz="1000" dirty="0"/>
              <a:t>soh </a:t>
            </a:r>
            <a:r>
              <a:rPr lang="ko-KR" altLang="en-US" sz="1000" dirty="0"/>
              <a:t>값과 예측 </a:t>
            </a:r>
            <a:r>
              <a:rPr lang="en-US" altLang="ko-KR" sz="1000" dirty="0"/>
              <a:t>soh </a:t>
            </a:r>
            <a:r>
              <a:rPr lang="ko-KR" altLang="en-US" sz="1000" dirty="0"/>
              <a:t>값의 차이</a:t>
            </a:r>
            <a:r>
              <a:rPr lang="en-US" altLang="ko-KR" sz="1000" dirty="0"/>
              <a:t>(N_SPLITS = 20)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6726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3. N_SPLITS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값에 따른 모델 예측력 비교 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b="1" dirty="0">
                <a:cs typeface="Arial" panose="020B0604020202020204" pitchFamily="34" charset="0"/>
              </a:rPr>
              <a:t>이상한 점 </a:t>
            </a:r>
            <a:r>
              <a:rPr lang="en-US" altLang="ko-KR" b="1" dirty="0">
                <a:cs typeface="Arial" panose="020B0604020202020204" pitchFamily="34" charset="0"/>
              </a:rPr>
              <a:t>: N_SPLITS = 1 </a:t>
            </a:r>
            <a:r>
              <a:rPr lang="ko-KR" altLang="en-US" b="1" dirty="0">
                <a:cs typeface="Arial" panose="020B0604020202020204" pitchFamily="34" charset="0"/>
              </a:rPr>
              <a:t>이라면</a:t>
            </a:r>
            <a:r>
              <a:rPr lang="en-US" altLang="ko-KR" b="1" dirty="0">
                <a:cs typeface="Arial" panose="020B0604020202020204" pitchFamily="34" charset="0"/>
              </a:rPr>
              <a:t>, </a:t>
            </a:r>
            <a:r>
              <a:rPr lang="ko-KR" altLang="en-US" b="1" dirty="0">
                <a:cs typeface="Arial" panose="020B0604020202020204" pitchFamily="34" charset="0"/>
              </a:rPr>
              <a:t>기존 </a:t>
            </a:r>
            <a:r>
              <a:rPr lang="ko-KR" altLang="en-US" b="1" dirty="0" err="1">
                <a:cs typeface="Arial" panose="020B0604020202020204" pitchFamily="34" charset="0"/>
              </a:rPr>
              <a:t>시간순</a:t>
            </a:r>
            <a:r>
              <a:rPr lang="ko-KR" altLang="en-US" b="1" dirty="0">
                <a:cs typeface="Arial" panose="020B0604020202020204" pitchFamily="34" charset="0"/>
              </a:rPr>
              <a:t> </a:t>
            </a:r>
            <a:r>
              <a:rPr lang="en-US" altLang="ko-KR" b="1" dirty="0">
                <a:cs typeface="Arial" panose="020B0604020202020204" pitchFamily="34" charset="0"/>
              </a:rPr>
              <a:t>8:2 </a:t>
            </a:r>
            <a:r>
              <a:rPr lang="ko-KR" altLang="en-US" b="1" dirty="0">
                <a:cs typeface="Arial" panose="020B0604020202020204" pitchFamily="34" charset="0"/>
              </a:rPr>
              <a:t>학습</a:t>
            </a:r>
            <a:r>
              <a:rPr lang="en-US" altLang="ko-KR" b="1" dirty="0">
                <a:cs typeface="Arial" panose="020B0604020202020204" pitchFamily="34" charset="0"/>
              </a:rPr>
              <a:t>/</a:t>
            </a:r>
            <a:r>
              <a:rPr lang="ko-KR" altLang="en-US" b="1" dirty="0">
                <a:cs typeface="Arial" panose="020B0604020202020204" pitchFamily="34" charset="0"/>
              </a:rPr>
              <a:t>검증 분할과 다를 바가 없음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그런데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예측력이 우수함</a:t>
            </a:r>
            <a:r>
              <a:rPr lang="en-US" altLang="ko-KR" dirty="0">
                <a:cs typeface="Arial" panose="020B0604020202020204" pitchFamily="34" charset="0"/>
              </a:rPr>
              <a:t>. 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지난 주 </a:t>
            </a:r>
            <a:r>
              <a:rPr lang="en-US" altLang="ko-KR" dirty="0">
                <a:cs typeface="Arial" panose="020B0604020202020204" pitchFamily="34" charset="0"/>
              </a:rPr>
              <a:t>target</a:t>
            </a:r>
            <a:r>
              <a:rPr lang="ko-KR" altLang="en-US" dirty="0">
                <a:cs typeface="Arial" panose="020B0604020202020204" pitchFamily="34" charset="0"/>
              </a:rPr>
              <a:t>을 데이터셋의 측정이 끝난 시점을 기준으로 </a:t>
            </a:r>
            <a:r>
              <a:rPr lang="en-US" altLang="ko-KR" dirty="0" err="1">
                <a:cs typeface="Arial" panose="020B0604020202020204" pitchFamily="34" charset="0"/>
              </a:rPr>
              <a:t>rul_cycle</a:t>
            </a:r>
            <a:r>
              <a:rPr lang="ko-KR" altLang="en-US" dirty="0">
                <a:cs typeface="Arial" panose="020B0604020202020204" pitchFamily="34" charset="0"/>
              </a:rPr>
              <a:t>을 설정했음</a:t>
            </a: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이 접근 자체가 잘못되었다는 것을 의미함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그렇다면 시계열 데이터를 </a:t>
            </a:r>
            <a:r>
              <a:rPr lang="en-US" altLang="ko-KR" dirty="0">
                <a:cs typeface="Arial" panose="020B0604020202020204" pitchFamily="34" charset="0"/>
              </a:rPr>
              <a:t>N</a:t>
            </a:r>
            <a:r>
              <a:rPr lang="ko-KR" altLang="en-US" dirty="0">
                <a:cs typeface="Arial" panose="020B0604020202020204" pitchFamily="34" charset="0"/>
              </a:rPr>
              <a:t>개의 구간으로 나누는 것이 여전히 유의미한 지 확인해야 함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6</a:t>
            </a:r>
            <a:r>
              <a:rPr lang="ko-KR" altLang="en-US" dirty="0">
                <a:cs typeface="Arial" panose="020B0604020202020204" pitchFamily="34" charset="0"/>
              </a:rPr>
              <a:t>번 배터리 외의 배터리에 대해서 확인하였음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7269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먼저 </a:t>
            </a:r>
            <a:r>
              <a:rPr lang="en-US" altLang="ko-KR" dirty="0">
                <a:cs typeface="Arial" panose="020B0604020202020204" pitchFamily="34" charset="0"/>
              </a:rPr>
              <a:t>6</a:t>
            </a:r>
            <a:r>
              <a:rPr lang="ko-KR" altLang="en-US" dirty="0">
                <a:cs typeface="Arial" panose="020B0604020202020204" pitchFamily="34" charset="0"/>
              </a:rPr>
              <a:t>번 배터리와 같은 그룹인</a:t>
            </a:r>
            <a:r>
              <a:rPr lang="en-US" altLang="ko-KR" dirty="0">
                <a:cs typeface="Arial" panose="020B0604020202020204" pitchFamily="34" charset="0"/>
              </a:rPr>
              <a:t> 5</a:t>
            </a:r>
            <a:r>
              <a:rPr lang="ko-KR" altLang="en-US" dirty="0">
                <a:cs typeface="Arial" panose="020B0604020202020204" pitchFamily="34" charset="0"/>
              </a:rPr>
              <a:t>번</a:t>
            </a:r>
            <a:r>
              <a:rPr lang="en-US" altLang="ko-KR" dirty="0">
                <a:cs typeface="Arial" panose="020B0604020202020204" pitchFamily="34" charset="0"/>
              </a:rPr>
              <a:t>, 7</a:t>
            </a:r>
            <a:r>
              <a:rPr lang="ko-KR" altLang="en-US" dirty="0">
                <a:cs typeface="Arial" panose="020B0604020202020204" pitchFamily="34" charset="0"/>
              </a:rPr>
              <a:t>번 </a:t>
            </a:r>
            <a:r>
              <a:rPr lang="en-US" altLang="ko-KR" dirty="0">
                <a:cs typeface="Arial" panose="020B0604020202020204" pitchFamily="34" charset="0"/>
              </a:rPr>
              <a:t>18</a:t>
            </a:r>
            <a:r>
              <a:rPr lang="ko-KR" altLang="en-US" dirty="0">
                <a:cs typeface="Arial" panose="020B0604020202020204" pitchFamily="34" charset="0"/>
              </a:rPr>
              <a:t>번 배터리의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변화 양상을 동시에 비교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2. 0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~</a:t>
            </a:r>
            <a:r>
              <a:rPr lang="ko-KR" altLang="en-US" dirty="0">
                <a:cs typeface="Arial" panose="020B0604020202020204" pitchFamily="34" charset="0"/>
              </a:rPr>
              <a:t> </a:t>
            </a:r>
            <a:r>
              <a:rPr lang="en-US" altLang="ko-KR" dirty="0">
                <a:cs typeface="Arial" panose="020B0604020202020204" pitchFamily="34" charset="0"/>
              </a:rPr>
              <a:t>50</a:t>
            </a:r>
            <a:r>
              <a:rPr lang="ko-KR" altLang="en-US" dirty="0">
                <a:cs typeface="Arial" panose="020B0604020202020204" pitchFamily="34" charset="0"/>
              </a:rPr>
              <a:t> 사이클에서는 </a:t>
            </a:r>
            <a:r>
              <a:rPr lang="en-US" altLang="ko-KR" dirty="0">
                <a:cs typeface="Arial" panose="020B0604020202020204" pitchFamily="34" charset="0"/>
              </a:rPr>
              <a:t>SOH </a:t>
            </a:r>
            <a:r>
              <a:rPr lang="ko-KR" altLang="en-US" dirty="0">
                <a:cs typeface="Arial" panose="020B0604020202020204" pitchFamily="34" charset="0"/>
              </a:rPr>
              <a:t>변화 양상의 차이가 크지만</a:t>
            </a:r>
            <a:r>
              <a:rPr lang="en-US" altLang="ko-KR" dirty="0">
                <a:cs typeface="Arial" panose="020B0604020202020204" pitchFamily="34" charset="0"/>
              </a:rPr>
              <a:t>, </a:t>
            </a:r>
            <a:r>
              <a:rPr lang="ko-KR" altLang="en-US" dirty="0">
                <a:cs typeface="Arial" panose="020B0604020202020204" pitchFamily="34" charset="0"/>
              </a:rPr>
              <a:t>그 이후부터는 거의 동일함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499C952-EF3B-48F7-A848-1D794FC90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1390650"/>
            <a:ext cx="6415454" cy="3468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46FC31-870A-45D2-B5FC-83C9C64AC20B}"/>
              </a:ext>
            </a:extLst>
          </p:cNvPr>
          <p:cNvSpPr txBox="1"/>
          <p:nvPr/>
        </p:nvSpPr>
        <p:spPr>
          <a:xfrm>
            <a:off x="2652176" y="5025601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8. 5</a:t>
            </a:r>
            <a:r>
              <a:rPr lang="ko-KR" altLang="en-US" sz="1000" dirty="0"/>
              <a:t>번</a:t>
            </a:r>
            <a:r>
              <a:rPr lang="en-US" altLang="ko-KR" sz="1000" dirty="0"/>
              <a:t>, 7</a:t>
            </a:r>
            <a:r>
              <a:rPr lang="ko-KR" altLang="en-US" sz="1000" dirty="0"/>
              <a:t>번 </a:t>
            </a:r>
            <a:r>
              <a:rPr lang="en-US" altLang="ko-KR" sz="1000" dirty="0"/>
              <a:t>6</a:t>
            </a:r>
            <a:r>
              <a:rPr lang="ko-KR" altLang="en-US" sz="1000" dirty="0"/>
              <a:t>번</a:t>
            </a:r>
            <a:r>
              <a:rPr lang="en-US" altLang="ko-KR" sz="1000" dirty="0"/>
              <a:t>, 18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soh </a:t>
            </a:r>
            <a:r>
              <a:rPr lang="ko-KR" altLang="en-US" sz="1000" dirty="0"/>
              <a:t>변화</a:t>
            </a:r>
          </a:p>
        </p:txBody>
      </p:sp>
    </p:spTree>
    <p:extLst>
      <p:ext uri="{BB962C8B-B14F-4D97-AF65-F5344CB8AC3E}">
        <p14:creationId xmlns:p14="http://schemas.microsoft.com/office/powerpoint/2010/main" val="638352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5</a:t>
            </a:r>
            <a:r>
              <a:rPr lang="ko-KR" altLang="en-US" dirty="0">
                <a:cs typeface="Arial" panose="020B0604020202020204" pitchFamily="34" charset="0"/>
              </a:rPr>
              <a:t>번 배터리는 </a:t>
            </a:r>
            <a:r>
              <a:rPr lang="en-US" altLang="ko-KR" dirty="0">
                <a:cs typeface="Arial" panose="020B0604020202020204" pitchFamily="34" charset="0"/>
              </a:rPr>
              <a:t>N_SPLITS </a:t>
            </a:r>
            <a:r>
              <a:rPr lang="ko-KR" altLang="en-US" dirty="0">
                <a:cs typeface="Arial" panose="020B0604020202020204" pitchFamily="34" charset="0"/>
              </a:rPr>
              <a:t>를 얼마로 설정하든 잘 예측하는 모습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DE5A67-59C2-4518-9E02-50B6539BC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390" y="1309416"/>
            <a:ext cx="9389749" cy="50868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43FD31-B60F-4D6C-A2BD-52A53E022C0C}"/>
              </a:ext>
            </a:extLst>
          </p:cNvPr>
          <p:cNvSpPr txBox="1"/>
          <p:nvPr/>
        </p:nvSpPr>
        <p:spPr>
          <a:xfrm>
            <a:off x="4045878" y="6390538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9. 5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N_SPLITS </a:t>
            </a:r>
            <a:r>
              <a:rPr lang="ko-KR" altLang="en-US" sz="1000" dirty="0"/>
              <a:t>값에 따른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SOH</a:t>
            </a:r>
            <a:r>
              <a:rPr lang="ko-KR" altLang="en-US" sz="1000" dirty="0"/>
              <a:t> 변화</a:t>
            </a:r>
          </a:p>
        </p:txBody>
      </p:sp>
    </p:spTree>
    <p:extLst>
      <p:ext uri="{BB962C8B-B14F-4D97-AF65-F5344CB8AC3E}">
        <p14:creationId xmlns:p14="http://schemas.microsoft.com/office/powerpoint/2010/main" val="22110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6</a:t>
            </a:r>
            <a:r>
              <a:rPr lang="ko-KR" altLang="en-US" dirty="0">
                <a:cs typeface="Arial" panose="020B0604020202020204" pitchFamily="34" charset="0"/>
              </a:rPr>
              <a:t>번 배터리 역시 확인한대로 </a:t>
            </a:r>
            <a:r>
              <a:rPr lang="en-US" altLang="ko-KR" dirty="0">
                <a:cs typeface="Arial" panose="020B0604020202020204" pitchFamily="34" charset="0"/>
              </a:rPr>
              <a:t>N_SPLITS </a:t>
            </a:r>
            <a:r>
              <a:rPr lang="ko-KR" altLang="en-US" dirty="0">
                <a:cs typeface="Arial" panose="020B0604020202020204" pitchFamily="34" charset="0"/>
              </a:rPr>
              <a:t>를 얼마로 설정하든 잘 예측하는 모습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D4432D3-DE09-49C1-907D-6E82711B3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90" y="1281906"/>
            <a:ext cx="9505950" cy="5191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53CF9E-4DCB-46E5-B219-6B1CB871059A}"/>
              </a:ext>
            </a:extLst>
          </p:cNvPr>
          <p:cNvSpPr txBox="1"/>
          <p:nvPr/>
        </p:nvSpPr>
        <p:spPr>
          <a:xfrm>
            <a:off x="4017949" y="6473031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10. 6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N_SPLITS </a:t>
            </a:r>
            <a:r>
              <a:rPr lang="ko-KR" altLang="en-US" sz="1000" dirty="0"/>
              <a:t>값에 따른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SOH</a:t>
            </a:r>
            <a:r>
              <a:rPr lang="ko-KR" altLang="en-US" sz="1000" dirty="0"/>
              <a:t> 변화</a:t>
            </a:r>
          </a:p>
        </p:txBody>
      </p:sp>
    </p:spTree>
    <p:extLst>
      <p:ext uri="{BB962C8B-B14F-4D97-AF65-F5344CB8AC3E}">
        <p14:creationId xmlns:p14="http://schemas.microsoft.com/office/powerpoint/2010/main" val="52114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7</a:t>
            </a:r>
            <a:r>
              <a:rPr lang="ko-KR" altLang="en-US" dirty="0">
                <a:cs typeface="Arial" panose="020B0604020202020204" pitchFamily="34" charset="0"/>
              </a:rPr>
              <a:t>번 배터리 또한 </a:t>
            </a:r>
            <a:r>
              <a:rPr lang="en-US" altLang="ko-KR" dirty="0">
                <a:cs typeface="Arial" panose="020B0604020202020204" pitchFamily="34" charset="0"/>
              </a:rPr>
              <a:t>N_SPLITS </a:t>
            </a:r>
            <a:r>
              <a:rPr lang="ko-KR" altLang="en-US" dirty="0">
                <a:cs typeface="Arial" panose="020B0604020202020204" pitchFamily="34" charset="0"/>
              </a:rPr>
              <a:t>를 얼마로 설정하든 잘 예측하는 모습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C13801-03C2-41E7-9004-C7C5BAC74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90" y="1255529"/>
            <a:ext cx="9582150" cy="5191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B5E7F9-808A-4937-8F3B-739C29C01E52}"/>
              </a:ext>
            </a:extLst>
          </p:cNvPr>
          <p:cNvSpPr txBox="1"/>
          <p:nvPr/>
        </p:nvSpPr>
        <p:spPr>
          <a:xfrm>
            <a:off x="4008801" y="6446654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11. 7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N_SPLITS </a:t>
            </a:r>
            <a:r>
              <a:rPr lang="ko-KR" altLang="en-US" sz="1000" dirty="0"/>
              <a:t>값에 따른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SOH</a:t>
            </a:r>
            <a:r>
              <a:rPr lang="ko-KR" altLang="en-US" sz="1000" dirty="0"/>
              <a:t> 변화</a:t>
            </a:r>
          </a:p>
        </p:txBody>
      </p:sp>
    </p:spTree>
    <p:extLst>
      <p:ext uri="{BB962C8B-B14F-4D97-AF65-F5344CB8AC3E}">
        <p14:creationId xmlns:p14="http://schemas.microsoft.com/office/powerpoint/2010/main" val="272075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18</a:t>
            </a:r>
            <a:r>
              <a:rPr lang="ko-KR" altLang="en-US" dirty="0">
                <a:cs typeface="Arial" panose="020B0604020202020204" pitchFamily="34" charset="0"/>
              </a:rPr>
              <a:t>번만 </a:t>
            </a:r>
            <a:r>
              <a:rPr lang="en-US" altLang="ko-KR" dirty="0">
                <a:cs typeface="Arial" panose="020B0604020202020204" pitchFamily="34" charset="0"/>
              </a:rPr>
              <a:t>N_SPLITS </a:t>
            </a:r>
            <a:r>
              <a:rPr lang="ko-KR" altLang="en-US" dirty="0">
                <a:cs typeface="Arial" panose="020B0604020202020204" pitchFamily="34" charset="0"/>
              </a:rPr>
              <a:t>값을 </a:t>
            </a:r>
            <a:r>
              <a:rPr lang="en-US" altLang="ko-KR" dirty="0">
                <a:cs typeface="Arial" panose="020B0604020202020204" pitchFamily="34" charset="0"/>
              </a:rPr>
              <a:t>1</a:t>
            </a:r>
            <a:r>
              <a:rPr lang="ko-KR" altLang="en-US" dirty="0">
                <a:cs typeface="Arial" panose="020B0604020202020204" pitchFamily="34" charset="0"/>
              </a:rPr>
              <a:t>로 설정했을 때 예측력이 떨어지는 모습을 보임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F923C3-965F-4821-AE52-47011854B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075" y="1255529"/>
            <a:ext cx="9582150" cy="5191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681224-A5A0-414E-A4DC-85824D99DFA7}"/>
              </a:ext>
            </a:extLst>
          </p:cNvPr>
          <p:cNvSpPr txBox="1"/>
          <p:nvPr/>
        </p:nvSpPr>
        <p:spPr>
          <a:xfrm>
            <a:off x="4008801" y="6446654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12. 18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N_SPLITS </a:t>
            </a:r>
            <a:r>
              <a:rPr lang="ko-KR" altLang="en-US" sz="1000" dirty="0"/>
              <a:t>값에 따른 </a:t>
            </a:r>
            <a:r>
              <a:rPr lang="en-US" altLang="ko-KR" sz="1000" dirty="0"/>
              <a:t>cycle</a:t>
            </a:r>
            <a:r>
              <a:rPr lang="ko-KR" altLang="en-US" sz="1000" dirty="0"/>
              <a:t>에 따른 </a:t>
            </a:r>
            <a:r>
              <a:rPr lang="en-US" altLang="ko-KR" sz="1000" dirty="0"/>
              <a:t>SOH</a:t>
            </a:r>
            <a:r>
              <a:rPr lang="ko-KR" altLang="en-US" sz="1000" dirty="0"/>
              <a:t> 변화</a:t>
            </a:r>
          </a:p>
        </p:txBody>
      </p:sp>
    </p:spTree>
    <p:extLst>
      <p:ext uri="{BB962C8B-B14F-4D97-AF65-F5344CB8AC3E}">
        <p14:creationId xmlns:p14="http://schemas.microsoft.com/office/powerpoint/2010/main" val="80359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4.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배터리 종류에 따른 모델 예측력 비교  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5DCA53-BEF0-43B9-AECC-1F6E08924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401" y="1584139"/>
            <a:ext cx="7435728" cy="36897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809BD1-8FCF-4596-A38D-C0A36D472718}"/>
              </a:ext>
            </a:extLst>
          </p:cNvPr>
          <p:cNvSpPr txBox="1"/>
          <p:nvPr/>
        </p:nvSpPr>
        <p:spPr>
          <a:xfrm>
            <a:off x="3920878" y="5440139"/>
            <a:ext cx="4524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graph</a:t>
            </a:r>
            <a:r>
              <a:rPr lang="ko-KR" altLang="en-US" sz="1000" dirty="0"/>
              <a:t> </a:t>
            </a:r>
            <a:r>
              <a:rPr lang="en-US" altLang="ko-KR" sz="1000" dirty="0"/>
              <a:t>13. 5, 6, 7, 18</a:t>
            </a:r>
            <a:r>
              <a:rPr lang="ko-KR" altLang="en-US" sz="1000" dirty="0"/>
              <a:t>번 배터리의 </a:t>
            </a:r>
            <a:r>
              <a:rPr lang="en-US" altLang="ko-KR" sz="1000" dirty="0"/>
              <a:t>N_SPLITS </a:t>
            </a:r>
            <a:r>
              <a:rPr lang="ko-KR" altLang="en-US" sz="1000" dirty="0"/>
              <a:t>값에 따른 검증 </a:t>
            </a:r>
            <a:r>
              <a:rPr lang="en-US" altLang="ko-KR" sz="1000" dirty="0"/>
              <a:t>RMSE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7038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414-83DC-8F43-F8D4-CEEA5C0E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49B95735-3E31-0F0A-4250-FBC91A04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513"/>
          </a:xfrm>
          <a:prstGeom prst="rect">
            <a:avLst/>
          </a:prstGeom>
          <a:solidFill>
            <a:srgbClr val="204767"/>
          </a:solidFill>
          <a:ln w="12700">
            <a:solidFill>
              <a:srgbClr val="204767"/>
            </a:solidFill>
            <a:miter lim="800000"/>
            <a:headEnd/>
            <a:tailEnd/>
          </a:ln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en-US" altLang="ko-KR" sz="2000" b="1" dirty="0">
                <a:solidFill>
                  <a:srgbClr val="FFFFFF"/>
                </a:solidFill>
                <a:cs typeface="Arial" panose="020B0604020202020204" pitchFamily="34" charset="0"/>
              </a:rPr>
              <a:t>5. </a:t>
            </a:r>
            <a:r>
              <a:rPr lang="ko-KR" altLang="en-US" sz="2000" b="1" dirty="0">
                <a:solidFill>
                  <a:srgbClr val="FFFFFF"/>
                </a:solidFill>
                <a:cs typeface="Arial" panose="020B0604020202020204" pitchFamily="34" charset="0"/>
              </a:rPr>
              <a:t>인사이트</a:t>
            </a:r>
          </a:p>
        </p:txBody>
      </p:sp>
      <p:pic>
        <p:nvPicPr>
          <p:cNvPr id="16386" name="Picture 4">
            <a:extLst>
              <a:ext uri="{FF2B5EF4-FFF2-40B4-BE49-F238E27FC236}">
                <a16:creationId xmlns:a16="http://schemas.microsoft.com/office/drawing/2014/main" id="{EDDB07F3-5CAC-9E63-F9A3-5997404A0BF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025" y="849313"/>
            <a:ext cx="541338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5">
            <a:extLst>
              <a:ext uri="{FF2B5EF4-FFF2-40B4-BE49-F238E27FC236}">
                <a16:creationId xmlns:a16="http://schemas.microsoft.com/office/drawing/2014/main" id="{28C76661-6247-D3CE-25E0-48381C783D5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5" y="849313"/>
            <a:ext cx="53975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7">
            <a:extLst>
              <a:ext uri="{FF2B5EF4-FFF2-40B4-BE49-F238E27FC236}">
                <a16:creationId xmlns:a16="http://schemas.microsoft.com/office/drawing/2014/main" id="{ED7FCF0A-AF8C-A5D5-0E81-44E8DA6D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0" y="6315075"/>
            <a:ext cx="2700338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>
              <a:lnSpc>
                <a:spcPct val="100000"/>
              </a:lnSpc>
              <a:spcAft>
                <a:spcPct val="0"/>
              </a:spcAft>
              <a:buFontTx/>
              <a:buNone/>
            </a:pPr>
            <a:r>
              <a:rPr lang="ko-KR" altLang="en-US" sz="1000">
                <a:solidFill>
                  <a:srgbClr val="898989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D2CA6A0E-8DDC-391D-9F37-ACF971E153E6}"/>
              </a:ext>
            </a:extLst>
          </p:cNvPr>
          <p:cNvSpPr>
            <a:spLocks/>
          </p:cNvSpPr>
          <p:nvPr/>
        </p:nvSpPr>
        <p:spPr bwMode="auto">
          <a:xfrm>
            <a:off x="208864" y="837791"/>
            <a:ext cx="10958802" cy="539115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52673485-7814-41B7-84EA-78CCCA318256}"/>
              </a:ext>
            </a:extLst>
          </p:cNvPr>
          <p:cNvSpPr>
            <a:spLocks/>
          </p:cNvSpPr>
          <p:nvPr/>
        </p:nvSpPr>
        <p:spPr bwMode="auto">
          <a:xfrm>
            <a:off x="361264" y="990191"/>
            <a:ext cx="10958802" cy="764199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Font typeface="Wingdings" pitchFamily="2" charset="2"/>
              <a:buChar char="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rgbClr val="595959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시계열 데이터를 훈련</a:t>
            </a:r>
            <a:r>
              <a:rPr lang="en-US" altLang="ko-KR" dirty="0">
                <a:cs typeface="Arial" panose="020B0604020202020204" pitchFamily="34" charset="0"/>
              </a:rPr>
              <a:t>/</a:t>
            </a:r>
            <a:r>
              <a:rPr lang="ko-KR" altLang="en-US" dirty="0">
                <a:cs typeface="Arial" panose="020B0604020202020204" pitchFamily="34" charset="0"/>
              </a:rPr>
              <a:t>검증 분할할 때 시간 순으로 </a:t>
            </a:r>
            <a:r>
              <a:rPr lang="en-US" altLang="ko-KR" dirty="0">
                <a:cs typeface="Arial" panose="020B0604020202020204" pitchFamily="34" charset="0"/>
              </a:rPr>
              <a:t>8:2</a:t>
            </a:r>
            <a:r>
              <a:rPr lang="ko-KR" altLang="en-US" dirty="0">
                <a:cs typeface="Arial" panose="020B0604020202020204" pitchFamily="34" charset="0"/>
              </a:rPr>
              <a:t>로 분할하는 것이 대체로 성능이 좋음</a:t>
            </a: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기존 접근에서 시간 순 </a:t>
            </a:r>
            <a:r>
              <a:rPr lang="en-US" altLang="ko-KR" dirty="0">
                <a:cs typeface="Arial" panose="020B0604020202020204" pitchFamily="34" charset="0"/>
              </a:rPr>
              <a:t>8:2</a:t>
            </a:r>
            <a:r>
              <a:rPr lang="ko-KR" altLang="en-US" dirty="0">
                <a:cs typeface="Arial" panose="020B0604020202020204" pitchFamily="34" charset="0"/>
              </a:rPr>
              <a:t>가 좋지 않았던 이유는 </a:t>
            </a:r>
            <a:r>
              <a:rPr lang="en-US" altLang="ko-KR" dirty="0">
                <a:cs typeface="Arial" panose="020B0604020202020204" pitchFamily="34" charset="0"/>
              </a:rPr>
              <a:t>target</a:t>
            </a:r>
            <a:r>
              <a:rPr lang="ko-KR" altLang="en-US" dirty="0">
                <a:cs typeface="Arial" panose="020B0604020202020204" pitchFamily="34" charset="0"/>
              </a:rPr>
              <a:t> 설정이 애초에 잘못됐기 때문에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ko-KR" altLang="en-US" dirty="0">
                <a:cs typeface="Arial" panose="020B0604020202020204" pitchFamily="34" charset="0"/>
              </a:rPr>
              <a:t>데이터 </a:t>
            </a:r>
            <a:r>
              <a:rPr lang="ko-KR" altLang="en-US" dirty="0" err="1">
                <a:cs typeface="Arial" panose="020B0604020202020204" pitchFamily="34" charset="0"/>
              </a:rPr>
              <a:t>전처리</a:t>
            </a:r>
            <a:r>
              <a:rPr lang="ko-KR" altLang="en-US" dirty="0">
                <a:cs typeface="Arial" panose="020B0604020202020204" pitchFamily="34" charset="0"/>
              </a:rPr>
              <a:t> 및 분할이 잘 이루어졌을 때</a:t>
            </a:r>
            <a:r>
              <a:rPr lang="en-US" altLang="ko-KR" dirty="0">
                <a:cs typeface="Arial" panose="020B0604020202020204" pitchFamily="34" charset="0"/>
              </a:rPr>
              <a:t>, LSTM </a:t>
            </a:r>
            <a:r>
              <a:rPr lang="ko-KR" altLang="en-US" dirty="0">
                <a:cs typeface="Arial" panose="020B0604020202020204" pitchFamily="34" charset="0"/>
              </a:rPr>
              <a:t>모델 최저 성능은 </a:t>
            </a:r>
            <a:r>
              <a:rPr lang="en-US" altLang="ko-KR" dirty="0">
                <a:cs typeface="Arial" panose="020B0604020202020204" pitchFamily="34" charset="0"/>
              </a:rPr>
              <a:t>RMSE = 0.04 </a:t>
            </a:r>
            <a:r>
              <a:rPr lang="ko-KR" altLang="en-US" dirty="0">
                <a:cs typeface="Arial" panose="020B0604020202020204" pitchFamily="34" charset="0"/>
              </a:rPr>
              <a:t>수준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[</a:t>
            </a:r>
            <a:r>
              <a:rPr lang="ko-KR" altLang="en-US" dirty="0">
                <a:cs typeface="Arial" panose="020B0604020202020204" pitchFamily="34" charset="0"/>
              </a:rPr>
              <a:t>앞으로 해볼 것</a:t>
            </a:r>
            <a:r>
              <a:rPr lang="en-US" altLang="ko-KR" dirty="0">
                <a:cs typeface="Arial" panose="020B0604020202020204" pitchFamily="34" charset="0"/>
              </a:rPr>
              <a:t>]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feature engineering</a:t>
            </a:r>
            <a:r>
              <a:rPr lang="ko-KR" altLang="en-US" dirty="0">
                <a:cs typeface="Arial" panose="020B0604020202020204" pitchFamily="34" charset="0"/>
              </a:rPr>
              <a:t>을 통해 어떤 </a:t>
            </a:r>
            <a:r>
              <a:rPr lang="en-US" altLang="ko-KR" dirty="0">
                <a:cs typeface="Arial" panose="020B0604020202020204" pitchFamily="34" charset="0"/>
              </a:rPr>
              <a:t>feature</a:t>
            </a:r>
            <a:r>
              <a:rPr lang="ko-KR" altLang="en-US" dirty="0">
                <a:cs typeface="Arial" panose="020B0604020202020204" pitchFamily="34" charset="0"/>
              </a:rPr>
              <a:t>가 모델의 성능에 영향을 많이 주는지 확인</a:t>
            </a: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LSTM </a:t>
            </a:r>
            <a:r>
              <a:rPr lang="ko-KR" altLang="en-US" dirty="0">
                <a:cs typeface="Arial" panose="020B0604020202020204" pitchFamily="34" charset="0"/>
              </a:rPr>
              <a:t>모델의 파라미터 튜닝을 통해 성능 향상</a:t>
            </a:r>
            <a:endParaRPr lang="en-US" altLang="ko-KR" dirty="0">
              <a:cs typeface="Arial" panose="020B0604020202020204" pitchFamily="34" charset="0"/>
            </a:endParaRP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r>
              <a:rPr lang="en-US" altLang="ko-KR" dirty="0">
                <a:cs typeface="Arial" panose="020B0604020202020204" pitchFamily="34" charset="0"/>
              </a:rPr>
              <a:t>impendence type</a:t>
            </a:r>
            <a:r>
              <a:rPr lang="ko-KR" altLang="en-US" dirty="0">
                <a:cs typeface="Arial" panose="020B0604020202020204" pitchFamily="34" charset="0"/>
              </a:rPr>
              <a:t>의 데이터도 학습 데이터로 사용해보기</a:t>
            </a: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595959"/>
              </a:buClr>
              <a:buNone/>
              <a:defRPr/>
            </a:pPr>
            <a:r>
              <a:rPr lang="en-US" altLang="ko-KR" dirty="0">
                <a:cs typeface="Arial" panose="020B0604020202020204" pitchFamily="34" charset="0"/>
              </a:rPr>
              <a:t>	</a:t>
            </a:r>
          </a:p>
          <a:p>
            <a:pPr marL="1085850" lvl="1" indent="-342900" algn="just">
              <a:lnSpc>
                <a:spcPct val="110000"/>
              </a:lnSpc>
              <a:buClr>
                <a:srgbClr val="595959"/>
              </a:buClr>
              <a:buAutoNum type="arabicPeriod"/>
              <a:defRPr/>
            </a:pPr>
            <a:endParaRPr lang="en-US" altLang="ko-KR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None/>
              <a:defRPr/>
            </a:pPr>
            <a:r>
              <a:rPr lang="ko-KR" altLang="en-US" dirty="0">
                <a:cs typeface="Arial" panose="020B0604020202020204" pitchFamily="34" charset="0"/>
              </a:rPr>
              <a:t>  </a:t>
            </a:r>
            <a:endParaRPr lang="en-US" altLang="ko-KR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Tx/>
              <a:buNone/>
              <a:defRPr/>
            </a:pPr>
            <a:endParaRPr lang="ko-KR" altLang="en-US" sz="1600" dirty="0"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  <a:buFontTx/>
              <a:buNone/>
              <a:defRPr/>
            </a:pPr>
            <a:r>
              <a:rPr lang="ko-KR" altLang="en-US" sz="1300" i="1" u="sng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3621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ljNmZmMDI3MGUxNmMwZGY2NDBjOWFjMTRiN2U3N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8069</TotalTime>
  <Pages>1</Pages>
  <Words>820</Words>
  <Characters>0</Characters>
  <Application>Microsoft Office PowerPoint</Application>
  <DocSecurity>0</DocSecurity>
  <PresentationFormat>와이드스크린</PresentationFormat>
  <Lines>0</Lines>
  <Paragraphs>424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Wingdings</vt:lpstr>
      <vt:lpstr>WPS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穽ᐺ</dc:title>
  <dc:creator>김태림</dc:creator>
  <cp:lastModifiedBy>최대한</cp:lastModifiedBy>
  <cp:revision>130</cp:revision>
  <dcterms:created xsi:type="dcterms:W3CDTF">2019-06-19T02:08:00Z</dcterms:created>
  <dcterms:modified xsi:type="dcterms:W3CDTF">2025-11-09T11:08:12Z</dcterms:modified>
</cp:coreProperties>
</file>