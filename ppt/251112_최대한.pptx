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99" r:id="rId2"/>
    <p:sldId id="300" r:id="rId3"/>
    <p:sldId id="301" r:id="rId4"/>
    <p:sldId id="302" r:id="rId5"/>
    <p:sldId id="303" r:id="rId6"/>
    <p:sldId id="305" r:id="rId7"/>
    <p:sldId id="306" r:id="rId8"/>
    <p:sldId id="307" r:id="rId9"/>
    <p:sldId id="308" r:id="rId10"/>
    <p:sldId id="309" r:id="rId11"/>
    <p:sldId id="313" r:id="rId12"/>
    <p:sldId id="314" r:id="rId13"/>
    <p:sldId id="315" r:id="rId14"/>
    <p:sldId id="316" r:id="rId15"/>
    <p:sldId id="311" r:id="rId16"/>
    <p:sldId id="318" r:id="rId17"/>
  </p:sldIdLst>
  <p:sldSz cx="12192000" cy="6858000"/>
  <p:notesSz cx="6858000" cy="9144000"/>
  <p:custDataLst>
    <p:tags r:id="rId19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>
          <p15:clr>
            <a:srgbClr val="A4A3A4"/>
          </p15:clr>
        </p15:guide>
        <p15:guide id="2" pos="387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02" autoAdjust="0"/>
    <p:restoredTop sz="94660" autoAdjust="0"/>
  </p:normalViewPr>
  <p:slideViewPr>
    <p:cSldViewPr snapToGrid="0">
      <p:cViewPr varScale="1">
        <p:scale>
          <a:sx n="109" d="100"/>
          <a:sy n="109" d="100"/>
        </p:scale>
        <p:origin x="144" y="198"/>
      </p:cViewPr>
      <p:guideLst>
        <p:guide orient="horz" pos="2195"/>
        <p:guide pos="387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6" cy="72006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25A3DFB-0CC4-37C5-52EB-06B43223A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FBC839D-F34D-BFEC-6C1E-589F837B202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  <a:ea typeface="+mn-ea"/>
              </a:defRPr>
            </a:lvl1pPr>
          </a:lstStyle>
          <a:p>
            <a:pPr>
              <a:defRPr/>
            </a:pPr>
            <a:fld id="{94F3DF71-84CE-0941-B6C4-1D934A8302AF}" type="datetimeFigureOut">
              <a:rPr lang="zh-CN" altLang="en-US"/>
              <a:pPr>
                <a:defRPr/>
              </a:pPr>
              <a:t>2025/11/9</a:t>
            </a:fld>
            <a:endParaRPr lang="zh-CN" altLang="en-US">
              <a:latin typeface="Arial" panose="020B06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13316" name="幻灯片图像占位符 3">
            <a:extLst>
              <a:ext uri="{FF2B5EF4-FFF2-40B4-BE49-F238E27FC236}">
                <a16:creationId xmlns:a16="http://schemas.microsoft.com/office/drawing/2014/main" id="{F3B262A3-3BB8-0FCF-9ABC-73BD4FD1E99B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53" name="备注占位符 4">
            <a:extLst>
              <a:ext uri="{FF2B5EF4-FFF2-40B4-BE49-F238E27FC236}">
                <a16:creationId xmlns:a16="http://schemas.microsoft.com/office/drawing/2014/main" id="{CB2BA2B0-5DD7-3EB3-8C2C-3D2BE8294C40}"/>
              </a:ext>
            </a:extLst>
          </p:cNvPr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030AA2-BBE5-7926-B653-02B16EF9ADA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FB90DF-8012-5E73-0121-2E3FE0F94C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A056DCF6-2428-DA40-9012-2B3EB60B5CF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4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22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4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4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4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4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BD14CE-2C57-96E4-BD38-3CAB7F73EFF0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EA1C3A-3E82-4749-98EB-A95B5627E404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AF934A-88DB-B8A1-AED5-46ED294E446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A05650-375B-CA52-6966-C26F17892860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29E1F8-6FA0-0E49-8349-199650902748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468555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lIns="90000" tIns="46800" rIns="90000" bIns="46800" rtlCol="0">
            <a:normAutofit/>
          </a:bodyPr>
          <a:lstStyle/>
          <a:p>
            <a:pPr lvl="0"/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rtlCol="0"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FF853A3-E390-6D30-8DBE-9F2BD112171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F14BE3-C6ED-C143-93A7-55FCEAFA95E3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2985C9-3AEA-C8E4-97E8-496C07529F78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4FC73E-63F5-9855-E4B2-9FB5C5DE357A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E42E63-9D58-4446-856B-9A71F5C1F08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87068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defRPr sz="4400"/>
            </a:lvl1pPr>
          </a:lstStyle>
          <a:p>
            <a:r>
              <a:rPr lang="ko-KR" altLang="en-US" noProof="1"/>
              <a:t>마스터 제목 스타일 편집</a:t>
            </a:r>
            <a:endParaRPr lang="zh-CN" altLang="en-US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noProof="1"/>
              <a:t>마스터 텍스트 스타일을 편집하려면 클릭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425096-C909-99E5-8035-25CE8D2E1E53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5E627A-D761-F644-8387-208C92DA5A7F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1EB3C6-B7B1-7B9F-6560-F4F4274B4A5E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7DBC04-641A-D36D-9F17-18E3AC30B217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29289-737B-1D44-88D9-AFCC36CC43E1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0296007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lIns="90000" tIns="46800" rIns="90000" bIns="46800" rtlCol="0">
            <a:normAutofit/>
          </a:bodyPr>
          <a:lstStyle/>
          <a:p>
            <a:pPr lvl="0"/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8400" y="1501200"/>
            <a:ext cx="5176800" cy="4748400"/>
          </a:xfrm>
        </p:spPr>
        <p:txBody>
          <a:bodyPr rtlCol="0"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411600" y="1501200"/>
            <a:ext cx="5176800" cy="4748400"/>
          </a:xfrm>
        </p:spPr>
        <p:txBody>
          <a:bodyPr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D2A16737-BEDF-1032-DB09-2C312A9BCA9A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97BBB4-8707-4149-A508-14FDBBD3FA27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31663E70-437E-C8D8-2E72-A42C788C3F3B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AE40A6C0-FE3E-7616-3F69-919168121E08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DA0A9E-44BF-7944-9D7F-9330E1A354D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145630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lIns="90000" tIns="46800" rIns="90000" bIns="46800" rtlCol="0">
            <a:normAutofit/>
          </a:bodyPr>
          <a:lstStyle/>
          <a:p>
            <a:pPr lvl="0"/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noProof="1"/>
              <a:t>마스터 텍스트 스타일을 편집하려면 클릭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8400" y="1854000"/>
            <a:ext cx="5342400" cy="4395600"/>
          </a:xfrm>
        </p:spPr>
        <p:txBody>
          <a:bodyPr lIns="101600" tIns="0" rIns="82550" bIns="0" rtlCol="0"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35750" y="1421729"/>
            <a:ext cx="5342400" cy="381600"/>
          </a:xfrm>
        </p:spPr>
        <p:txBody>
          <a:bodyPr lIns="101600" tIns="38100" rIns="76200" bIns="38100" rtlCol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noProof="1"/>
              <a:t>마스터 텍스트 스타일을 편집하려면 클릭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35750" y="1854000"/>
            <a:ext cx="5342400" cy="4395600"/>
          </a:xfrm>
        </p:spPr>
        <p:txBody>
          <a:bodyPr lIns="101600" tIns="0" rIns="82550" bIns="0" rtlCol="0"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7" name="日期占位符 3">
            <a:extLst>
              <a:ext uri="{FF2B5EF4-FFF2-40B4-BE49-F238E27FC236}">
                <a16:creationId xmlns:a16="http://schemas.microsoft.com/office/drawing/2014/main" id="{07F502D5-E314-AAF3-E09D-A95763355F46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F26014-5D61-1D42-95ED-C8F73CB86D96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8" name="页脚占位符 4">
            <a:extLst>
              <a:ext uri="{FF2B5EF4-FFF2-40B4-BE49-F238E27FC236}">
                <a16:creationId xmlns:a16="http://schemas.microsoft.com/office/drawing/2014/main" id="{84E3BF81-E25A-F1C7-C3A2-05E9631AE2AC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5">
            <a:extLst>
              <a:ext uri="{FF2B5EF4-FFF2-40B4-BE49-F238E27FC236}">
                <a16:creationId xmlns:a16="http://schemas.microsoft.com/office/drawing/2014/main" id="{70664B67-7D74-9377-F99E-3E422890A7E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27393-A748-8C45-ACD3-7F6861C2A601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7737735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lIns="90000" tIns="46800" rIns="90000" bIns="46800" rtlCol="0">
            <a:normAutofit/>
          </a:bodyPr>
          <a:lstStyle/>
          <a:p>
            <a:pPr lvl="0"/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CD266C1C-27F6-47FC-EDA1-602870BF5662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E720D1-B3D5-3344-A667-24896FF3FBBC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35980524-2A93-F550-4BCA-220930A01703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2DA0D3B8-247F-2A68-0614-3FA870A8FBAF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109F95-9F2A-D947-A86C-9CF7FA3A788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3682541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>
            <a:extLst>
              <a:ext uri="{FF2B5EF4-FFF2-40B4-BE49-F238E27FC236}">
                <a16:creationId xmlns:a16="http://schemas.microsoft.com/office/drawing/2014/main" id="{FE09BEC2-C92D-3380-EFC7-CDEF058A743D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D5149F-C2FB-4E4F-9930-7DA18A774CAE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3" name="页脚占位符 4">
            <a:extLst>
              <a:ext uri="{FF2B5EF4-FFF2-40B4-BE49-F238E27FC236}">
                <a16:creationId xmlns:a16="http://schemas.microsoft.com/office/drawing/2014/main" id="{799F0259-3FB0-4F86-7DA8-EB6C3755AD5B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93C4E403-91B3-B00F-0FCC-174B7FBC6A0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E91551-B82F-2143-BEA8-475C7C2D3ED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59607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50400" y="1555200"/>
            <a:ext cx="5227200" cy="4608000"/>
          </a:xfrm>
        </p:spPr>
        <p:txBody>
          <a:bodyPr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2" name="日期占位符 3">
            <a:extLst>
              <a:ext uri="{FF2B5EF4-FFF2-40B4-BE49-F238E27FC236}">
                <a16:creationId xmlns:a16="http://schemas.microsoft.com/office/drawing/2014/main" id="{D0E362F3-1A22-D4EA-11A7-FBB4313A805B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526781-BDFC-2E4A-95E0-4A88063B4EE2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E09B3F-DE46-F240-31E0-5293235DE8C7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879A43-0080-E577-DB1D-BB42984F069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D56AFD-CF6D-5144-8B64-DB3B5CE66FF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491086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ko-KR" altLang="en-US" noProof="1"/>
              <a:t>마스터 제목 스타일 편집</a:t>
            </a:r>
            <a:endParaRPr lang="zh-CN" altLang="en-US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r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8EC20D-A30D-7BD2-4AC3-FF762184B205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4F9F34-27BA-5E4A-8B78-279D92F914E8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C88D56-C5DD-879A-0404-8DDABE4C683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6415A4-ED3D-E15B-2336-C19C7CBEC660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AA5AE3-5251-6C45-90AE-B8B9FE9C2A1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2013505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2" name="日期占位符 3">
            <a:extLst>
              <a:ext uri="{FF2B5EF4-FFF2-40B4-BE49-F238E27FC236}">
                <a16:creationId xmlns:a16="http://schemas.microsoft.com/office/drawing/2014/main" id="{489C4CD2-293F-EE1A-4217-3F98EBE2E7B3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B45E31-5649-1042-9D83-5FF32BB38DEB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3" name="页脚占位符 4">
            <a:extLst>
              <a:ext uri="{FF2B5EF4-FFF2-40B4-BE49-F238E27FC236}">
                <a16:creationId xmlns:a16="http://schemas.microsoft.com/office/drawing/2014/main" id="{310A6E70-CC05-0B61-2454-2020380E6427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4D582139-C06C-162E-3662-18565997C70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38387D-639B-394E-8901-25CB7CDE3C9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465237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98800" y="2484000"/>
            <a:ext cx="9799200" cy="1018800"/>
          </a:xfrm>
        </p:spPr>
        <p:txBody>
          <a:bodyPr lIns="90000" tIns="46800" rIns="90000" bIns="46800" rtlCol="0" anchor="t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ko-KR" altLang="en-US" noProof="1"/>
              <a:t>마스터 제목 스타일 편집</a:t>
            </a:r>
            <a:endParaRPr lang="zh-CN" altLang="en-US" noProof="1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1198800" y="3560400"/>
            <a:ext cx="9799200" cy="47160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D7354990-8A5B-F829-52A1-7D2488430884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C82EB2-F97E-2E4C-8583-7FA8F2C3C202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24CDC066-128C-E756-7C16-26B35419CE88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CE55CC8E-6BF3-BBD9-8778-4CD3FD78B2FB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C6B83A-10B7-4C4F-9C8D-9884B8F3298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438659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>
            <a:extLst>
              <a:ext uri="{FF2B5EF4-FFF2-40B4-BE49-F238E27FC236}">
                <a16:creationId xmlns:a16="http://schemas.microsoft.com/office/drawing/2014/main" id="{09CB8685-A9E4-421D-BBFE-94DDC3FB16ED}"/>
              </a:ext>
            </a:extLst>
          </p:cNvPr>
          <p:cNvSpPr>
            <a:spLocks noGrp="1" noChangeArrowheads="1"/>
          </p:cNvSpPr>
          <p:nvPr>
            <p:ph type="title" idx="4294967295"/>
            <p:custDataLst>
              <p:tags r:id="rId14"/>
            </p:custDataLst>
          </p:nvPr>
        </p:nvSpPr>
        <p:spPr bwMode="auto">
          <a:xfrm>
            <a:off x="608013" y="608013"/>
            <a:ext cx="10969625" cy="706437"/>
          </a:xfrm>
          <a:prstGeom prst="rect">
            <a:avLst/>
          </a:prstGeom>
          <a:noFill/>
          <a:ln>
            <a:noFill/>
          </a:ln>
        </p:spPr>
        <p:txBody>
          <a:bodyPr vert="horz" wrap="square" lIns="90170" tIns="46990" rIns="90170" bIns="4699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>
            <a:extLst>
              <a:ext uri="{FF2B5EF4-FFF2-40B4-BE49-F238E27FC236}">
                <a16:creationId xmlns:a16="http://schemas.microsoft.com/office/drawing/2014/main" id="{53EF7798-1301-8291-DBB3-151FA1E3B7EB}"/>
              </a:ext>
            </a:extLst>
          </p:cNvPr>
          <p:cNvSpPr>
            <a:spLocks noGrp="1" noChangeArrowheads="1"/>
          </p:cNvSpPr>
          <p:nvPr>
            <p:ph type="body" idx="4294967295"/>
            <p:custDataLst>
              <p:tags r:id="rId15"/>
            </p:custDataLst>
          </p:nvPr>
        </p:nvSpPr>
        <p:spPr bwMode="auto">
          <a:xfrm>
            <a:off x="608013" y="1490663"/>
            <a:ext cx="10969625" cy="475932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DEDE19-1DA9-246B-8516-8C0EC42C04C5}"/>
              </a:ext>
            </a:extLst>
          </p:cNvPr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775" y="6315075"/>
            <a:ext cx="2698750" cy="3159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defRPr sz="1000" baseline="0" noProof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8831DC8B-FC27-CB4B-AC06-B861A817705A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D335F5-68AF-0936-EAF4-6F991D98FD05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388" y="6315075"/>
            <a:ext cx="3959225" cy="3159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defRPr sz="1000" baseline="0" noProof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E1E001-0AE7-41D4-5326-CEBA29217B70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300" y="6315075"/>
            <a:ext cx="2700338" cy="31591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10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688629C0-BCCA-DF47-84F7-A8AC4C44429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kern="1200" spc="300">
          <a:solidFill>
            <a:srgbClr val="262626"/>
          </a:solidFill>
          <a:latin typeface="+mj-lt"/>
          <a:ea typeface="Microsoft YaHei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130000"/>
        </a:lnSpc>
        <a:spcBef>
          <a:spcPct val="0"/>
        </a:spcBef>
        <a:spcAft>
          <a:spcPts val="1000"/>
        </a:spcAft>
        <a:buFont typeface="Arial" panose="020B0604020202020204" pitchFamily="34" charset="0"/>
        <a:buChar char="●"/>
        <a:defRPr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1pPr>
      <a:lvl2pPr marL="685800" indent="-228600" algn="l" rtl="0" eaLnBrk="0" fontAlgn="base" hangingPunct="0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</a:tabLst>
        <a:defRPr sz="1600"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2pPr>
      <a:lvl3pPr marL="1143000" indent="-228600" algn="l" rtl="0" eaLnBrk="0" fontAlgn="base" hangingPunct="0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defRPr sz="1600"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3pPr>
      <a:lvl4pPr marL="1600200" indent="-228600" algn="l" rtl="0" eaLnBrk="0" fontAlgn="base" hangingPunct="0">
        <a:lnSpc>
          <a:spcPct val="120000"/>
        </a:lnSpc>
        <a:spcBef>
          <a:spcPct val="0"/>
        </a:spcBef>
        <a:spcAft>
          <a:spcPts val="300"/>
        </a:spcAft>
        <a:buFont typeface="Wingdings" pitchFamily="2" charset="2"/>
        <a:buChar char=""/>
        <a:defRPr sz="1400"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4pPr>
      <a:lvl5pPr marL="2057400" indent="-228600" algn="l" rtl="0" eaLnBrk="0" fontAlgn="base" hangingPunct="0">
        <a:lnSpc>
          <a:spcPct val="120000"/>
        </a:lnSpc>
        <a:spcBef>
          <a:spcPct val="0"/>
        </a:spcBef>
        <a:spcAft>
          <a:spcPts val="300"/>
        </a:spcAft>
        <a:buFont typeface="Arial" panose="020B0604020202020204" pitchFamily="34" charset="0"/>
        <a:buChar char="•"/>
        <a:defRPr sz="1400"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object 2">
            <a:extLst>
              <a:ext uri="{FF2B5EF4-FFF2-40B4-BE49-F238E27FC236}">
                <a16:creationId xmlns:a16="http://schemas.microsoft.com/office/drawing/2014/main" id="{140EB44B-DC82-0C8A-D27D-A84579786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0413" cy="5311775"/>
          </a:xfrm>
          <a:custGeom>
            <a:avLst/>
            <a:gdLst>
              <a:gd name="T0" fmla="*/ 10795 w 12192000"/>
              <a:gd name="T1" fmla="*/ 0 h 5260975"/>
              <a:gd name="T2" fmla="*/ 2700 w 12192000"/>
              <a:gd name="T3" fmla="*/ 11328 h 5260975"/>
              <a:gd name="T4" fmla="*/ 10795 w 12192000"/>
              <a:gd name="T5" fmla="*/ 5666 h 5260975"/>
              <a:gd name="T6" fmla="*/ 24285 w 12192000"/>
              <a:gd name="T7" fmla="*/ 11329 h 5260975"/>
              <a:gd name="T8" fmla="*/ 18890 w 12192000"/>
              <a:gd name="T9" fmla="*/ 16996 h 5260975"/>
              <a:gd name="T10" fmla="*/ 13490 w 12192000"/>
              <a:gd name="T11" fmla="*/ 11329 h 526097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12192000"/>
              <a:gd name="T19" fmla="*/ 3163 h 5260975"/>
              <a:gd name="T20" fmla="*/ 18437 w 12192000"/>
              <a:gd name="T21" fmla="*/ 18437 h 526097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2192000" h="5260975">
                <a:moveTo>
                  <a:pt x="0" y="5260848"/>
                </a:moveTo>
                <a:lnTo>
                  <a:pt x="12192000" y="5260848"/>
                </a:lnTo>
                <a:lnTo>
                  <a:pt x="12192000" y="0"/>
                </a:lnTo>
                <a:lnTo>
                  <a:pt x="0" y="0"/>
                </a:lnTo>
                <a:lnTo>
                  <a:pt x="0" y="5260848"/>
                </a:lnTo>
                <a:close/>
              </a:path>
            </a:pathLst>
          </a:custGeom>
          <a:solidFill>
            <a:srgbClr val="20476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4338" name="object 3">
            <a:extLst>
              <a:ext uri="{FF2B5EF4-FFF2-40B4-BE49-F238E27FC236}">
                <a16:creationId xmlns:a16="http://schemas.microsoft.com/office/drawing/2014/main" id="{10B82580-22D7-B66E-F1C5-068A40E2D864}"/>
              </a:ext>
            </a:extLst>
          </p:cNvPr>
          <p:cNvGrpSpPr>
            <a:grpSpLocks/>
          </p:cNvGrpSpPr>
          <p:nvPr/>
        </p:nvGrpSpPr>
        <p:grpSpPr bwMode="auto">
          <a:xfrm>
            <a:off x="0" y="3663950"/>
            <a:ext cx="12192000" cy="3194050"/>
            <a:chOff x="0" y="2308"/>
            <a:chExt cx="7680" cy="2012"/>
          </a:xfrm>
        </p:grpSpPr>
        <p:sp>
          <p:nvSpPr>
            <p:cNvPr id="14347" name="object 4">
              <a:extLst>
                <a:ext uri="{FF2B5EF4-FFF2-40B4-BE49-F238E27FC236}">
                  <a16:creationId xmlns:a16="http://schemas.microsoft.com/office/drawing/2014/main" id="{6D082A70-8A66-D9CA-2886-125F4786DB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2308"/>
              <a:ext cx="7679" cy="2012"/>
            </a:xfrm>
            <a:custGeom>
              <a:avLst/>
              <a:gdLst>
                <a:gd name="T0" fmla="*/ 0 w 12192000"/>
                <a:gd name="T1" fmla="*/ 0 h 3194684"/>
                <a:gd name="T2" fmla="*/ 0 w 12192000"/>
                <a:gd name="T3" fmla="*/ 0 h 3194684"/>
                <a:gd name="T4" fmla="*/ 0 w 12192000"/>
                <a:gd name="T5" fmla="*/ 0 h 3194684"/>
                <a:gd name="T6" fmla="*/ 0 w 12192000"/>
                <a:gd name="T7" fmla="*/ 0 h 3194684"/>
                <a:gd name="T8" fmla="*/ 0 w 12192000"/>
                <a:gd name="T9" fmla="*/ 0 h 3194684"/>
                <a:gd name="T10" fmla="*/ 0 w 12192000"/>
                <a:gd name="T11" fmla="*/ 0 h 319468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75 w 12192000"/>
                <a:gd name="T19" fmla="*/ 3176 h 3194684"/>
                <a:gd name="T20" fmla="*/ 19052 w 12192000"/>
                <a:gd name="T21" fmla="*/ 19054 h 3194684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2192000" h="3194684">
                  <a:moveTo>
                    <a:pt x="12192000" y="1597152"/>
                  </a:moveTo>
                  <a:lnTo>
                    <a:pt x="10594848" y="1597152"/>
                  </a:lnTo>
                  <a:lnTo>
                    <a:pt x="0" y="1597152"/>
                  </a:lnTo>
                  <a:lnTo>
                    <a:pt x="0" y="3194304"/>
                  </a:lnTo>
                  <a:lnTo>
                    <a:pt x="12192000" y="3194304"/>
                  </a:lnTo>
                  <a:lnTo>
                    <a:pt x="12192000" y="1597152"/>
                  </a:lnTo>
                  <a:close/>
                </a:path>
                <a:path w="12192000" h="3194684">
                  <a:moveTo>
                    <a:pt x="12192000" y="0"/>
                  </a:moveTo>
                  <a:lnTo>
                    <a:pt x="10594848" y="0"/>
                  </a:lnTo>
                  <a:lnTo>
                    <a:pt x="10594848" y="1597152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348" name="object 5">
              <a:extLst>
                <a:ext uri="{FF2B5EF4-FFF2-40B4-BE49-F238E27FC236}">
                  <a16:creationId xmlns:a16="http://schemas.microsoft.com/office/drawing/2014/main" id="{8B53EFA4-22E3-E612-6D87-DA36761FE3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68" y="2308"/>
              <a:ext cx="2012" cy="2012"/>
            </a:xfrm>
            <a:custGeom>
              <a:avLst/>
              <a:gdLst>
                <a:gd name="T0" fmla="*/ 0 w 3194684"/>
                <a:gd name="T1" fmla="*/ 0 h 3194684"/>
                <a:gd name="T2" fmla="*/ 0 w 3194684"/>
                <a:gd name="T3" fmla="*/ 0 h 3194684"/>
                <a:gd name="T4" fmla="*/ 0 w 3194684"/>
                <a:gd name="T5" fmla="*/ 0 h 3194684"/>
                <a:gd name="T6" fmla="*/ 0 w 3194684"/>
                <a:gd name="T7" fmla="*/ 0 h 3194684"/>
                <a:gd name="T8" fmla="*/ 0 w 3194684"/>
                <a:gd name="T9" fmla="*/ 0 h 3194684"/>
                <a:gd name="T10" fmla="*/ 0 w 3194684"/>
                <a:gd name="T11" fmla="*/ 0 h 319468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76 w 3194684"/>
                <a:gd name="T19" fmla="*/ 3176 h 3194684"/>
                <a:gd name="T20" fmla="*/ 19054 w 3194684"/>
                <a:gd name="T21" fmla="*/ 19054 h 3194684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3194684" h="3194684">
                  <a:moveTo>
                    <a:pt x="1597152" y="0"/>
                  </a:moveTo>
                  <a:lnTo>
                    <a:pt x="0" y="1597152"/>
                  </a:lnTo>
                  <a:lnTo>
                    <a:pt x="1597152" y="1597152"/>
                  </a:lnTo>
                  <a:lnTo>
                    <a:pt x="1597152" y="0"/>
                  </a:lnTo>
                  <a:close/>
                </a:path>
                <a:path w="3194684" h="3194684">
                  <a:moveTo>
                    <a:pt x="3194304" y="1597152"/>
                  </a:moveTo>
                  <a:lnTo>
                    <a:pt x="1597152" y="1597152"/>
                  </a:lnTo>
                  <a:lnTo>
                    <a:pt x="1597152" y="3194304"/>
                  </a:lnTo>
                  <a:lnTo>
                    <a:pt x="3194304" y="1597152"/>
                  </a:lnTo>
                  <a:close/>
                </a:path>
              </a:pathLst>
            </a:custGeom>
            <a:solidFill>
              <a:srgbClr val="00A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4339" name="object 8">
            <a:extLst>
              <a:ext uri="{FF2B5EF4-FFF2-40B4-BE49-F238E27FC236}">
                <a16:creationId xmlns:a16="http://schemas.microsoft.com/office/drawing/2014/main" id="{F1570645-3A7F-18C2-BF9A-58743052F397}"/>
              </a:ext>
            </a:extLst>
          </p:cNvPr>
          <p:cNvSpPr>
            <a:spLocks/>
          </p:cNvSpPr>
          <p:nvPr/>
        </p:nvSpPr>
        <p:spPr bwMode="auto">
          <a:xfrm flipV="1">
            <a:off x="2301875" y="2747963"/>
            <a:ext cx="7921625" cy="46037"/>
          </a:xfrm>
          <a:custGeom>
            <a:avLst/>
            <a:gdLst>
              <a:gd name="T0" fmla="*/ 17408 w 7200265"/>
              <a:gd name="T1" fmla="*/ 0 h 1"/>
              <a:gd name="T2" fmla="*/ 4353 w 7200265"/>
              <a:gd name="T3" fmla="*/ 2147483646 h 1"/>
              <a:gd name="T4" fmla="*/ 17408 w 7200265"/>
              <a:gd name="T5" fmla="*/ 2147483646 h 1"/>
              <a:gd name="T6" fmla="*/ 39169 w 7200265"/>
              <a:gd name="T7" fmla="*/ 2147483646 h 1"/>
              <a:gd name="T8" fmla="*/ 30465 w 7200265"/>
              <a:gd name="T9" fmla="*/ 2147483646 h 1"/>
              <a:gd name="T10" fmla="*/ 21761 w 7200265"/>
              <a:gd name="T11" fmla="*/ 2147483646 h 1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7200265"/>
              <a:gd name="T19" fmla="*/ 3163 h 1"/>
              <a:gd name="T20" fmla="*/ 18437 w 7200265"/>
              <a:gd name="T21" fmla="*/ 18437 h 1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7200265" h="1">
                <a:moveTo>
                  <a:pt x="7200010" y="0"/>
                </a:moveTo>
                <a:lnTo>
                  <a:pt x="0" y="0"/>
                </a:lnTo>
              </a:path>
            </a:pathLst>
          </a:custGeom>
          <a:noFill/>
          <a:ln w="12700" cmpd="sng">
            <a:solidFill>
              <a:srgbClr val="00AFE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40" name="object 9">
            <a:extLst>
              <a:ext uri="{FF2B5EF4-FFF2-40B4-BE49-F238E27FC236}">
                <a16:creationId xmlns:a16="http://schemas.microsoft.com/office/drawing/2014/main" id="{5A6F5CFB-4B9C-6C6F-EDE6-84019BA7B6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288" y="5329238"/>
            <a:ext cx="7440612" cy="10970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2065" rIns="0" bIns="0">
            <a:spAutoFit/>
          </a:bodyPr>
          <a:lstStyle>
            <a:lvl1pPr marL="12700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ts val="100"/>
              </a:spcBef>
              <a:spcAft>
                <a:spcPct val="0"/>
              </a:spcAft>
              <a:buFontTx/>
              <a:buNone/>
            </a:pP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최대한</a:t>
            </a:r>
            <a:endParaRPr lang="en-US" altLang="ko-KR" sz="17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eaLnBrk="1" hangingPunct="1">
              <a:lnSpc>
                <a:spcPct val="100000"/>
              </a:lnSpc>
              <a:spcBef>
                <a:spcPts val="100"/>
              </a:spcBef>
              <a:spcAft>
                <a:spcPct val="0"/>
              </a:spcAft>
              <a:buFontTx/>
              <a:buNone/>
            </a:pPr>
            <a:r>
              <a:rPr lang="ko-KR" altLang="en-US" sz="1700" dirty="0" err="1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Distributed</a:t>
            </a: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 Network</a:t>
            </a:r>
            <a:r>
              <a:rPr lang="en-US" altLang="ko-KR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s and</a:t>
            </a: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 System</a:t>
            </a:r>
            <a:r>
              <a:rPr lang="en-US" altLang="ko-KR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s</a:t>
            </a: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 Laboratory</a:t>
            </a:r>
          </a:p>
          <a:p>
            <a:pPr eaLnBrk="1" hangingPunct="1">
              <a:lnSpc>
                <a:spcPct val="100000"/>
              </a:lnSpc>
              <a:spcBef>
                <a:spcPts val="100"/>
              </a:spcBef>
              <a:spcAft>
                <a:spcPct val="0"/>
              </a:spcAft>
              <a:buFontTx/>
              <a:buNone/>
            </a:pPr>
            <a:r>
              <a:rPr lang="ko-KR" altLang="en-US" sz="1700" dirty="0" err="1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Chonnam</a:t>
            </a: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 National </a:t>
            </a:r>
            <a:r>
              <a:rPr lang="ko-KR" altLang="en-US" sz="1700" dirty="0" err="1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University</a:t>
            </a:r>
            <a:endParaRPr lang="en-US" altLang="ko-KR" sz="17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eaLnBrk="1" hangingPunct="1">
              <a:lnSpc>
                <a:spcPct val="100000"/>
              </a:lnSpc>
              <a:spcBef>
                <a:spcPts val="100"/>
              </a:spcBef>
              <a:spcAft>
                <a:spcPct val="0"/>
              </a:spcAft>
              <a:buFontTx/>
              <a:buNone/>
            </a:pPr>
            <a:endParaRPr lang="en-US" altLang="ko-KR" sz="17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  <p:grpSp>
        <p:nvGrpSpPr>
          <p:cNvPr id="14341" name="그룹 21">
            <a:extLst>
              <a:ext uri="{FF2B5EF4-FFF2-40B4-BE49-F238E27FC236}">
                <a16:creationId xmlns:a16="http://schemas.microsoft.com/office/drawing/2014/main" id="{83F0E7CC-8669-77AD-0AF4-9C5D6B245FA6}"/>
              </a:ext>
            </a:extLst>
          </p:cNvPr>
          <p:cNvGrpSpPr>
            <a:grpSpLocks/>
          </p:cNvGrpSpPr>
          <p:nvPr/>
        </p:nvGrpSpPr>
        <p:grpSpPr bwMode="auto">
          <a:xfrm>
            <a:off x="7721600" y="5508625"/>
            <a:ext cx="2717800" cy="1196975"/>
            <a:chOff x="4864" y="3470"/>
            <a:chExt cx="1712" cy="754"/>
          </a:xfrm>
        </p:grpSpPr>
        <p:pic>
          <p:nvPicPr>
            <p:cNvPr id="14345" name="그림 22">
              <a:extLst>
                <a:ext uri="{FF2B5EF4-FFF2-40B4-BE49-F238E27FC236}">
                  <a16:creationId xmlns:a16="http://schemas.microsoft.com/office/drawing/2014/main" id="{F182EF9B-5ABF-898F-3027-4DF7A6B157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22" y="3470"/>
              <a:ext cx="754" cy="7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346" name="그림 23">
              <a:extLst>
                <a:ext uri="{FF2B5EF4-FFF2-40B4-BE49-F238E27FC236}">
                  <a16:creationId xmlns:a16="http://schemas.microsoft.com/office/drawing/2014/main" id="{ADB49CF6-079A-1552-27E0-5E1C7B7797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64" y="3470"/>
              <a:ext cx="754" cy="7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4342" name="TextBox 1">
            <a:extLst>
              <a:ext uri="{FF2B5EF4-FFF2-40B4-BE49-F238E27FC236}">
                <a16:creationId xmlns:a16="http://schemas.microsoft.com/office/drawing/2014/main" id="{12F155EB-C232-CEBE-255B-AE6D7C8122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263" y="1052513"/>
            <a:ext cx="11545887" cy="1939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3600" b="1" dirty="0">
                <a:solidFill>
                  <a:srgbClr val="FFFFFF"/>
                </a:solidFill>
                <a:cs typeface="Arial" panose="020B0604020202020204" pitchFamily="34" charset="0"/>
              </a:rPr>
              <a:t>LSTM </a:t>
            </a:r>
            <a:r>
              <a:rPr lang="ko-KR" altLang="en-US" sz="3600" b="1" dirty="0">
                <a:solidFill>
                  <a:srgbClr val="FFFFFF"/>
                </a:solidFill>
                <a:cs typeface="Arial" panose="020B0604020202020204" pitchFamily="34" charset="0"/>
              </a:rPr>
              <a:t>기반으로 </a:t>
            </a:r>
            <a:r>
              <a:rPr lang="en-US" altLang="ko-KR" sz="3600" b="1" dirty="0">
                <a:solidFill>
                  <a:srgbClr val="FFFFFF"/>
                </a:solidFill>
                <a:cs typeface="Arial" panose="020B0604020202020204" pitchFamily="34" charset="0"/>
              </a:rPr>
              <a:t>SOH</a:t>
            </a:r>
            <a:r>
              <a:rPr lang="ko-KR" altLang="en-US" sz="3600" b="1" dirty="0">
                <a:solidFill>
                  <a:srgbClr val="FFFFFF"/>
                </a:solidFill>
                <a:cs typeface="Arial" panose="020B0604020202020204" pitchFamily="34" charset="0"/>
              </a:rPr>
              <a:t> 예측</a:t>
            </a:r>
          </a:p>
        </p:txBody>
      </p:sp>
      <p:sp>
        <p:nvSpPr>
          <p:cNvPr id="14343" name="灯片编号占位符 1">
            <a:extLst>
              <a:ext uri="{FF2B5EF4-FFF2-40B4-BE49-F238E27FC236}">
                <a16:creationId xmlns:a16="http://schemas.microsoft.com/office/drawing/2014/main" id="{5CCF659E-C3D4-9E0D-2B9F-45BB5994228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fld id="{8D3CDFC1-69C0-234D-9BE9-1C42EF576458}" type="slidenum">
              <a:rPr lang="zh-CN" altLang="en-US" smtClean="0">
                <a:solidFill>
                  <a:srgbClr val="898989"/>
                </a:solidFill>
              </a:rPr>
              <a:pPr>
                <a:lnSpc>
                  <a:spcPct val="100000"/>
                </a:lnSpc>
                <a:spcAft>
                  <a:spcPct val="0"/>
                </a:spcAft>
                <a:buFontTx/>
                <a:buNone/>
              </a:pPr>
              <a:t>1</a:t>
            </a:fld>
            <a:endParaRPr lang="zh-CN" altLang="en-US">
              <a:solidFill>
                <a:srgbClr val="898989"/>
              </a:solidFill>
            </a:endParaRPr>
          </a:p>
        </p:txBody>
      </p:sp>
      <p:sp>
        <p:nvSpPr>
          <p:cNvPr id="14344" name="Text Box 12">
            <a:extLst>
              <a:ext uri="{FF2B5EF4-FFF2-40B4-BE49-F238E27FC236}">
                <a16:creationId xmlns:a16="http://schemas.microsoft.com/office/drawing/2014/main" id="{875DE044-CE6A-8486-7A2C-13D9FDD016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750" y="74613"/>
            <a:ext cx="38830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zh-CN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-1020">
            <a:extLst>
              <a:ext uri="{FF2B5EF4-FFF2-40B4-BE49-F238E27FC236}">
                <a16:creationId xmlns:a16="http://schemas.microsoft.com/office/drawing/2014/main" id="{F6B40308-F6A2-26C0-4B38-6481CBE868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0" y="0"/>
            <a:ext cx="2800350" cy="6846888"/>
          </a:xfrm>
          <a:prstGeom prst="rect">
            <a:avLst/>
          </a:prstGeom>
          <a:solidFill>
            <a:srgbClr val="204767"/>
          </a:solidFill>
          <a:ln w="25400">
            <a:solidFill>
              <a:srgbClr val="1C334E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800" b="1">
                <a:solidFill>
                  <a:srgbClr val="FFFFFF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Index</a:t>
            </a:r>
          </a:p>
        </p:txBody>
      </p:sp>
      <p:sp>
        <p:nvSpPr>
          <p:cNvPr id="15362" name="Rectangle -1019">
            <a:extLst>
              <a:ext uri="{FF2B5EF4-FFF2-40B4-BE49-F238E27FC236}">
                <a16:creationId xmlns:a16="http://schemas.microsoft.com/office/drawing/2014/main" id="{DCF82C7F-7A1F-12F9-22FE-BDEC1E96D82C}"/>
              </a:ext>
            </a:extLst>
          </p:cNvPr>
          <p:cNvSpPr>
            <a:spLocks noChangeAspect="1"/>
          </p:cNvSpPr>
          <p:nvPr/>
        </p:nvSpPr>
        <p:spPr bwMode="auto">
          <a:xfrm>
            <a:off x="3451220" y="1453305"/>
            <a:ext cx="7791450" cy="4191355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342900" indent="-342900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1. 시계열 데이터에 대해 학습</a:t>
            </a: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/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검증 분할 방법 </a:t>
            </a: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2</a:t>
            </a: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. LSTM 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모델 학습 결과</a:t>
            </a: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3. </a:t>
            </a: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N_SPLITS 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값에 따른 모델 예측력 비교</a:t>
            </a: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4. 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배터리 종류에 따른 모델 예측력 비교</a:t>
            </a: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5. 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인사이트</a:t>
            </a: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15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1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시계열 데이터에 대해 학습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/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검증 분할 방법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6</a:t>
            </a:r>
            <a:r>
              <a:rPr lang="ko-KR" altLang="en-US" dirty="0">
                <a:cs typeface="Arial" panose="020B0604020202020204" pitchFamily="34" charset="0"/>
              </a:rPr>
              <a:t>번 배터리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discharge type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 err="1">
                <a:cs typeface="Arial" panose="020B0604020202020204" pitchFamily="34" charset="0"/>
              </a:rPr>
              <a:t>cycle_index</a:t>
            </a:r>
            <a:r>
              <a:rPr lang="en-US" altLang="ko-KR" dirty="0">
                <a:cs typeface="Arial" panose="020B0604020202020204" pitchFamily="34" charset="0"/>
              </a:rPr>
              <a:t> 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soh </a:t>
            </a:r>
            <a:r>
              <a:rPr lang="ko-KR" altLang="en-US" dirty="0">
                <a:cs typeface="Arial" panose="020B0604020202020204" pitchFamily="34" charset="0"/>
              </a:rPr>
              <a:t>열 추가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soh = </a:t>
            </a:r>
            <a:r>
              <a:rPr lang="ko-KR" altLang="en-US" dirty="0">
                <a:cs typeface="Arial" panose="020B0604020202020204" pitchFamily="34" charset="0"/>
              </a:rPr>
              <a:t>현재 </a:t>
            </a:r>
            <a:r>
              <a:rPr lang="en-US" altLang="ko-KR" dirty="0">
                <a:cs typeface="Arial" panose="020B0604020202020204" pitchFamily="34" charset="0"/>
              </a:rPr>
              <a:t>Capacity / </a:t>
            </a:r>
            <a:r>
              <a:rPr lang="ko-KR" altLang="en-US" dirty="0">
                <a:cs typeface="Arial" panose="020B0604020202020204" pitchFamily="34" charset="0"/>
              </a:rPr>
              <a:t>초기 </a:t>
            </a:r>
            <a:r>
              <a:rPr lang="en-US" altLang="ko-KR" dirty="0">
                <a:cs typeface="Arial" panose="020B0604020202020204" pitchFamily="34" charset="0"/>
              </a:rPr>
              <a:t>Capacity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   </a:t>
            </a:r>
            <a:endParaRPr lang="en-US" altLang="ko-KR" dirty="0"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10000"/>
              </a:lnSpc>
              <a:buFontTx/>
              <a:buChar char="-"/>
              <a:defRPr/>
            </a:pP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865E0A-F486-485C-A48C-167B65DBD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851" y="751657"/>
            <a:ext cx="3181272" cy="198204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6FB8D12-924C-4094-916D-5AD754912B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334" y="3013874"/>
            <a:ext cx="7500813" cy="343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611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1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시계열 데이터에 대해 학습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/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검증 분할 방법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Sequence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Length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= 120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FEATURE_COLS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Voltage_measured</a:t>
            </a:r>
            <a:endParaRPr lang="en-US" altLang="ko-KR" dirty="0"/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Current_measured</a:t>
            </a:r>
            <a:endParaRPr lang="en-US" altLang="ko-KR" dirty="0"/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Temperature_measured</a:t>
            </a:r>
            <a:endParaRPr lang="en-US" altLang="ko-KR" dirty="0"/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Current_load</a:t>
            </a:r>
            <a:endParaRPr lang="en-US" altLang="ko-KR" dirty="0"/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Voltage_load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설정된 </a:t>
            </a:r>
            <a:r>
              <a:rPr lang="en-US" altLang="ko-KR" dirty="0">
                <a:cs typeface="Arial" panose="020B0604020202020204" pitchFamily="34" charset="0"/>
              </a:rPr>
              <a:t>Sequence Length </a:t>
            </a:r>
            <a:r>
              <a:rPr lang="ko-KR" altLang="en-US" dirty="0">
                <a:cs typeface="Arial" panose="020B0604020202020204" pitchFamily="34" charset="0"/>
              </a:rPr>
              <a:t>값으로 각 방전 테스트의 </a:t>
            </a:r>
            <a:r>
              <a:rPr lang="en-US" altLang="ko-KR" dirty="0">
                <a:cs typeface="Arial" panose="020B0604020202020204" pitchFamily="34" charset="0"/>
              </a:rPr>
              <a:t>Sequence Length</a:t>
            </a:r>
            <a:r>
              <a:rPr lang="ko-KR" altLang="en-US" dirty="0">
                <a:cs typeface="Arial" panose="020B0604020202020204" pitchFamily="34" charset="0"/>
              </a:rPr>
              <a:t> 값을 고정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(Batch, Sequence Length, Features) </a:t>
            </a:r>
            <a:r>
              <a:rPr lang="ko-KR" altLang="en-US" dirty="0">
                <a:cs typeface="Arial" panose="020B0604020202020204" pitchFamily="34" charset="0"/>
              </a:rPr>
              <a:t>형태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6DEF501-3FB6-4B14-AD7F-ACF7598E2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334" y="4320646"/>
            <a:ext cx="322942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311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1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시계열 데이터에 대해 학습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/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검증 분할 방법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N_SPLITS = 5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 err="1">
                <a:cs typeface="Arial" panose="020B0604020202020204" pitchFamily="34" charset="0"/>
              </a:rPr>
              <a:t>train_ratio</a:t>
            </a:r>
            <a:r>
              <a:rPr lang="en-US" altLang="ko-KR" dirty="0">
                <a:cs typeface="Arial" panose="020B0604020202020204" pitchFamily="34" charset="0"/>
              </a:rPr>
              <a:t> = 0.8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b="1" dirty="0">
                <a:cs typeface="Arial" panose="020B0604020202020204" pitchFamily="34" charset="0"/>
              </a:rPr>
              <a:t>120 </a:t>
            </a:r>
            <a:r>
              <a:rPr lang="ko-KR" altLang="en-US" b="1" dirty="0">
                <a:cs typeface="Arial" panose="020B0604020202020204" pitchFamily="34" charset="0"/>
              </a:rPr>
              <a:t>길이의 </a:t>
            </a:r>
            <a:r>
              <a:rPr lang="en-US" altLang="ko-KR" b="1" dirty="0">
                <a:cs typeface="Arial" panose="020B0604020202020204" pitchFamily="34" charset="0"/>
              </a:rPr>
              <a:t>5</a:t>
            </a:r>
            <a:r>
              <a:rPr lang="ko-KR" altLang="en-US" b="1" dirty="0">
                <a:cs typeface="Arial" panose="020B0604020202020204" pitchFamily="34" charset="0"/>
              </a:rPr>
              <a:t>차원 데이터를 </a:t>
            </a:r>
            <a:r>
              <a:rPr lang="en-US" altLang="ko-KR" b="1" dirty="0">
                <a:cs typeface="Arial" panose="020B0604020202020204" pitchFamily="34" charset="0"/>
              </a:rPr>
              <a:t>N_SPLITS</a:t>
            </a:r>
            <a:r>
              <a:rPr lang="ko-KR" altLang="en-US" b="1" dirty="0">
                <a:cs typeface="Arial" panose="020B0604020202020204" pitchFamily="34" charset="0"/>
              </a:rPr>
              <a:t> 값에 따라 구간을 나눔</a:t>
            </a:r>
            <a:endParaRPr lang="en-US" altLang="ko-KR" b="1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각 구간에 대해 </a:t>
            </a:r>
            <a:r>
              <a:rPr lang="en-US" altLang="ko-KR" dirty="0" err="1">
                <a:cs typeface="Arial" panose="020B0604020202020204" pitchFamily="34" charset="0"/>
              </a:rPr>
              <a:t>train_ratio</a:t>
            </a:r>
            <a:r>
              <a:rPr lang="en-US" altLang="ko-KR" dirty="0">
                <a:cs typeface="Arial" panose="020B0604020202020204" pitchFamily="34" charset="0"/>
              </a:rPr>
              <a:t> </a:t>
            </a:r>
            <a:r>
              <a:rPr lang="ko-KR" altLang="en-US" dirty="0">
                <a:cs typeface="Arial" panose="020B0604020202020204" pitchFamily="34" charset="0"/>
              </a:rPr>
              <a:t>값을 기준으로 학습</a:t>
            </a:r>
            <a:r>
              <a:rPr lang="en-US" altLang="ko-KR" dirty="0">
                <a:cs typeface="Arial" panose="020B0604020202020204" pitchFamily="34" charset="0"/>
              </a:rPr>
              <a:t>/</a:t>
            </a:r>
            <a:r>
              <a:rPr lang="ko-KR" altLang="en-US" dirty="0">
                <a:cs typeface="Arial" panose="020B0604020202020204" pitchFamily="34" charset="0"/>
              </a:rPr>
              <a:t>검증 데이터셋을 분할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이후 각 </a:t>
            </a:r>
            <a:r>
              <a:rPr lang="en-US" altLang="ko-KR" dirty="0">
                <a:cs typeface="Arial" panose="020B0604020202020204" pitchFamily="34" charset="0"/>
              </a:rPr>
              <a:t>feature</a:t>
            </a:r>
            <a:r>
              <a:rPr lang="ko-KR" altLang="en-US" dirty="0">
                <a:cs typeface="Arial" panose="020B0604020202020204" pitchFamily="34" charset="0"/>
              </a:rPr>
              <a:t>에 대한 평균과 표준편차로 </a:t>
            </a:r>
            <a:r>
              <a:rPr lang="ko-KR" altLang="en-US" dirty="0" err="1">
                <a:cs typeface="Arial" panose="020B0604020202020204" pitchFamily="34" charset="0"/>
              </a:rPr>
              <a:t>정규화하였음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이후 학습에 사용될 </a:t>
            </a:r>
            <a:r>
              <a:rPr lang="en-US" altLang="ko-KR" dirty="0">
                <a:cs typeface="Arial" panose="020B0604020202020204" pitchFamily="34" charset="0"/>
              </a:rPr>
              <a:t>LSTM </a:t>
            </a:r>
            <a:r>
              <a:rPr lang="ko-KR" altLang="en-US" dirty="0">
                <a:cs typeface="Arial" panose="020B0604020202020204" pitchFamily="34" charset="0"/>
              </a:rPr>
              <a:t>모델 구현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6A6359E-0592-40B9-948B-9C65B80C5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303" y="3018944"/>
            <a:ext cx="6697010" cy="10288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60CB3D22-07B5-4CFB-ABF9-E450EA7D6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303" y="4690627"/>
            <a:ext cx="6020640" cy="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96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2.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LSTM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모델 학습 결과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EPOCHS = 25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criterion = </a:t>
            </a:r>
            <a:r>
              <a:rPr lang="en-US" altLang="ko-KR" dirty="0" err="1">
                <a:cs typeface="Arial" panose="020B0604020202020204" pitchFamily="34" charset="0"/>
              </a:rPr>
              <a:t>nn.MSELoss</a:t>
            </a:r>
            <a:r>
              <a:rPr lang="en-US" altLang="ko-KR" dirty="0">
                <a:cs typeface="Arial" panose="020B0604020202020204" pitchFamily="34" charset="0"/>
              </a:rPr>
              <a:t>()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optimizer = </a:t>
            </a:r>
            <a:r>
              <a:rPr lang="en-US" altLang="ko-KR" dirty="0" err="1"/>
              <a:t>torch.optim.Adam</a:t>
            </a:r>
            <a:r>
              <a:rPr lang="en-US" altLang="ko-KR" dirty="0"/>
              <a:t>()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A6742A-AA03-4558-9EE8-DCEB8E9B5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7377" y="2382715"/>
            <a:ext cx="6581775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06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2.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LSTM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모델 학습 결과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검증 </a:t>
            </a:r>
            <a:r>
              <a:rPr lang="en-US" altLang="ko-KR" dirty="0">
                <a:cs typeface="Arial" panose="020B0604020202020204" pitchFamily="34" charset="0"/>
              </a:rPr>
              <a:t>MAE : 0.016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검증 </a:t>
            </a:r>
            <a:r>
              <a:rPr lang="en-US" altLang="ko-KR" dirty="0">
                <a:cs typeface="Arial" panose="020B0604020202020204" pitchFamily="34" charset="0"/>
              </a:rPr>
              <a:t>RMSE : 0.019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위 두 이미지는 학습된 실제 </a:t>
            </a:r>
            <a:r>
              <a:rPr lang="en-US" altLang="ko-KR" dirty="0">
                <a:cs typeface="Arial" panose="020B0604020202020204" pitchFamily="34" charset="0"/>
              </a:rPr>
              <a:t>soh</a:t>
            </a:r>
            <a:r>
              <a:rPr lang="ko-KR" altLang="en-US" dirty="0">
                <a:cs typeface="Arial" panose="020B0604020202020204" pitchFamily="34" charset="0"/>
              </a:rPr>
              <a:t> 값과 예측 </a:t>
            </a:r>
            <a:r>
              <a:rPr lang="en-US" altLang="ko-KR" dirty="0">
                <a:cs typeface="Arial" panose="020B0604020202020204" pitchFamily="34" charset="0"/>
              </a:rPr>
              <a:t>soh </a:t>
            </a:r>
            <a:r>
              <a:rPr lang="ko-KR" altLang="en-US" dirty="0">
                <a:cs typeface="Arial" panose="020B0604020202020204" pitchFamily="34" charset="0"/>
              </a:rPr>
              <a:t>값의 차이를 비교하는 이미지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C21FEE-C82D-4B1F-A3A2-3F19997523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239" y="806779"/>
            <a:ext cx="3308245" cy="164758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7325670-AB66-41E1-B322-DFF5D760B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5279" y="806779"/>
            <a:ext cx="3872592" cy="1647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4C70E98-C1F0-4AE7-8B69-C7C935F52E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9947" y="3075470"/>
            <a:ext cx="6476635" cy="2975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434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3. N_SPLITS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값에 따른 모델 예측력 비교 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N_SPLITS = [1, 5, 10, 20] -&gt; </a:t>
            </a:r>
            <a:r>
              <a:rPr lang="ko-KR" altLang="en-US" dirty="0">
                <a:cs typeface="Arial" panose="020B0604020202020204" pitchFamily="34" charset="0"/>
              </a:rPr>
              <a:t>예측력이 큰 차이가 보이지 않음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CFF5C07-B5A3-4FEA-AD0B-068804929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" y="1241546"/>
            <a:ext cx="4760930" cy="21874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79332C-6D1F-41C6-B920-9CDD784A0E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845" y="1241545"/>
            <a:ext cx="4760931" cy="21874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18A1E70-D0B0-479A-A03D-29B5BE99A5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" y="3832755"/>
            <a:ext cx="4760930" cy="22082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1C38B01-B2FD-4ED8-93C0-5AAEA0AB16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4845" y="3832755"/>
            <a:ext cx="4760930" cy="2208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265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3. N_SPLITS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값에 따른 모델 예측력 비교 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b="1" dirty="0">
                <a:cs typeface="Arial" panose="020B0604020202020204" pitchFamily="34" charset="0"/>
              </a:rPr>
              <a:t>이상한 점 </a:t>
            </a:r>
            <a:r>
              <a:rPr lang="en-US" altLang="ko-KR" b="1" dirty="0">
                <a:cs typeface="Arial" panose="020B0604020202020204" pitchFamily="34" charset="0"/>
              </a:rPr>
              <a:t>: N_SPLITS = 1 </a:t>
            </a:r>
            <a:r>
              <a:rPr lang="ko-KR" altLang="en-US" b="1" dirty="0">
                <a:cs typeface="Arial" panose="020B0604020202020204" pitchFamily="34" charset="0"/>
              </a:rPr>
              <a:t>이라면</a:t>
            </a:r>
            <a:r>
              <a:rPr lang="en-US" altLang="ko-KR" b="1" dirty="0">
                <a:cs typeface="Arial" panose="020B0604020202020204" pitchFamily="34" charset="0"/>
              </a:rPr>
              <a:t>, </a:t>
            </a:r>
            <a:r>
              <a:rPr lang="ko-KR" altLang="en-US" b="1" dirty="0">
                <a:cs typeface="Arial" panose="020B0604020202020204" pitchFamily="34" charset="0"/>
              </a:rPr>
              <a:t>기존 </a:t>
            </a:r>
            <a:r>
              <a:rPr lang="ko-KR" altLang="en-US" b="1" dirty="0" err="1">
                <a:cs typeface="Arial" panose="020B0604020202020204" pitchFamily="34" charset="0"/>
              </a:rPr>
              <a:t>시간순</a:t>
            </a:r>
            <a:r>
              <a:rPr lang="ko-KR" altLang="en-US" b="1" dirty="0">
                <a:cs typeface="Arial" panose="020B0604020202020204" pitchFamily="34" charset="0"/>
              </a:rPr>
              <a:t> </a:t>
            </a:r>
            <a:r>
              <a:rPr lang="en-US" altLang="ko-KR" b="1" dirty="0">
                <a:cs typeface="Arial" panose="020B0604020202020204" pitchFamily="34" charset="0"/>
              </a:rPr>
              <a:t>8:2 </a:t>
            </a:r>
            <a:r>
              <a:rPr lang="ko-KR" altLang="en-US" b="1" dirty="0">
                <a:cs typeface="Arial" panose="020B0604020202020204" pitchFamily="34" charset="0"/>
              </a:rPr>
              <a:t>학습</a:t>
            </a:r>
            <a:r>
              <a:rPr lang="en-US" altLang="ko-KR" b="1" dirty="0">
                <a:cs typeface="Arial" panose="020B0604020202020204" pitchFamily="34" charset="0"/>
              </a:rPr>
              <a:t>/</a:t>
            </a:r>
            <a:r>
              <a:rPr lang="ko-KR" altLang="en-US" b="1" dirty="0">
                <a:cs typeface="Arial" panose="020B0604020202020204" pitchFamily="34" charset="0"/>
              </a:rPr>
              <a:t>검증 분할과 다를 바가 없음</a:t>
            </a:r>
            <a:endParaRPr lang="en-US" altLang="ko-KR" b="1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그런데 </a:t>
            </a:r>
            <a:r>
              <a:rPr lang="en-US" altLang="ko-KR" dirty="0">
                <a:cs typeface="Arial" panose="020B0604020202020204" pitchFamily="34" charset="0"/>
              </a:rPr>
              <a:t>SOH </a:t>
            </a:r>
            <a:r>
              <a:rPr lang="ko-KR" altLang="en-US" dirty="0">
                <a:cs typeface="Arial" panose="020B0604020202020204" pitchFamily="34" charset="0"/>
              </a:rPr>
              <a:t>예측력이 우수함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지난 주 </a:t>
            </a:r>
            <a:r>
              <a:rPr lang="en-US" altLang="ko-KR" dirty="0">
                <a:cs typeface="Arial" panose="020B0604020202020204" pitchFamily="34" charset="0"/>
              </a:rPr>
              <a:t>target</a:t>
            </a:r>
            <a:r>
              <a:rPr lang="ko-KR" altLang="en-US" dirty="0">
                <a:cs typeface="Arial" panose="020B0604020202020204" pitchFamily="34" charset="0"/>
              </a:rPr>
              <a:t>을 데이터셋의 측정이 끝난 시점을 기준으로 </a:t>
            </a:r>
            <a:r>
              <a:rPr lang="en-US" altLang="ko-KR" dirty="0" err="1">
                <a:cs typeface="Arial" panose="020B0604020202020204" pitchFamily="34" charset="0"/>
              </a:rPr>
              <a:t>rul_cycle</a:t>
            </a:r>
            <a:r>
              <a:rPr lang="ko-KR" altLang="en-US" dirty="0">
                <a:cs typeface="Arial" panose="020B0604020202020204" pitchFamily="34" charset="0"/>
              </a:rPr>
              <a:t>을 설정했음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이 접근 자체가 잘못되었다는 것을 의미함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그렇다면 시계열 데이터를 </a:t>
            </a:r>
            <a:r>
              <a:rPr lang="en-US" altLang="ko-KR" dirty="0">
                <a:cs typeface="Arial" panose="020B0604020202020204" pitchFamily="34" charset="0"/>
              </a:rPr>
              <a:t>N</a:t>
            </a:r>
            <a:r>
              <a:rPr lang="ko-KR" altLang="en-US" dirty="0">
                <a:cs typeface="Arial" panose="020B0604020202020204" pitchFamily="34" charset="0"/>
              </a:rPr>
              <a:t>개의 구간으로 나누는 것이 여전히 유의미한 지 확인해야 함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6</a:t>
            </a:r>
            <a:r>
              <a:rPr lang="ko-KR" altLang="en-US" dirty="0">
                <a:cs typeface="Arial" panose="020B0604020202020204" pitchFamily="34" charset="0"/>
              </a:rPr>
              <a:t>번 배터리 외의 배터리에 대해서 확인하였음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7269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먼저 </a:t>
            </a:r>
            <a:r>
              <a:rPr lang="en-US" altLang="ko-KR" dirty="0">
                <a:cs typeface="Arial" panose="020B0604020202020204" pitchFamily="34" charset="0"/>
              </a:rPr>
              <a:t>6</a:t>
            </a:r>
            <a:r>
              <a:rPr lang="ko-KR" altLang="en-US" dirty="0">
                <a:cs typeface="Arial" panose="020B0604020202020204" pitchFamily="34" charset="0"/>
              </a:rPr>
              <a:t>번 배터리와 같은 그룹인</a:t>
            </a:r>
            <a:r>
              <a:rPr lang="en-US" altLang="ko-KR" dirty="0">
                <a:cs typeface="Arial" panose="020B0604020202020204" pitchFamily="34" charset="0"/>
              </a:rPr>
              <a:t> 5</a:t>
            </a:r>
            <a:r>
              <a:rPr lang="ko-KR" altLang="en-US" dirty="0">
                <a:cs typeface="Arial" panose="020B0604020202020204" pitchFamily="34" charset="0"/>
              </a:rPr>
              <a:t>번</a:t>
            </a:r>
            <a:r>
              <a:rPr lang="en-US" altLang="ko-KR" dirty="0">
                <a:cs typeface="Arial" panose="020B0604020202020204" pitchFamily="34" charset="0"/>
              </a:rPr>
              <a:t>, 7</a:t>
            </a:r>
            <a:r>
              <a:rPr lang="ko-KR" altLang="en-US" dirty="0">
                <a:cs typeface="Arial" panose="020B0604020202020204" pitchFamily="34" charset="0"/>
              </a:rPr>
              <a:t>번 </a:t>
            </a:r>
            <a:r>
              <a:rPr lang="en-US" altLang="ko-KR" dirty="0">
                <a:cs typeface="Arial" panose="020B0604020202020204" pitchFamily="34" charset="0"/>
              </a:rPr>
              <a:t>18</a:t>
            </a:r>
            <a:r>
              <a:rPr lang="ko-KR" altLang="en-US" dirty="0">
                <a:cs typeface="Arial" panose="020B0604020202020204" pitchFamily="34" charset="0"/>
              </a:rPr>
              <a:t>번 배터리의 </a:t>
            </a:r>
            <a:r>
              <a:rPr lang="en-US" altLang="ko-KR" dirty="0">
                <a:cs typeface="Arial" panose="020B0604020202020204" pitchFamily="34" charset="0"/>
              </a:rPr>
              <a:t>soh </a:t>
            </a:r>
            <a:r>
              <a:rPr lang="ko-KR" altLang="en-US" dirty="0">
                <a:cs typeface="Arial" panose="020B0604020202020204" pitchFamily="34" charset="0"/>
              </a:rPr>
              <a:t>변화 양상을 동시에 비교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2. 0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~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50</a:t>
            </a:r>
            <a:r>
              <a:rPr lang="ko-KR" altLang="en-US" dirty="0">
                <a:cs typeface="Arial" panose="020B0604020202020204" pitchFamily="34" charset="0"/>
              </a:rPr>
              <a:t> 사이클에서는 </a:t>
            </a:r>
            <a:r>
              <a:rPr lang="en-US" altLang="ko-KR" dirty="0">
                <a:cs typeface="Arial" panose="020B0604020202020204" pitchFamily="34" charset="0"/>
              </a:rPr>
              <a:t>SOH </a:t>
            </a:r>
            <a:r>
              <a:rPr lang="ko-KR" altLang="en-US" dirty="0">
                <a:cs typeface="Arial" panose="020B0604020202020204" pitchFamily="34" charset="0"/>
              </a:rPr>
              <a:t>변화 양상의 차이가 크지만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그 이후부터는 거의 동일함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499C952-EF3B-48F7-A848-1D794FC903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" y="1390650"/>
            <a:ext cx="6415454" cy="3468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352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5</a:t>
            </a:r>
            <a:r>
              <a:rPr lang="ko-KR" altLang="en-US" dirty="0">
                <a:cs typeface="Arial" panose="020B0604020202020204" pitchFamily="34" charset="0"/>
              </a:rPr>
              <a:t>번 배터리는 </a:t>
            </a:r>
            <a:r>
              <a:rPr lang="en-US" altLang="ko-KR" dirty="0">
                <a:cs typeface="Arial" panose="020B0604020202020204" pitchFamily="34" charset="0"/>
              </a:rPr>
              <a:t>N_SPLITS </a:t>
            </a:r>
            <a:r>
              <a:rPr lang="ko-KR" altLang="en-US" dirty="0">
                <a:cs typeface="Arial" panose="020B0604020202020204" pitchFamily="34" charset="0"/>
              </a:rPr>
              <a:t>를 얼마로 설정하든 잘 예측하는 모습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8DE5A67-59C2-4518-9E02-50B6539BC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390" y="1309416"/>
            <a:ext cx="9389749" cy="50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03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6</a:t>
            </a:r>
            <a:r>
              <a:rPr lang="ko-KR" altLang="en-US" dirty="0">
                <a:cs typeface="Arial" panose="020B0604020202020204" pitchFamily="34" charset="0"/>
              </a:rPr>
              <a:t>번 배터리 역시 확인한대로 </a:t>
            </a:r>
            <a:r>
              <a:rPr lang="en-US" altLang="ko-KR" dirty="0">
                <a:cs typeface="Arial" panose="020B0604020202020204" pitchFamily="34" charset="0"/>
              </a:rPr>
              <a:t>N_SPLITS </a:t>
            </a:r>
            <a:r>
              <a:rPr lang="ko-KR" altLang="en-US" dirty="0">
                <a:cs typeface="Arial" panose="020B0604020202020204" pitchFamily="34" charset="0"/>
              </a:rPr>
              <a:t>를 얼마로 설정하든 잘 예측하는 모습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D4432D3-DE09-49C1-907D-6E82711B3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90" y="1281906"/>
            <a:ext cx="9505950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145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7</a:t>
            </a:r>
            <a:r>
              <a:rPr lang="ko-KR" altLang="en-US" dirty="0">
                <a:cs typeface="Arial" panose="020B0604020202020204" pitchFamily="34" charset="0"/>
              </a:rPr>
              <a:t>번 배터리 또한 </a:t>
            </a:r>
            <a:r>
              <a:rPr lang="en-US" altLang="ko-KR" dirty="0">
                <a:cs typeface="Arial" panose="020B0604020202020204" pitchFamily="34" charset="0"/>
              </a:rPr>
              <a:t>N_SPLITS </a:t>
            </a:r>
            <a:r>
              <a:rPr lang="ko-KR" altLang="en-US" dirty="0">
                <a:cs typeface="Arial" panose="020B0604020202020204" pitchFamily="34" charset="0"/>
              </a:rPr>
              <a:t>를 얼마로 설정하든 잘 예측하는 모습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DC13801-03C2-41E7-9004-C7C5BAC741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90" y="1255529"/>
            <a:ext cx="9582150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18</a:t>
            </a:r>
            <a:r>
              <a:rPr lang="ko-KR" altLang="en-US" dirty="0">
                <a:cs typeface="Arial" panose="020B0604020202020204" pitchFamily="34" charset="0"/>
              </a:rPr>
              <a:t>번만 </a:t>
            </a:r>
            <a:r>
              <a:rPr lang="en-US" altLang="ko-KR" dirty="0">
                <a:cs typeface="Arial" panose="020B0604020202020204" pitchFamily="34" charset="0"/>
              </a:rPr>
              <a:t>N_SPLITS </a:t>
            </a:r>
            <a:r>
              <a:rPr lang="ko-KR" altLang="en-US" dirty="0">
                <a:cs typeface="Arial" panose="020B0604020202020204" pitchFamily="34" charset="0"/>
              </a:rPr>
              <a:t>값을 </a:t>
            </a:r>
            <a:r>
              <a:rPr lang="en-US" altLang="ko-KR" dirty="0">
                <a:cs typeface="Arial" panose="020B0604020202020204" pitchFamily="34" charset="0"/>
              </a:rPr>
              <a:t>1</a:t>
            </a:r>
            <a:r>
              <a:rPr lang="ko-KR" altLang="en-US" dirty="0">
                <a:cs typeface="Arial" panose="020B0604020202020204" pitchFamily="34" charset="0"/>
              </a:rPr>
              <a:t>로 설정했을 때 예측력이 떨어지는 모습을 보임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DF923C3-965F-4821-AE52-47011854B1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4925" y="1281906"/>
            <a:ext cx="9582150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598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  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5DCA53-BEF0-43B9-AECC-1F6E089241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0401" y="1584139"/>
            <a:ext cx="7435728" cy="368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387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5.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인사이트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52673485-7814-41B7-84EA-78CCCA318256}"/>
              </a:ext>
            </a:extLst>
          </p:cNvPr>
          <p:cNvSpPr>
            <a:spLocks/>
          </p:cNvSpPr>
          <p:nvPr/>
        </p:nvSpPr>
        <p:spPr bwMode="auto">
          <a:xfrm>
            <a:off x="361264" y="990191"/>
            <a:ext cx="10958802" cy="764199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시계열 데이터를 훈련</a:t>
            </a:r>
            <a:r>
              <a:rPr lang="en-US" altLang="ko-KR" dirty="0">
                <a:cs typeface="Arial" panose="020B0604020202020204" pitchFamily="34" charset="0"/>
              </a:rPr>
              <a:t>/</a:t>
            </a:r>
            <a:r>
              <a:rPr lang="ko-KR" altLang="en-US" dirty="0">
                <a:cs typeface="Arial" panose="020B0604020202020204" pitchFamily="34" charset="0"/>
              </a:rPr>
              <a:t>검증 분할할 때 시간 순으로 </a:t>
            </a:r>
            <a:r>
              <a:rPr lang="en-US" altLang="ko-KR" dirty="0">
                <a:cs typeface="Arial" panose="020B0604020202020204" pitchFamily="34" charset="0"/>
              </a:rPr>
              <a:t>8:2</a:t>
            </a:r>
            <a:r>
              <a:rPr lang="ko-KR" altLang="en-US" dirty="0">
                <a:cs typeface="Arial" panose="020B0604020202020204" pitchFamily="34" charset="0"/>
              </a:rPr>
              <a:t>로 분할하는 것이 대체로 성능이 좋음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기존 접근에서 시간 순 </a:t>
            </a:r>
            <a:r>
              <a:rPr lang="en-US" altLang="ko-KR" dirty="0">
                <a:cs typeface="Arial" panose="020B0604020202020204" pitchFamily="34" charset="0"/>
              </a:rPr>
              <a:t>8:2</a:t>
            </a:r>
            <a:r>
              <a:rPr lang="ko-KR" altLang="en-US" dirty="0">
                <a:cs typeface="Arial" panose="020B0604020202020204" pitchFamily="34" charset="0"/>
              </a:rPr>
              <a:t>가 좋지 않았던 이유는 </a:t>
            </a:r>
            <a:r>
              <a:rPr lang="en-US" altLang="ko-KR" dirty="0">
                <a:cs typeface="Arial" panose="020B0604020202020204" pitchFamily="34" charset="0"/>
              </a:rPr>
              <a:t>target</a:t>
            </a:r>
            <a:r>
              <a:rPr lang="ko-KR" altLang="en-US" dirty="0">
                <a:cs typeface="Arial" panose="020B0604020202020204" pitchFamily="34" charset="0"/>
              </a:rPr>
              <a:t> 설정이 애초에 잘못됐기 때문에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데이터 </a:t>
            </a:r>
            <a:r>
              <a:rPr lang="ko-KR" altLang="en-US" dirty="0" err="1">
                <a:cs typeface="Arial" panose="020B0604020202020204" pitchFamily="34" charset="0"/>
              </a:rPr>
              <a:t>전처리</a:t>
            </a:r>
            <a:r>
              <a:rPr lang="ko-KR" altLang="en-US" dirty="0">
                <a:cs typeface="Arial" panose="020B0604020202020204" pitchFamily="34" charset="0"/>
              </a:rPr>
              <a:t> 및 분할이 잘 이루어졌을 때</a:t>
            </a:r>
            <a:r>
              <a:rPr lang="en-US" altLang="ko-KR" dirty="0">
                <a:cs typeface="Arial" panose="020B0604020202020204" pitchFamily="34" charset="0"/>
              </a:rPr>
              <a:t>, LSTM </a:t>
            </a:r>
            <a:r>
              <a:rPr lang="ko-KR" altLang="en-US" dirty="0">
                <a:cs typeface="Arial" panose="020B0604020202020204" pitchFamily="34" charset="0"/>
              </a:rPr>
              <a:t>모델 최저 성능은 </a:t>
            </a:r>
            <a:r>
              <a:rPr lang="en-US" altLang="ko-KR" dirty="0">
                <a:cs typeface="Arial" panose="020B0604020202020204" pitchFamily="34" charset="0"/>
              </a:rPr>
              <a:t>RMSE = 0.04 </a:t>
            </a:r>
            <a:r>
              <a:rPr lang="ko-KR" altLang="en-US" dirty="0">
                <a:cs typeface="Arial" panose="020B0604020202020204" pitchFamily="34" charset="0"/>
              </a:rPr>
              <a:t>수준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[</a:t>
            </a:r>
            <a:r>
              <a:rPr lang="ko-KR" altLang="en-US" dirty="0">
                <a:cs typeface="Arial" panose="020B0604020202020204" pitchFamily="34" charset="0"/>
              </a:rPr>
              <a:t>앞으로 해볼 것</a:t>
            </a:r>
            <a:r>
              <a:rPr lang="en-US" altLang="ko-KR" dirty="0">
                <a:cs typeface="Arial" panose="020B0604020202020204" pitchFamily="34" charset="0"/>
              </a:rPr>
              <a:t>]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feature engineering</a:t>
            </a:r>
            <a:r>
              <a:rPr lang="ko-KR" altLang="en-US" dirty="0">
                <a:cs typeface="Arial" panose="020B0604020202020204" pitchFamily="34" charset="0"/>
              </a:rPr>
              <a:t>을 통해 어떤 </a:t>
            </a:r>
            <a:r>
              <a:rPr lang="en-US" altLang="ko-KR" dirty="0">
                <a:cs typeface="Arial" panose="020B0604020202020204" pitchFamily="34" charset="0"/>
              </a:rPr>
              <a:t>feature</a:t>
            </a:r>
            <a:r>
              <a:rPr lang="ko-KR" altLang="en-US" dirty="0">
                <a:cs typeface="Arial" panose="020B0604020202020204" pitchFamily="34" charset="0"/>
              </a:rPr>
              <a:t>가 모델의 성능에 영향을 많이 주는지 확인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LSTM </a:t>
            </a:r>
            <a:r>
              <a:rPr lang="ko-KR" altLang="en-US" dirty="0">
                <a:cs typeface="Arial" panose="020B0604020202020204" pitchFamily="34" charset="0"/>
              </a:rPr>
              <a:t>모델의 파라미터 튜닝을 통해 성능 향상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impendence type</a:t>
            </a:r>
            <a:r>
              <a:rPr lang="ko-KR" altLang="en-US" dirty="0">
                <a:cs typeface="Arial" panose="020B0604020202020204" pitchFamily="34" charset="0"/>
              </a:rPr>
              <a:t>의 데이터도 학습 데이터로 사용해보기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536218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TljNmZmMDI3MGUxNmMwZGY2NDBjOWFjMTRiN2U3NmU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8060</TotalTime>
  <Pages>1</Pages>
  <Words>622</Words>
  <Characters>0</Characters>
  <Application>Microsoft Office PowerPoint</Application>
  <DocSecurity>0</DocSecurity>
  <PresentationFormat>와이드스크린</PresentationFormat>
  <Lines>0</Lines>
  <Paragraphs>410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맑은 고딕</vt:lpstr>
      <vt:lpstr>Arial</vt:lpstr>
      <vt:lpstr>Calibri</vt:lpstr>
      <vt:lpstr>Wingdings</vt:lpstr>
      <vt:lpstr>WPS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穽ᐺ</dc:title>
  <dc:creator>김태림</dc:creator>
  <cp:lastModifiedBy>최대한</cp:lastModifiedBy>
  <cp:revision>122</cp:revision>
  <dcterms:created xsi:type="dcterms:W3CDTF">2019-06-19T02:08:00Z</dcterms:created>
  <dcterms:modified xsi:type="dcterms:W3CDTF">2025-11-09T10:55:12Z</dcterms:modified>
</cp:coreProperties>
</file>