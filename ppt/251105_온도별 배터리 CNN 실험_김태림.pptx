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19" r:id="rId2"/>
    <p:sldId id="320" r:id="rId3"/>
    <p:sldId id="321" r:id="rId4"/>
    <p:sldId id="324" r:id="rId5"/>
    <p:sldId id="310" r:id="rId6"/>
    <p:sldId id="325" r:id="rId7"/>
    <p:sldId id="326" r:id="rId8"/>
    <p:sldId id="327" r:id="rId9"/>
    <p:sldId id="328" r:id="rId10"/>
    <p:sldId id="314" r:id="rId11"/>
    <p:sldId id="329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17" r:id="rId20"/>
    <p:sldId id="280" r:id="rId21"/>
  </p:sldIdLst>
  <p:sldSz cx="12192000" cy="6858000"/>
  <p:notesSz cx="6858000" cy="9144000"/>
  <p:custDataLst>
    <p:tags r:id="rId2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>
          <p15:clr>
            <a:srgbClr val="A4A3A4"/>
          </p15:clr>
        </p15:guide>
        <p15:guide id="2" pos="38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69" autoAdjust="0"/>
    <p:restoredTop sz="94660" autoAdjust="0"/>
  </p:normalViewPr>
  <p:slideViewPr>
    <p:cSldViewPr snapToGrid="0">
      <p:cViewPr varScale="1">
        <p:scale>
          <a:sx n="42" d="100"/>
          <a:sy n="42" d="100"/>
        </p:scale>
        <p:origin x="33" y="942"/>
      </p:cViewPr>
      <p:guideLst>
        <p:guide orient="horz" pos="2195"/>
        <p:guide pos="387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5A3DFB-0CC4-37C5-52EB-06B43223A1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BC839D-F34D-BFEC-6C1E-589F837B202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94F3DF71-84CE-0941-B6C4-1D934A8302AF}" type="datetimeFigureOut">
              <a:rPr lang="zh-CN" altLang="en-US"/>
              <a:pPr>
                <a:defRPr/>
              </a:pPr>
              <a:t>2025/11/3</a:t>
            </a:fld>
            <a:endParaRPr lang="zh-CN" altLang="en-US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316" name="幻灯片图像占位符 3">
            <a:extLst>
              <a:ext uri="{FF2B5EF4-FFF2-40B4-BE49-F238E27FC236}">
                <a16:creationId xmlns:a16="http://schemas.microsoft.com/office/drawing/2014/main" id="{F3B262A3-3BB8-0FCF-9ABC-73BD4FD1E99B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备注占位符 4">
            <a:extLst>
              <a:ext uri="{FF2B5EF4-FFF2-40B4-BE49-F238E27FC236}">
                <a16:creationId xmlns:a16="http://schemas.microsoft.com/office/drawing/2014/main" id="{CB2BA2B0-5DD7-3EB3-8C2C-3D2BE8294C40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030AA2-BBE5-7926-B653-02B16EF9AD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FB90DF-8012-5E73-0121-2E3FE0F94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056DCF6-2428-DA40-9012-2B3EB60B5CF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18833-6A68-0B16-2482-EBAF455AD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>
            <a:extLst>
              <a:ext uri="{FF2B5EF4-FFF2-40B4-BE49-F238E27FC236}">
                <a16:creationId xmlns:a16="http://schemas.microsoft.com/office/drawing/2014/main" id="{EAE1F07C-3F70-D02D-E3FB-468B70554E7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文本占位符 2">
            <a:extLst>
              <a:ext uri="{FF2B5EF4-FFF2-40B4-BE49-F238E27FC236}">
                <a16:creationId xmlns:a16="http://schemas.microsoft.com/office/drawing/2014/main" id="{F3B6B613-13DD-E9F5-508F-ED4DFE3CF22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363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95BDD-0880-E687-324B-5177F1081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>
            <a:extLst>
              <a:ext uri="{FF2B5EF4-FFF2-40B4-BE49-F238E27FC236}">
                <a16:creationId xmlns:a16="http://schemas.microsoft.com/office/drawing/2014/main" id="{DDACD877-6830-19C6-0E01-B6E3C7A01A8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文本占位符 2">
            <a:extLst>
              <a:ext uri="{FF2B5EF4-FFF2-40B4-BE49-F238E27FC236}">
                <a16:creationId xmlns:a16="http://schemas.microsoft.com/office/drawing/2014/main" id="{5663519B-4B93-EFF4-8AB4-12258CB532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852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EE55D-A778-F9F3-03A0-5EA9E85B5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>
            <a:extLst>
              <a:ext uri="{FF2B5EF4-FFF2-40B4-BE49-F238E27FC236}">
                <a16:creationId xmlns:a16="http://schemas.microsoft.com/office/drawing/2014/main" id="{7911E1E9-D6B0-151D-E488-DFA559FE83F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文本占位符 2">
            <a:extLst>
              <a:ext uri="{FF2B5EF4-FFF2-40B4-BE49-F238E27FC236}">
                <a16:creationId xmlns:a16="http://schemas.microsoft.com/office/drawing/2014/main" id="{AF97EBDF-8086-B749-8230-40CBB15D896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169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F361B-F11A-65CA-35FC-CDE9D7FFC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>
            <a:extLst>
              <a:ext uri="{FF2B5EF4-FFF2-40B4-BE49-F238E27FC236}">
                <a16:creationId xmlns:a16="http://schemas.microsoft.com/office/drawing/2014/main" id="{A67C8B5A-B4D3-367F-87EC-713E8B10D42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文本占位符 2">
            <a:extLst>
              <a:ext uri="{FF2B5EF4-FFF2-40B4-BE49-F238E27FC236}">
                <a16:creationId xmlns:a16="http://schemas.microsoft.com/office/drawing/2014/main" id="{F9D3629F-9C92-0E6A-88BE-23367908C9F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037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6B50F-8F83-C1ED-8523-F039450F3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>
            <a:extLst>
              <a:ext uri="{FF2B5EF4-FFF2-40B4-BE49-F238E27FC236}">
                <a16:creationId xmlns:a16="http://schemas.microsoft.com/office/drawing/2014/main" id="{6930D3B2-B71B-CED6-50DA-137F07285A9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文本占位符 2">
            <a:extLst>
              <a:ext uri="{FF2B5EF4-FFF2-40B4-BE49-F238E27FC236}">
                <a16:creationId xmlns:a16="http://schemas.microsoft.com/office/drawing/2014/main" id="{A9CC0528-F863-BE6D-D809-2399BBFE52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74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D2D9-F628-EDB1-B926-835441275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>
            <a:extLst>
              <a:ext uri="{FF2B5EF4-FFF2-40B4-BE49-F238E27FC236}">
                <a16:creationId xmlns:a16="http://schemas.microsoft.com/office/drawing/2014/main" id="{1D485452-B078-AA56-6575-84A5542D2F8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文本占位符 2">
            <a:extLst>
              <a:ext uri="{FF2B5EF4-FFF2-40B4-BE49-F238E27FC236}">
                <a16:creationId xmlns:a16="http://schemas.microsoft.com/office/drawing/2014/main" id="{B749C599-13D8-5986-0DCC-6687E1C1721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024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95BDD-0880-E687-324B-5177F1081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>
            <a:extLst>
              <a:ext uri="{FF2B5EF4-FFF2-40B4-BE49-F238E27FC236}">
                <a16:creationId xmlns:a16="http://schemas.microsoft.com/office/drawing/2014/main" id="{DDACD877-6830-19C6-0E01-B6E3C7A01A8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文本占位符 2">
            <a:extLst>
              <a:ext uri="{FF2B5EF4-FFF2-40B4-BE49-F238E27FC236}">
                <a16:creationId xmlns:a16="http://schemas.microsoft.com/office/drawing/2014/main" id="{5663519B-4B93-EFF4-8AB4-12258CB532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342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DC3F4-0E4A-1892-F306-10D0F8CBA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>
            <a:extLst>
              <a:ext uri="{FF2B5EF4-FFF2-40B4-BE49-F238E27FC236}">
                <a16:creationId xmlns:a16="http://schemas.microsoft.com/office/drawing/2014/main" id="{ED36D6CA-15D0-9284-224F-CA703FEDE08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文本占位符 2">
            <a:extLst>
              <a:ext uri="{FF2B5EF4-FFF2-40B4-BE49-F238E27FC236}">
                <a16:creationId xmlns:a16="http://schemas.microsoft.com/office/drawing/2014/main" id="{06711193-B0AB-A174-3C9D-E1A68FE76A4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56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6BBDF-35E9-265F-5268-1FD585B74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>
            <a:extLst>
              <a:ext uri="{FF2B5EF4-FFF2-40B4-BE49-F238E27FC236}">
                <a16:creationId xmlns:a16="http://schemas.microsoft.com/office/drawing/2014/main" id="{D7885281-D8E8-31DA-341E-129AB7B2A9A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文本占位符 2">
            <a:extLst>
              <a:ext uri="{FF2B5EF4-FFF2-40B4-BE49-F238E27FC236}">
                <a16:creationId xmlns:a16="http://schemas.microsoft.com/office/drawing/2014/main" id="{91B7B526-3DC1-61E9-0A1B-4700A2FB52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260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2B812-EBBC-7BF4-4EA4-15741F707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>
            <a:extLst>
              <a:ext uri="{FF2B5EF4-FFF2-40B4-BE49-F238E27FC236}">
                <a16:creationId xmlns:a16="http://schemas.microsoft.com/office/drawing/2014/main" id="{AC2444D3-3878-E20B-70A8-9E990BB2BDA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文本占位符 2">
            <a:extLst>
              <a:ext uri="{FF2B5EF4-FFF2-40B4-BE49-F238E27FC236}">
                <a16:creationId xmlns:a16="http://schemas.microsoft.com/office/drawing/2014/main" id="{F4260F3A-C842-3784-F3CA-8A146DA9FE7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970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8351-C372-DE4E-70F6-D14EE07A2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>
            <a:extLst>
              <a:ext uri="{FF2B5EF4-FFF2-40B4-BE49-F238E27FC236}">
                <a16:creationId xmlns:a16="http://schemas.microsoft.com/office/drawing/2014/main" id="{A44F0310-8C1E-3CE9-DC34-DD476269A08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文本占位符 2">
            <a:extLst>
              <a:ext uri="{FF2B5EF4-FFF2-40B4-BE49-F238E27FC236}">
                <a16:creationId xmlns:a16="http://schemas.microsoft.com/office/drawing/2014/main" id="{8436E192-9622-60C9-3F95-6FA022B2E3B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0734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D9775-A2F7-CA11-C04A-64DB21F85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>
            <a:extLst>
              <a:ext uri="{FF2B5EF4-FFF2-40B4-BE49-F238E27FC236}">
                <a16:creationId xmlns:a16="http://schemas.microsoft.com/office/drawing/2014/main" id="{2083CA39-5666-C89B-6A1B-A6B00E1DB68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文本占位符 2">
            <a:extLst>
              <a:ext uri="{FF2B5EF4-FFF2-40B4-BE49-F238E27FC236}">
                <a16:creationId xmlns:a16="http://schemas.microsoft.com/office/drawing/2014/main" id="{1C6CBA4F-08C1-6638-27AA-BABA9186043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775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69014-366D-9785-5C08-A24014C59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>
            <a:extLst>
              <a:ext uri="{FF2B5EF4-FFF2-40B4-BE49-F238E27FC236}">
                <a16:creationId xmlns:a16="http://schemas.microsoft.com/office/drawing/2014/main" id="{B199E6C8-DF7E-DD40-71E6-D397201F4DE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文本占位符 2">
            <a:extLst>
              <a:ext uri="{FF2B5EF4-FFF2-40B4-BE49-F238E27FC236}">
                <a16:creationId xmlns:a16="http://schemas.microsoft.com/office/drawing/2014/main" id="{987C5BA8-C2E6-FA76-1115-FE9C1EC4301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0210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1752F-BA53-7BDE-4525-5C9B104CD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>
            <a:extLst>
              <a:ext uri="{FF2B5EF4-FFF2-40B4-BE49-F238E27FC236}">
                <a16:creationId xmlns:a16="http://schemas.microsoft.com/office/drawing/2014/main" id="{E69613B3-5F2B-7A14-ACC6-B52C2B4FB0F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文本占位符 2">
            <a:extLst>
              <a:ext uri="{FF2B5EF4-FFF2-40B4-BE49-F238E27FC236}">
                <a16:creationId xmlns:a16="http://schemas.microsoft.com/office/drawing/2014/main" id="{901228ED-581F-BC7C-CB9B-98A6D23E53D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6030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E47F-6886-4C06-CD2D-478024BAD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>
            <a:extLst>
              <a:ext uri="{FF2B5EF4-FFF2-40B4-BE49-F238E27FC236}">
                <a16:creationId xmlns:a16="http://schemas.microsoft.com/office/drawing/2014/main" id="{63057AA8-6B4A-8FF4-93DD-EB23AF00A9B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文本占位符 2">
            <a:extLst>
              <a:ext uri="{FF2B5EF4-FFF2-40B4-BE49-F238E27FC236}">
                <a16:creationId xmlns:a16="http://schemas.microsoft.com/office/drawing/2014/main" id="{CE4B8EAE-568E-88AD-0289-EF18CDE2158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090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95BDD-0880-E687-324B-5177F1081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>
            <a:extLst>
              <a:ext uri="{FF2B5EF4-FFF2-40B4-BE49-F238E27FC236}">
                <a16:creationId xmlns:a16="http://schemas.microsoft.com/office/drawing/2014/main" id="{DDACD877-6830-19C6-0E01-B6E3C7A01A8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文本占位符 2">
            <a:extLst>
              <a:ext uri="{FF2B5EF4-FFF2-40B4-BE49-F238E27FC236}">
                <a16:creationId xmlns:a16="http://schemas.microsoft.com/office/drawing/2014/main" id="{5663519B-4B93-EFF4-8AB4-12258CB532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037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BD14CE-2C57-96E4-BD38-3CAB7F73EFF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A1C3A-3E82-4749-98EB-A95B5627E404}" type="datetimeFigureOut">
              <a:rPr lang="zh-CN" altLang="en-US"/>
              <a:pPr>
                <a:defRPr/>
              </a:pPr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AF934A-88DB-B8A1-AED5-46ED294E446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05650-375B-CA52-6966-C26F178928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29E1F8-6FA0-0E49-8349-19965090274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68555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853A3-E390-6D30-8DBE-9F2BD112171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14BE3-C6ED-C143-93A7-55FCEAFA95E3}" type="datetimeFigureOut">
              <a:rPr lang="zh-CN" altLang="en-US"/>
              <a:pPr>
                <a:defRPr/>
              </a:pPr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2985C9-3AEA-C8E4-97E8-496C07529F7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4FC73E-63F5-9855-E4B2-9FB5C5DE357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E42E63-9D58-4446-856B-9A71F5C1F0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7068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defRPr sz="4400"/>
            </a:lvl1pPr>
          </a:lstStyle>
          <a:p>
            <a:r>
              <a:rPr lang="ko-KR" altLang="en-US" noProof="1"/>
              <a:t>마스터 제목 스타일 편집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90800" y="4615200"/>
            <a:ext cx="7768800" cy="867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noProof="1"/>
              <a:t>마스터 텍스트 스타일을 편집하려면 클릭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425096-C909-99E5-8035-25CE8D2E1E53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E627A-D761-F644-8387-208C92DA5A7F}" type="datetimeFigureOut">
              <a:rPr lang="zh-CN" altLang="en-US"/>
              <a:pPr>
                <a:defRPr/>
              </a:pPr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1EB3C6-B7B1-7B9F-6560-F4F4274B4A5E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7DBC04-641A-D36D-9F17-18E3AC30B21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29289-737B-1D44-88D9-AFCC36CC43E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29600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2A16737-BEDF-1032-DB09-2C312A9BCA9A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97BBB4-8707-4149-A508-14FDBBD3FA27}" type="datetimeFigureOut">
              <a:rPr lang="zh-CN" altLang="en-US"/>
              <a:pPr>
                <a:defRPr/>
              </a:pPr>
              <a:t>2025/11/3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1663E70-437E-C8D8-2E72-A42C788C3F3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E40A6C0-FE3E-7616-3F69-919168121E0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A0A9E-44BF-7944-9D7F-9330E1A354D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45630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noProof="1"/>
              <a:t>마스터 텍스트 스타일을 편집하려면 클릭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lIns="101600" tIns="0" rIns="82550" bIns="0" rtlCol="0"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35750" y="1421729"/>
            <a:ext cx="5342400" cy="381600"/>
          </a:xfrm>
        </p:spPr>
        <p:txBody>
          <a:bodyPr lIns="101600" tIns="38100" rIns="76200" bIns="38100" rtlCol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noProof="1"/>
              <a:t>마스터 텍스트 스타일을 편집하려면 클릭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lIns="101600" tIns="0" rIns="82550" bIns="0" rtlCol="0"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07F502D5-E314-AAF3-E09D-A95763355F4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26014-5D61-1D42-95ED-C8F73CB86D96}" type="datetimeFigureOut">
              <a:rPr lang="zh-CN" altLang="en-US"/>
              <a:pPr>
                <a:defRPr/>
              </a:pPr>
              <a:t>2025/11/3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84E3BF81-E25A-F1C7-C3A2-05E9631AE2A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70664B67-7D74-9377-F99E-3E422890A7E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27393-A748-8C45-ACD3-7F6861C2A60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73773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CD266C1C-27F6-47FC-EDA1-602870BF566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720D1-B3D5-3344-A667-24896FF3FBBC}" type="datetimeFigureOut">
              <a:rPr lang="zh-CN" altLang="en-US"/>
              <a:pPr>
                <a:defRPr/>
              </a:pPr>
              <a:t>2025/11/3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35980524-2A93-F550-4BCA-220930A0170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2DA0D3B8-247F-2A68-0614-3FA870A8FBA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109F95-9F2A-D947-A86C-9CF7FA3A788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68254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FE09BEC2-C92D-3380-EFC7-CDEF058A743D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5149F-C2FB-4E4F-9930-7DA18A774CAE}" type="datetimeFigureOut">
              <a:rPr lang="zh-CN" altLang="en-US"/>
              <a:pPr>
                <a:defRPr/>
              </a:pPr>
              <a:t>2025/11/3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799F0259-3FB0-4F86-7DA8-EB6C3755AD5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93C4E403-91B3-B00F-0FCC-174B7FBC6A0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E91551-B82F-2143-BEA8-475C7C2D3ED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59607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0E362F3-1A22-D4EA-11A7-FBB4313A805B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526781-BDFC-2E4A-95E0-4A88063B4EE2}" type="datetimeFigureOut">
              <a:rPr lang="zh-CN" altLang="en-US"/>
              <a:pPr>
                <a:defRPr/>
              </a:pPr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E09B3F-DE46-F240-31E0-5293235DE8C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879A43-0080-E577-DB1D-BB42984F069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D56AFD-CF6D-5144-8B64-DB3B5CE66F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9108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ko-KR" altLang="en-US" noProof="1"/>
              <a:t>마스터 제목 스타일 편집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r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8EC20D-A30D-7BD2-4AC3-FF762184B205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F9F34-27BA-5E4A-8B78-279D92F914E8}" type="datetimeFigureOut">
              <a:rPr lang="zh-CN" altLang="en-US"/>
              <a:pPr>
                <a:defRPr/>
              </a:pPr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C88D56-C5DD-879A-0404-8DDABE4C683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6415A4-ED3D-E15B-2336-C19C7CBEC6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A5AE3-5251-6C45-90AE-B8B9FE9C2A1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01350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89C4CD2-293F-EE1A-4217-3F98EBE2E7B3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B45E31-5649-1042-9D83-5FF32BB38DEB}" type="datetimeFigureOut">
              <a:rPr lang="zh-CN" altLang="en-US"/>
              <a:pPr>
                <a:defRPr/>
              </a:pPr>
              <a:t>2025/11/3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310A6E70-CC05-0B61-2454-2020380E6427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4D582139-C06C-162E-3662-18565997C70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8387D-639B-394E-8901-25CB7CDE3C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65237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8800" y="2484000"/>
            <a:ext cx="9799200" cy="1018800"/>
          </a:xfrm>
        </p:spPr>
        <p:txBody>
          <a:bodyPr lIns="90000" tIns="46800" rIns="90000" bIns="46800" rtlCol="0" anchor="t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ko-KR" altLang="en-US" noProof="1"/>
              <a:t>마스터 제목 스타일 편집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7354990-8A5B-F829-52A1-7D2488430884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82EB2-F97E-2E4C-8583-7FA8F2C3C202}" type="datetimeFigureOut">
              <a:rPr lang="zh-CN" altLang="en-US"/>
              <a:pPr>
                <a:defRPr/>
              </a:pPr>
              <a:t>2025/11/3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24CDC066-128C-E756-7C16-26B35419CE88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CE55CC8E-6BF3-BBD9-8778-4CD3FD78B2FB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C6B83A-10B7-4C4F-9C8D-9884B8F3298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38659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09CB8685-A9E4-421D-BBFE-94DDC3FB16ED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4"/>
            </p:custDataLst>
          </p:nvPr>
        </p:nvSpPr>
        <p:spPr bwMode="auto">
          <a:xfrm>
            <a:off x="608013" y="608013"/>
            <a:ext cx="10969625" cy="7064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53EF7798-1301-8291-DBB3-151FA1E3B7EB}"/>
              </a:ext>
            </a:extLst>
          </p:cNvPr>
          <p:cNvSpPr>
            <a:spLocks noGrp="1" noChangeArrowheads="1"/>
          </p:cNvSpPr>
          <p:nvPr>
            <p:ph type="body" idx="4294967295"/>
            <p:custDataLst>
              <p:tags r:id="rId15"/>
            </p:custDataLst>
          </p:nvPr>
        </p:nvSpPr>
        <p:spPr bwMode="auto">
          <a:xfrm>
            <a:off x="608013" y="1490663"/>
            <a:ext cx="10969625" cy="475932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DEDE19-1DA9-246B-8516-8C0EC42C04C5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fontAlgn="auto" hangingPunct="1">
              <a:defRPr sz="1000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831DC8B-FC27-CB4B-AC06-B861A817705A}" type="datetimeFigureOut">
              <a:rPr lang="zh-CN" altLang="en-US"/>
              <a:pPr>
                <a:defRPr/>
              </a:pPr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D335F5-68AF-0936-EAF4-6F991D98FD05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fontAlgn="auto" hangingPunct="1">
              <a:defRPr sz="1000" baseline="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E1E001-0AE7-41D4-5326-CEBA29217B7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10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88629C0-BCCA-DF47-84F7-A8AC4C4442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 spc="300">
          <a:solidFill>
            <a:srgbClr val="262626"/>
          </a:solidFill>
          <a:latin typeface="+mj-lt"/>
          <a:ea typeface="Microsoft YaHei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kern="1200" spc="150">
          <a:solidFill>
            <a:srgbClr val="595959"/>
          </a:solidFill>
          <a:latin typeface="+mn-lt"/>
          <a:ea typeface="Microsoft YaHei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+mn-lt"/>
          <a:ea typeface="Microsoft YaHei" panose="020B0503020204020204" pitchFamily="34" charset="-122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kern="1200" spc="150">
          <a:solidFill>
            <a:srgbClr val="595959"/>
          </a:solidFill>
          <a:latin typeface="+mn-lt"/>
          <a:ea typeface="Microsoft YaHei" panose="020B0503020204020204" pitchFamily="34" charset="-122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Wingdings" pitchFamily="2" charset="2"/>
        <a:buChar char=""/>
        <a:defRPr sz="1400" kern="1200" spc="150">
          <a:solidFill>
            <a:srgbClr val="595959"/>
          </a:solidFill>
          <a:latin typeface="+mn-lt"/>
          <a:ea typeface="Microsoft YaHei" panose="020B0503020204020204" pitchFamily="34" charset="-122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kern="1200" spc="150">
          <a:solidFill>
            <a:srgbClr val="595959"/>
          </a:solidFill>
          <a:latin typeface="+mn-lt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66CA-C28A-0CAA-9BEE-E96C61A9F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object 2">
            <a:extLst>
              <a:ext uri="{FF2B5EF4-FFF2-40B4-BE49-F238E27FC236}">
                <a16:creationId xmlns:a16="http://schemas.microsoft.com/office/drawing/2014/main" id="{738ADE40-88D6-81A1-7679-B6B5B7B57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0413" cy="5311775"/>
          </a:xfrm>
          <a:custGeom>
            <a:avLst/>
            <a:gdLst>
              <a:gd name="T0" fmla="*/ 10795 w 12192000"/>
              <a:gd name="T1" fmla="*/ 0 h 5260975"/>
              <a:gd name="T2" fmla="*/ 2700 w 12192000"/>
              <a:gd name="T3" fmla="*/ 11328 h 5260975"/>
              <a:gd name="T4" fmla="*/ 10795 w 12192000"/>
              <a:gd name="T5" fmla="*/ 5666 h 5260975"/>
              <a:gd name="T6" fmla="*/ 24285 w 12192000"/>
              <a:gd name="T7" fmla="*/ 11329 h 5260975"/>
              <a:gd name="T8" fmla="*/ 18890 w 12192000"/>
              <a:gd name="T9" fmla="*/ 16996 h 5260975"/>
              <a:gd name="T10" fmla="*/ 13490 w 12192000"/>
              <a:gd name="T11" fmla="*/ 11329 h 52609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12192000"/>
              <a:gd name="T19" fmla="*/ 3163 h 5260975"/>
              <a:gd name="T20" fmla="*/ 18437 w 12192000"/>
              <a:gd name="T21" fmla="*/ 18437 h 52609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192000" h="5260975">
                <a:moveTo>
                  <a:pt x="0" y="5260848"/>
                </a:moveTo>
                <a:lnTo>
                  <a:pt x="12192000" y="5260848"/>
                </a:lnTo>
                <a:lnTo>
                  <a:pt x="12192000" y="0"/>
                </a:lnTo>
                <a:lnTo>
                  <a:pt x="0" y="0"/>
                </a:lnTo>
                <a:lnTo>
                  <a:pt x="0" y="5260848"/>
                </a:lnTo>
                <a:close/>
              </a:path>
            </a:pathLst>
          </a:custGeom>
          <a:solidFill>
            <a:srgbClr val="204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4338" name="object 3">
            <a:extLst>
              <a:ext uri="{FF2B5EF4-FFF2-40B4-BE49-F238E27FC236}">
                <a16:creationId xmlns:a16="http://schemas.microsoft.com/office/drawing/2014/main" id="{36440D5D-E659-CB72-957D-C510291C78CB}"/>
              </a:ext>
            </a:extLst>
          </p:cNvPr>
          <p:cNvGrpSpPr>
            <a:grpSpLocks/>
          </p:cNvGrpSpPr>
          <p:nvPr/>
        </p:nvGrpSpPr>
        <p:grpSpPr bwMode="auto">
          <a:xfrm>
            <a:off x="0" y="3663950"/>
            <a:ext cx="12192000" cy="3194050"/>
            <a:chOff x="0" y="2308"/>
            <a:chExt cx="7680" cy="2012"/>
          </a:xfrm>
        </p:grpSpPr>
        <p:sp>
          <p:nvSpPr>
            <p:cNvPr id="14347" name="object 4">
              <a:extLst>
                <a:ext uri="{FF2B5EF4-FFF2-40B4-BE49-F238E27FC236}">
                  <a16:creationId xmlns:a16="http://schemas.microsoft.com/office/drawing/2014/main" id="{7BE15946-A9B2-BFF3-8E56-26D488541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308"/>
              <a:ext cx="7679" cy="2012"/>
            </a:xfrm>
            <a:custGeom>
              <a:avLst/>
              <a:gdLst>
                <a:gd name="T0" fmla="*/ 0 w 12192000"/>
                <a:gd name="T1" fmla="*/ 0 h 3194684"/>
                <a:gd name="T2" fmla="*/ 0 w 12192000"/>
                <a:gd name="T3" fmla="*/ 0 h 3194684"/>
                <a:gd name="T4" fmla="*/ 0 w 12192000"/>
                <a:gd name="T5" fmla="*/ 0 h 3194684"/>
                <a:gd name="T6" fmla="*/ 0 w 12192000"/>
                <a:gd name="T7" fmla="*/ 0 h 3194684"/>
                <a:gd name="T8" fmla="*/ 0 w 12192000"/>
                <a:gd name="T9" fmla="*/ 0 h 3194684"/>
                <a:gd name="T10" fmla="*/ 0 w 12192000"/>
                <a:gd name="T11" fmla="*/ 0 h 31946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75 w 12192000"/>
                <a:gd name="T19" fmla="*/ 3176 h 3194684"/>
                <a:gd name="T20" fmla="*/ 19052 w 12192000"/>
                <a:gd name="T21" fmla="*/ 19054 h 31946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192000" h="3194684">
                  <a:moveTo>
                    <a:pt x="12192000" y="1597152"/>
                  </a:moveTo>
                  <a:lnTo>
                    <a:pt x="10594848" y="1597152"/>
                  </a:lnTo>
                  <a:lnTo>
                    <a:pt x="0" y="1597152"/>
                  </a:lnTo>
                  <a:lnTo>
                    <a:pt x="0" y="3194304"/>
                  </a:lnTo>
                  <a:lnTo>
                    <a:pt x="12192000" y="3194304"/>
                  </a:lnTo>
                  <a:lnTo>
                    <a:pt x="12192000" y="1597152"/>
                  </a:lnTo>
                  <a:close/>
                </a:path>
                <a:path w="12192000" h="3194684">
                  <a:moveTo>
                    <a:pt x="12192000" y="0"/>
                  </a:moveTo>
                  <a:lnTo>
                    <a:pt x="10594848" y="0"/>
                  </a:lnTo>
                  <a:lnTo>
                    <a:pt x="10594848" y="15971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48" name="object 5">
              <a:extLst>
                <a:ext uri="{FF2B5EF4-FFF2-40B4-BE49-F238E27FC236}">
                  <a16:creationId xmlns:a16="http://schemas.microsoft.com/office/drawing/2014/main" id="{AA08B666-7C66-1DD2-C351-DA0D944A7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8" y="2308"/>
              <a:ext cx="2012" cy="2012"/>
            </a:xfrm>
            <a:custGeom>
              <a:avLst/>
              <a:gdLst>
                <a:gd name="T0" fmla="*/ 0 w 3194684"/>
                <a:gd name="T1" fmla="*/ 0 h 3194684"/>
                <a:gd name="T2" fmla="*/ 0 w 3194684"/>
                <a:gd name="T3" fmla="*/ 0 h 3194684"/>
                <a:gd name="T4" fmla="*/ 0 w 3194684"/>
                <a:gd name="T5" fmla="*/ 0 h 3194684"/>
                <a:gd name="T6" fmla="*/ 0 w 3194684"/>
                <a:gd name="T7" fmla="*/ 0 h 3194684"/>
                <a:gd name="T8" fmla="*/ 0 w 3194684"/>
                <a:gd name="T9" fmla="*/ 0 h 3194684"/>
                <a:gd name="T10" fmla="*/ 0 w 3194684"/>
                <a:gd name="T11" fmla="*/ 0 h 31946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76 w 3194684"/>
                <a:gd name="T19" fmla="*/ 3176 h 3194684"/>
                <a:gd name="T20" fmla="*/ 19054 w 3194684"/>
                <a:gd name="T21" fmla="*/ 19054 h 31946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94684" h="3194684">
                  <a:moveTo>
                    <a:pt x="1597152" y="0"/>
                  </a:moveTo>
                  <a:lnTo>
                    <a:pt x="0" y="1597152"/>
                  </a:lnTo>
                  <a:lnTo>
                    <a:pt x="1597152" y="1597152"/>
                  </a:lnTo>
                  <a:lnTo>
                    <a:pt x="1597152" y="0"/>
                  </a:lnTo>
                  <a:close/>
                </a:path>
                <a:path w="3194684" h="3194684">
                  <a:moveTo>
                    <a:pt x="3194304" y="1597152"/>
                  </a:moveTo>
                  <a:lnTo>
                    <a:pt x="1597152" y="1597152"/>
                  </a:lnTo>
                  <a:lnTo>
                    <a:pt x="1597152" y="3194304"/>
                  </a:lnTo>
                  <a:lnTo>
                    <a:pt x="3194304" y="1597152"/>
                  </a:lnTo>
                  <a:close/>
                </a:path>
              </a:pathLst>
            </a:custGeom>
            <a:solidFill>
              <a:srgbClr val="00A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339" name="object 8">
            <a:extLst>
              <a:ext uri="{FF2B5EF4-FFF2-40B4-BE49-F238E27FC236}">
                <a16:creationId xmlns:a16="http://schemas.microsoft.com/office/drawing/2014/main" id="{EDE9D88F-334E-CE15-C15A-FE8B75272668}"/>
              </a:ext>
            </a:extLst>
          </p:cNvPr>
          <p:cNvSpPr>
            <a:spLocks/>
          </p:cNvSpPr>
          <p:nvPr/>
        </p:nvSpPr>
        <p:spPr bwMode="auto">
          <a:xfrm flipV="1">
            <a:off x="2301875" y="2747963"/>
            <a:ext cx="7921625" cy="46037"/>
          </a:xfrm>
          <a:custGeom>
            <a:avLst/>
            <a:gdLst>
              <a:gd name="T0" fmla="*/ 17408 w 7200265"/>
              <a:gd name="T1" fmla="*/ 0 h 1"/>
              <a:gd name="T2" fmla="*/ 4353 w 7200265"/>
              <a:gd name="T3" fmla="*/ 2147483646 h 1"/>
              <a:gd name="T4" fmla="*/ 17408 w 7200265"/>
              <a:gd name="T5" fmla="*/ 2147483646 h 1"/>
              <a:gd name="T6" fmla="*/ 39169 w 7200265"/>
              <a:gd name="T7" fmla="*/ 2147483646 h 1"/>
              <a:gd name="T8" fmla="*/ 30465 w 7200265"/>
              <a:gd name="T9" fmla="*/ 2147483646 h 1"/>
              <a:gd name="T10" fmla="*/ 21761 w 7200265"/>
              <a:gd name="T11" fmla="*/ 2147483646 h 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7200265"/>
              <a:gd name="T19" fmla="*/ 3163 h 1"/>
              <a:gd name="T20" fmla="*/ 18437 w 7200265"/>
              <a:gd name="T21" fmla="*/ 18437 h 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200265" h="1">
                <a:moveTo>
                  <a:pt x="7200010" y="0"/>
                </a:moveTo>
                <a:lnTo>
                  <a:pt x="0" y="0"/>
                </a:lnTo>
              </a:path>
            </a:pathLst>
          </a:custGeom>
          <a:noFill/>
          <a:ln w="12700" cmpd="sng">
            <a:solidFill>
              <a:srgbClr val="00AFE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40" name="object 9">
            <a:extLst>
              <a:ext uri="{FF2B5EF4-FFF2-40B4-BE49-F238E27FC236}">
                <a16:creationId xmlns:a16="http://schemas.microsoft.com/office/drawing/2014/main" id="{001623C0-7906-8201-7124-DFF26EE3F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8" y="5329238"/>
            <a:ext cx="7440612" cy="137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065" rIns="0" bIns="0">
            <a:spAutoFit/>
          </a:bodyPr>
          <a:lstStyle>
            <a:lvl1pPr marL="1270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FontTx/>
              <a:buNone/>
            </a:pPr>
            <a:r>
              <a:rPr lang="ko-KR" altLang="en-US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김태림</a:t>
            </a:r>
            <a:endParaRPr lang="en-US" altLang="ko-KR" sz="17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eaLnBrk="1" hangingPunct="1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FontTx/>
              <a:buNone/>
            </a:pPr>
            <a:r>
              <a:rPr lang="ko-KR" altLang="en-US" sz="1700" dirty="0" err="1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Distributed</a:t>
            </a:r>
            <a:r>
              <a:rPr lang="ko-KR" altLang="en-US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Network</a:t>
            </a:r>
            <a:r>
              <a:rPr lang="en-US" altLang="ko-KR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s and</a:t>
            </a:r>
            <a:r>
              <a:rPr lang="ko-KR" altLang="en-US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System</a:t>
            </a:r>
            <a:r>
              <a:rPr lang="en-US" altLang="ko-KR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s</a:t>
            </a:r>
            <a:r>
              <a:rPr lang="ko-KR" altLang="en-US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Laboratory</a:t>
            </a:r>
          </a:p>
          <a:p>
            <a:pPr eaLnBrk="1" hangingPunct="1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FontTx/>
              <a:buNone/>
            </a:pPr>
            <a:r>
              <a:rPr lang="ko-KR" altLang="en-US" sz="1700" dirty="0" err="1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Chonnam</a:t>
            </a:r>
            <a:r>
              <a:rPr lang="ko-KR" altLang="en-US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National </a:t>
            </a:r>
            <a:r>
              <a:rPr lang="ko-KR" altLang="en-US" sz="1700" dirty="0" err="1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University</a:t>
            </a:r>
            <a:endParaRPr lang="en-US" altLang="ko-KR" sz="17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eaLnBrk="1" hangingPunct="1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FontTx/>
              <a:buNone/>
            </a:pPr>
            <a:endParaRPr lang="en-US" altLang="ko-KR" sz="17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eaLnBrk="1" hangingPunct="1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FontTx/>
              <a:buNone/>
            </a:pPr>
            <a:endParaRPr lang="ko-KR" altLang="en-US" sz="17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grpSp>
        <p:nvGrpSpPr>
          <p:cNvPr id="14341" name="그룹 21">
            <a:extLst>
              <a:ext uri="{FF2B5EF4-FFF2-40B4-BE49-F238E27FC236}">
                <a16:creationId xmlns:a16="http://schemas.microsoft.com/office/drawing/2014/main" id="{2BD26604-A859-6091-3966-F0A758B50735}"/>
              </a:ext>
            </a:extLst>
          </p:cNvPr>
          <p:cNvGrpSpPr>
            <a:grpSpLocks/>
          </p:cNvGrpSpPr>
          <p:nvPr/>
        </p:nvGrpSpPr>
        <p:grpSpPr bwMode="auto">
          <a:xfrm>
            <a:off x="7721600" y="5508625"/>
            <a:ext cx="2717800" cy="1196975"/>
            <a:chOff x="4864" y="3470"/>
            <a:chExt cx="1712" cy="754"/>
          </a:xfrm>
        </p:grpSpPr>
        <p:pic>
          <p:nvPicPr>
            <p:cNvPr id="14345" name="그림 22">
              <a:extLst>
                <a:ext uri="{FF2B5EF4-FFF2-40B4-BE49-F238E27FC236}">
                  <a16:creationId xmlns:a16="http://schemas.microsoft.com/office/drawing/2014/main" id="{B8CCCADB-F1B8-507A-D438-1FEF24E27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2" y="3470"/>
              <a:ext cx="754" cy="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6" name="그림 23">
              <a:extLst>
                <a:ext uri="{FF2B5EF4-FFF2-40B4-BE49-F238E27FC236}">
                  <a16:creationId xmlns:a16="http://schemas.microsoft.com/office/drawing/2014/main" id="{E1546F52-E935-4855-95DF-2CB604ADF9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4" y="3470"/>
              <a:ext cx="754" cy="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342" name="TextBox 1">
            <a:extLst>
              <a:ext uri="{FF2B5EF4-FFF2-40B4-BE49-F238E27FC236}">
                <a16:creationId xmlns:a16="http://schemas.microsoft.com/office/drawing/2014/main" id="{90F0C7C9-A436-9791-1AC8-3B92B0436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1052513"/>
            <a:ext cx="11545887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3600" b="1" dirty="0">
                <a:solidFill>
                  <a:srgbClr val="FFFFFF"/>
                </a:solidFill>
                <a:cs typeface="Arial" panose="020B0604020202020204" pitchFamily="34" charset="0"/>
              </a:rPr>
              <a:t>온도별 배터리 </a:t>
            </a:r>
            <a:r>
              <a:rPr lang="en-US" altLang="ko-KR" sz="3600" b="1" dirty="0">
                <a:solidFill>
                  <a:srgbClr val="FFFFFF"/>
                </a:solidFill>
                <a:cs typeface="Arial" panose="020B0604020202020204" pitchFamily="34" charset="0"/>
              </a:rPr>
              <a:t>CNN </a:t>
            </a:r>
            <a:r>
              <a:rPr lang="ko-KR" altLang="en-US" sz="3600" b="1" dirty="0">
                <a:solidFill>
                  <a:srgbClr val="FFFFFF"/>
                </a:solidFill>
                <a:cs typeface="Arial" panose="020B0604020202020204" pitchFamily="34" charset="0"/>
              </a:rPr>
              <a:t>실험</a:t>
            </a:r>
          </a:p>
        </p:txBody>
      </p:sp>
      <p:sp>
        <p:nvSpPr>
          <p:cNvPr id="14343" name="灯片编号占位符 1">
            <a:extLst>
              <a:ext uri="{FF2B5EF4-FFF2-40B4-BE49-F238E27FC236}">
                <a16:creationId xmlns:a16="http://schemas.microsoft.com/office/drawing/2014/main" id="{215DD062-A49C-21EE-6F98-A8889597AB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fld id="{8D3CDFC1-69C0-234D-9BE9-1C42EF576458}" type="slidenum">
              <a:rPr lang="zh-CN" altLang="en-US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1</a:t>
            </a:fld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14344" name="Text Box 12">
            <a:extLst>
              <a:ext uri="{FF2B5EF4-FFF2-40B4-BE49-F238E27FC236}">
                <a16:creationId xmlns:a16="http://schemas.microsoft.com/office/drawing/2014/main" id="{085F2C02-63AB-8C0E-3B59-B6A2E3315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" y="74613"/>
            <a:ext cx="38830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zh-C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943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71EFC-01C4-E0B3-7A0D-A04B4BE0C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-1020">
            <a:extLst>
              <a:ext uri="{FF2B5EF4-FFF2-40B4-BE49-F238E27FC236}">
                <a16:creationId xmlns:a16="http://schemas.microsoft.com/office/drawing/2014/main" id="{11B11C2B-8A00-4AAE-5690-745183414B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2800350" cy="6846888"/>
          </a:xfrm>
          <a:prstGeom prst="rect">
            <a:avLst/>
          </a:prstGeom>
          <a:solidFill>
            <a:srgbClr val="204767"/>
          </a:solidFill>
          <a:ln w="25400">
            <a:solidFill>
              <a:srgbClr val="1C334E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2800" b="1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Index</a:t>
            </a:r>
          </a:p>
        </p:txBody>
      </p:sp>
      <p:sp>
        <p:nvSpPr>
          <p:cNvPr id="15362" name="Rectangle -1019">
            <a:extLst>
              <a:ext uri="{FF2B5EF4-FFF2-40B4-BE49-F238E27FC236}">
                <a16:creationId xmlns:a16="http://schemas.microsoft.com/office/drawing/2014/main" id="{A5A352FA-F9D5-AD35-2DF2-30DF56BD229A}"/>
              </a:ext>
            </a:extLst>
          </p:cNvPr>
          <p:cNvSpPr>
            <a:spLocks noChangeAspect="1"/>
          </p:cNvSpPr>
          <p:nvPr/>
        </p:nvSpPr>
        <p:spPr bwMode="auto">
          <a:xfrm>
            <a:off x="3137853" y="2295525"/>
            <a:ext cx="7791450" cy="2255837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ct val="0"/>
              </a:spcAft>
              <a:buAutoNum type="arabicPeriod"/>
            </a:pPr>
            <a:r>
              <a:rPr lang="ko-KR" altLang="en-US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배경 및 </a:t>
            </a:r>
            <a:r>
              <a:rPr lang="en-US" altLang="ko-KR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CNN </a:t>
            </a:r>
            <a:r>
              <a:rPr lang="ko-KR" altLang="en-US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설명</a:t>
            </a:r>
            <a:endParaRPr lang="en-US" altLang="ko-KR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marL="457200" indent="-457200">
              <a:lnSpc>
                <a:spcPct val="100000"/>
              </a:lnSpc>
              <a:spcAft>
                <a:spcPct val="0"/>
              </a:spcAft>
              <a:buAutoNum type="arabicPeriod"/>
            </a:pPr>
            <a:endParaRPr lang="en-US" altLang="ko-KR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marL="457200" indent="-457200">
              <a:lnSpc>
                <a:spcPct val="100000"/>
              </a:lnSpc>
              <a:spcAft>
                <a:spcPct val="0"/>
              </a:spcAft>
              <a:buAutoNum type="arabicPeriod"/>
            </a:pPr>
            <a:r>
              <a:rPr lang="en-US" altLang="ko-KR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1D-CNN </a:t>
            </a:r>
            <a:r>
              <a:rPr lang="ko-KR" altLang="en-US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구조</a:t>
            </a:r>
            <a:endParaRPr lang="en-US" altLang="ko-KR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marL="457200" indent="-457200">
              <a:lnSpc>
                <a:spcPct val="100000"/>
              </a:lnSpc>
              <a:spcAft>
                <a:spcPct val="0"/>
              </a:spcAft>
              <a:buAutoNum type="arabicPeriod"/>
            </a:pPr>
            <a:endParaRPr lang="en-US" altLang="ko-KR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marL="457200" indent="-457200">
              <a:lnSpc>
                <a:spcPct val="100000"/>
              </a:lnSpc>
              <a:spcAft>
                <a:spcPct val="0"/>
              </a:spcAft>
              <a:buAutoNum type="arabicPeriod"/>
            </a:pPr>
            <a:r>
              <a:rPr lang="ko-KR" altLang="en-US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온도별 배터리 실험</a:t>
            </a: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15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607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3229F-8EC9-6AC8-9DEE-CAF7598C6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26453C6A-8E86-E5F1-6ABE-C7B80AC3B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1</a:t>
            </a: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배경 및 </a:t>
            </a: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CNN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설명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545A73DB-C610-1BC4-624D-3B51EEB746CD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744A8082-5E67-D9AE-E40F-674621510B69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F4173D9A-7453-41AA-81D7-D244A10A1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4816DA0E-2351-E6DE-5E38-7E77326D026D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285750" indent="-285750" algn="just">
              <a:lnSpc>
                <a:spcPct val="110000"/>
              </a:lnSpc>
              <a:buClr>
                <a:srgbClr val="595959"/>
              </a:buClr>
              <a:buFont typeface="Wingdings" panose="05000000000000000000" pitchFamily="2" charset="2"/>
              <a:buChar char="§"/>
              <a:defRPr/>
            </a:pPr>
            <a:endParaRPr lang="en-US" altLang="ko-KR" b="1" dirty="0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0000"/>
              </a:lnSpc>
              <a:buClr>
                <a:srgbClr val="595959"/>
              </a:buClr>
              <a:buFont typeface="Wingdings" panose="05000000000000000000" pitchFamily="2" charset="2"/>
              <a:buChar char="§"/>
              <a:defRPr/>
            </a:pPr>
            <a:endParaRPr lang="en-US" altLang="ko-KR" b="1" dirty="0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0000"/>
              </a:lnSpc>
              <a:buClr>
                <a:srgbClr val="595959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b="1" dirty="0">
                <a:cs typeface="Arial" panose="020B0604020202020204" pitchFamily="34" charset="0"/>
              </a:rPr>
              <a:t>배경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이전 </a:t>
            </a:r>
            <a:r>
              <a:rPr lang="en-US" altLang="ko-KR" dirty="0">
                <a:cs typeface="Arial" panose="020B0604020202020204" pitchFamily="34" charset="0"/>
              </a:rPr>
              <a:t>LSTM </a:t>
            </a:r>
            <a:r>
              <a:rPr lang="ko-KR" altLang="en-US" dirty="0">
                <a:cs typeface="Arial" panose="020B0604020202020204" pitchFamily="34" charset="0"/>
              </a:rPr>
              <a:t>연구에서 </a:t>
            </a:r>
            <a:r>
              <a:rPr lang="en-US" altLang="ko-KR" dirty="0">
                <a:cs typeface="Arial" panose="020B0604020202020204" pitchFamily="34" charset="0"/>
              </a:rPr>
              <a:t>SOH</a:t>
            </a:r>
            <a:r>
              <a:rPr lang="ko-KR" altLang="en-US" dirty="0">
                <a:cs typeface="Arial" panose="020B0604020202020204" pitchFamily="34" charset="0"/>
              </a:rPr>
              <a:t>를 시계열 문제로 접근하고</a:t>
            </a:r>
            <a:r>
              <a:rPr lang="en-US" altLang="ko-KR" dirty="0">
                <a:cs typeface="Arial" panose="020B0604020202020204" pitchFamily="34" charset="0"/>
              </a:rPr>
              <a:t>, Capacity, Re, </a:t>
            </a:r>
            <a:r>
              <a:rPr lang="en-US" altLang="ko-KR" dirty="0" err="1">
                <a:cs typeface="Arial" panose="020B0604020202020204" pitchFamily="34" charset="0"/>
              </a:rPr>
              <a:t>Rct</a:t>
            </a:r>
            <a:r>
              <a:rPr lang="ko-KR" altLang="en-US" dirty="0">
                <a:cs typeface="Arial" panose="020B0604020202020204" pitchFamily="34" charset="0"/>
              </a:rPr>
              <a:t>를 병합</a:t>
            </a:r>
            <a:r>
              <a:rPr lang="en-US" altLang="ko-KR" dirty="0">
                <a:cs typeface="Arial" panose="020B0604020202020204" pitchFamily="34" charset="0"/>
              </a:rPr>
              <a:t>/</a:t>
            </a:r>
            <a:r>
              <a:rPr lang="ko-KR" altLang="en-US" dirty="0" err="1">
                <a:cs typeface="Arial" panose="020B0604020202020204" pitchFamily="34" charset="0"/>
              </a:rPr>
              <a:t>보간하여</a:t>
            </a:r>
            <a:r>
              <a:rPr lang="ko-KR" altLang="en-US" dirty="0">
                <a:cs typeface="Arial" panose="020B0604020202020204" pitchFamily="34" charset="0"/>
              </a:rPr>
              <a:t> </a:t>
            </a:r>
            <a:r>
              <a:rPr lang="en-US" altLang="ko-KR" dirty="0">
                <a:cs typeface="Arial" panose="020B0604020202020204" pitchFamily="34" charset="0"/>
              </a:rPr>
              <a:t>LSTM </a:t>
            </a:r>
            <a:r>
              <a:rPr lang="ko-KR" altLang="en-US" dirty="0">
                <a:cs typeface="Arial" panose="020B0604020202020204" pitchFamily="34" charset="0"/>
              </a:rPr>
              <a:t>모델로 </a:t>
            </a:r>
            <a:r>
              <a:rPr lang="en-US" altLang="ko-KR" dirty="0">
                <a:cs typeface="Arial" panose="020B0604020202020204" pitchFamily="34" charset="0"/>
              </a:rPr>
              <a:t>SOH </a:t>
            </a:r>
            <a:r>
              <a:rPr lang="ko-KR" altLang="en-US" dirty="0">
                <a:cs typeface="Arial" panose="020B0604020202020204" pitchFamily="34" charset="0"/>
              </a:rPr>
              <a:t>예측을 시도함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선행 연구의 인사이트에서 제안된 </a:t>
            </a:r>
            <a:r>
              <a:rPr lang="en-US" altLang="ko-KR" dirty="0">
                <a:cs typeface="Arial" panose="020B0604020202020204" pitchFamily="34" charset="0"/>
              </a:rPr>
              <a:t>CNN </a:t>
            </a:r>
            <a:r>
              <a:rPr lang="ko-KR" altLang="en-US" dirty="0">
                <a:cs typeface="Arial" panose="020B0604020202020204" pitchFamily="34" charset="0"/>
              </a:rPr>
              <a:t>모델을 적용하는 것을 목표로 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0000"/>
              </a:lnSpc>
              <a:buClr>
                <a:srgbClr val="595959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b="1" dirty="0">
                <a:cs typeface="Arial" panose="020B0604020202020204" pitchFamily="34" charset="0"/>
              </a:rPr>
              <a:t>1D-CNN </a:t>
            </a:r>
            <a:r>
              <a:rPr lang="ko-KR" altLang="en-US" b="1" dirty="0">
                <a:cs typeface="Arial" panose="020B0604020202020204" pitchFamily="34" charset="0"/>
              </a:rPr>
              <a:t>모델</a:t>
            </a:r>
            <a:endParaRPr lang="en-US" altLang="ko-KR" b="1" dirty="0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0000"/>
              </a:lnSpc>
              <a:buClr>
                <a:srgbClr val="595959"/>
              </a:buClr>
              <a:buFontTx/>
              <a:buChar char="-"/>
              <a:defRPr/>
            </a:pPr>
            <a:r>
              <a:rPr lang="en-US" altLang="ko-KR" dirty="0">
                <a:latin typeface="+mj-ea"/>
                <a:ea typeface="+mj-ea"/>
                <a:cs typeface="Arial" panose="020B0604020202020204" pitchFamily="34" charset="0"/>
              </a:rPr>
              <a:t>1D-CNN(Conv1D): </a:t>
            </a:r>
            <a:r>
              <a:rPr lang="ko-KR" altLang="en-US" dirty="0">
                <a:latin typeface="+mj-ea"/>
                <a:ea typeface="+mj-ea"/>
                <a:cs typeface="Arial" panose="020B0604020202020204" pitchFamily="34" charset="0"/>
              </a:rPr>
              <a:t>시계열</a:t>
            </a:r>
            <a:r>
              <a:rPr lang="en-US" altLang="ko-KR" dirty="0"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dirty="0">
                <a:latin typeface="+mj-ea"/>
                <a:ea typeface="+mj-ea"/>
                <a:cs typeface="Arial" panose="020B0604020202020204" pitchFamily="34" charset="0"/>
              </a:rPr>
              <a:t>텍스트 등 </a:t>
            </a:r>
            <a:r>
              <a:rPr lang="en-US" altLang="ko-KR" dirty="0">
                <a:latin typeface="+mj-ea"/>
                <a:ea typeface="+mj-ea"/>
                <a:cs typeface="Arial" panose="020B0604020202020204" pitchFamily="34" charset="0"/>
              </a:rPr>
              <a:t>1</a:t>
            </a:r>
            <a:r>
              <a:rPr lang="ko-KR" altLang="en-US" dirty="0">
                <a:latin typeface="+mj-ea"/>
                <a:ea typeface="+mj-ea"/>
                <a:cs typeface="Arial" panose="020B0604020202020204" pitchFamily="34" charset="0"/>
              </a:rPr>
              <a:t>차원 순차 데이터의 패턴 추출에 특화된 딥러닝 모델</a:t>
            </a:r>
            <a:r>
              <a:rPr lang="en-US" altLang="ko-KR" dirty="0">
                <a:latin typeface="+mj-ea"/>
                <a:ea typeface="+mj-ea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lnSpc>
                <a:spcPct val="110000"/>
              </a:lnSpc>
              <a:buClr>
                <a:srgbClr val="595959"/>
              </a:buClr>
              <a:buFontTx/>
              <a:buChar char="-"/>
              <a:defRPr/>
            </a:pPr>
            <a:r>
              <a:rPr lang="ko-KR" altLang="en-US" dirty="0">
                <a:latin typeface="+mj-ea"/>
                <a:ea typeface="+mj-ea"/>
                <a:cs typeface="Arial" panose="020B0604020202020204" pitchFamily="34" charset="0"/>
              </a:rPr>
              <a:t>작동원리</a:t>
            </a:r>
            <a:r>
              <a:rPr lang="en-US" altLang="ko-KR" dirty="0">
                <a:latin typeface="+mj-ea"/>
                <a:ea typeface="+mj-ea"/>
                <a:cs typeface="Arial" panose="020B0604020202020204" pitchFamily="34" charset="0"/>
              </a:rPr>
              <a:t>: </a:t>
            </a:r>
            <a:r>
              <a:rPr lang="ko-KR" altLang="en-US" dirty="0">
                <a:latin typeface="+mj-ea"/>
                <a:ea typeface="+mj-ea"/>
                <a:cs typeface="Arial" panose="020B0604020202020204" pitchFamily="34" charset="0"/>
              </a:rPr>
              <a:t>필터</a:t>
            </a:r>
            <a:r>
              <a:rPr lang="en-US" altLang="ko-KR" dirty="0"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dirty="0">
                <a:latin typeface="+mj-ea"/>
                <a:ea typeface="+mj-ea"/>
                <a:cs typeface="Arial" panose="020B0604020202020204" pitchFamily="34" charset="0"/>
              </a:rPr>
              <a:t>커널</a:t>
            </a:r>
            <a:r>
              <a:rPr lang="en-US" altLang="ko-KR" dirty="0">
                <a:latin typeface="+mj-ea"/>
                <a:ea typeface="+mj-ea"/>
                <a:cs typeface="Arial" panose="020B0604020202020204" pitchFamily="34" charset="0"/>
              </a:rPr>
              <a:t>)</a:t>
            </a:r>
            <a:r>
              <a:rPr lang="ko-KR" altLang="en-US" dirty="0">
                <a:latin typeface="+mj-ea"/>
                <a:ea typeface="+mj-ea"/>
                <a:cs typeface="Arial" panose="020B0604020202020204" pitchFamily="34" charset="0"/>
              </a:rPr>
              <a:t>가 시퀀스를 따라 이동하며 데이터의 특징적인 모양이나 패턴을 포착</a:t>
            </a:r>
            <a:r>
              <a:rPr lang="en-US" altLang="ko-KR" dirty="0">
                <a:latin typeface="+mj-ea"/>
                <a:ea typeface="+mj-ea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     </a:t>
            </a:r>
            <a:endParaRPr lang="en-US" altLang="ko-KR" dirty="0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0000"/>
              </a:lnSpc>
              <a:buFontTx/>
              <a:buChar char="-"/>
              <a:defRPr/>
            </a:pP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510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6D5C0-B380-019A-0D2B-B2C6B6506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직사각형 3">
            <a:extLst>
              <a:ext uri="{FF2B5EF4-FFF2-40B4-BE49-F238E27FC236}">
                <a16:creationId xmlns:a16="http://schemas.microsoft.com/office/drawing/2014/main" id="{D34B7D0C-74E6-498D-0B4C-CFEF29F60524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2. 1D-CNN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구조</a:t>
            </a:r>
          </a:p>
        </p:txBody>
      </p:sp>
      <p:grpSp>
        <p:nvGrpSpPr>
          <p:cNvPr id="17410" name="그룹 21">
            <a:extLst>
              <a:ext uri="{FF2B5EF4-FFF2-40B4-BE49-F238E27FC236}">
                <a16:creationId xmlns:a16="http://schemas.microsoft.com/office/drawing/2014/main" id="{37936354-894E-8FFB-DC99-A3C23678576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690221" y="850900"/>
            <a:ext cx="1227137" cy="539750"/>
            <a:chOff x="8305800" y="5904191"/>
            <a:chExt cx="2063631" cy="909502"/>
          </a:xfrm>
        </p:grpSpPr>
        <p:pic>
          <p:nvPicPr>
            <p:cNvPr id="17419" name="그림 22">
              <a:extLst>
                <a:ext uri="{FF2B5EF4-FFF2-40B4-BE49-F238E27FC236}">
                  <a16:creationId xmlns:a16="http://schemas.microsoft.com/office/drawing/2014/main" id="{EF68404F-627B-681C-2144-6BF61FF2E9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9929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그림 23">
              <a:extLst>
                <a:ext uri="{FF2B5EF4-FFF2-40B4-BE49-F238E27FC236}">
                  <a16:creationId xmlns:a16="http://schemas.microsoft.com/office/drawing/2014/main" id="{3A6E8658-F8AF-EE78-583B-B16D8A648C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5800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灯片编号占位符 2">
            <a:extLst>
              <a:ext uri="{FF2B5EF4-FFF2-40B4-BE49-F238E27FC236}">
                <a16:creationId xmlns:a16="http://schemas.microsoft.com/office/drawing/2014/main" id="{82DFE0AD-40A8-4D89-2835-9B55CE5D8F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0" hangingPunct="0">
              <a:lnSpc>
                <a:spcPct val="100000"/>
              </a:lnSpc>
              <a:spcAft>
                <a:spcPct val="0"/>
              </a:spcAft>
              <a:buFontTx/>
              <a:buNone/>
            </a:pPr>
            <a:fld id="{8AEA4A16-1955-5F4E-9B7D-28267E1B830A}" type="slidenum">
              <a:rPr lang="ko-KR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eaLnBrk="0" hangingPunct="0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4</a:t>
            </a:fld>
            <a:endParaRPr lang="ko-KR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17412" name="Rectangle 8">
            <a:extLst>
              <a:ext uri="{FF2B5EF4-FFF2-40B4-BE49-F238E27FC236}">
                <a16:creationId xmlns:a16="http://schemas.microsoft.com/office/drawing/2014/main" id="{1CB9EE72-A68E-0A43-EEE4-F58EB0A17C61}"/>
              </a:ext>
            </a:extLst>
          </p:cNvPr>
          <p:cNvSpPr>
            <a:spLocks noChangeAspect="1"/>
          </p:cNvSpPr>
          <p:nvPr/>
        </p:nvSpPr>
        <p:spPr bwMode="auto">
          <a:xfrm>
            <a:off x="180975" y="850900"/>
            <a:ext cx="11736388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en-US" altLang="ko-KR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r>
              <a:rPr lang="ko-KR" altLang="en-US" sz="1600" dirty="0" err="1">
                <a:cs typeface="Arial" panose="020B0604020202020204" pitchFamily="34" charset="0"/>
              </a:rPr>
              <a:t>모델별</a:t>
            </a:r>
            <a:r>
              <a:rPr lang="ko-KR" altLang="en-US" sz="1600" dirty="0">
                <a:cs typeface="Arial" panose="020B0604020202020204" pitchFamily="34" charset="0"/>
              </a:rPr>
              <a:t> 비교를 위해 선행 연구에서 사용한 병합 및 선형 </a:t>
            </a:r>
            <a:r>
              <a:rPr lang="ko-KR" altLang="en-US" sz="1600" dirty="0" err="1">
                <a:cs typeface="Arial" panose="020B0604020202020204" pitchFamily="34" charset="0"/>
              </a:rPr>
              <a:t>보간을</a:t>
            </a:r>
            <a:r>
              <a:rPr lang="ko-KR" altLang="en-US" sz="1600" dirty="0">
                <a:cs typeface="Arial" panose="020B0604020202020204" pitchFamily="34" charset="0"/>
              </a:rPr>
              <a:t> 그대로 사용</a:t>
            </a:r>
            <a:r>
              <a:rPr lang="en-US" altLang="ko-KR" sz="1600" dirty="0">
                <a:cs typeface="Arial" panose="020B0604020202020204" pitchFamily="34" charset="0"/>
              </a:rPr>
              <a:t>, </a:t>
            </a:r>
          </a:p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r>
              <a:rPr lang="ko-KR" altLang="en-US" sz="1600" dirty="0">
                <a:cs typeface="Arial" panose="020B0604020202020204" pitchFamily="34" charset="0"/>
              </a:rPr>
              <a:t>또한 시퀀스 생성도 동일 값 </a:t>
            </a:r>
            <a:r>
              <a:rPr lang="en-US" altLang="ko-KR" sz="1600" dirty="0" err="1">
                <a:cs typeface="Arial" panose="020B0604020202020204" pitchFamily="34" charset="0"/>
              </a:rPr>
              <a:t>seq_len</a:t>
            </a:r>
            <a:r>
              <a:rPr lang="en-US" altLang="ko-KR" sz="1600" dirty="0">
                <a:cs typeface="Arial" panose="020B0604020202020204" pitchFamily="34" charset="0"/>
              </a:rPr>
              <a:t>=10</a:t>
            </a:r>
            <a:r>
              <a:rPr lang="ko-KR" altLang="en-US" sz="1600" dirty="0">
                <a:cs typeface="Arial" panose="020B0604020202020204" pitchFamily="34" charset="0"/>
              </a:rPr>
              <a:t>으로 설정</a:t>
            </a:r>
            <a:r>
              <a:rPr lang="en-US" altLang="ko-KR" sz="1600" dirty="0">
                <a:cs typeface="Arial" panose="020B0604020202020204" pitchFamily="34" charset="0"/>
              </a:rPr>
              <a:t>.</a:t>
            </a: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endParaRPr lang="en-US" altLang="ko-KR" sz="1300" i="1" u="sng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US" altLang="ko-KR" sz="1600" dirty="0">
                <a:cs typeface="Arial" panose="020B0604020202020204" pitchFamily="34" charset="0"/>
              </a:rPr>
              <a:t>- </a:t>
            </a:r>
            <a:r>
              <a:rPr lang="ko-KR" altLang="en-US" sz="1600" dirty="0">
                <a:cs typeface="Arial" panose="020B0604020202020204" pitchFamily="34" charset="0"/>
              </a:rPr>
              <a:t>모델 구조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US" altLang="ko-KR" sz="1600" dirty="0">
                <a:cs typeface="Arial" panose="020B0604020202020204" pitchFamily="34" charset="0"/>
              </a:rPr>
              <a:t>2</a:t>
            </a:r>
            <a:r>
              <a:rPr lang="ko-KR" altLang="en-US" sz="1600" dirty="0">
                <a:cs typeface="Arial" panose="020B0604020202020204" pitchFamily="34" charset="0"/>
              </a:rPr>
              <a:t>개의 </a:t>
            </a:r>
            <a:r>
              <a:rPr lang="en-US" altLang="ko-KR" sz="1600" dirty="0">
                <a:cs typeface="Arial" panose="020B0604020202020204" pitchFamily="34" charset="0"/>
              </a:rPr>
              <a:t>Conv1D </a:t>
            </a:r>
            <a:r>
              <a:rPr lang="ko-KR" altLang="en-US" sz="1600" dirty="0">
                <a:cs typeface="Arial" panose="020B0604020202020204" pitchFamily="34" charset="0"/>
              </a:rPr>
              <a:t>레이어와 </a:t>
            </a:r>
            <a:r>
              <a:rPr lang="en-US" altLang="ko-KR" sz="1600" dirty="0">
                <a:cs typeface="Arial" panose="020B0604020202020204" pitchFamily="34" charset="0"/>
              </a:rPr>
              <a:t>2</a:t>
            </a:r>
            <a:r>
              <a:rPr lang="ko-KR" altLang="en-US" sz="1600" dirty="0">
                <a:cs typeface="Arial" panose="020B0604020202020204" pitchFamily="34" charset="0"/>
              </a:rPr>
              <a:t>개의 </a:t>
            </a:r>
            <a:r>
              <a:rPr lang="en-US" altLang="ko-KR" sz="1600" dirty="0">
                <a:cs typeface="Arial" panose="020B0604020202020204" pitchFamily="34" charset="0"/>
              </a:rPr>
              <a:t>Dense </a:t>
            </a:r>
            <a:r>
              <a:rPr lang="ko-KR" altLang="en-US" sz="1600" dirty="0">
                <a:cs typeface="Arial" panose="020B0604020202020204" pitchFamily="34" charset="0"/>
              </a:rPr>
              <a:t>레이어로 구성된 모델</a:t>
            </a:r>
            <a:r>
              <a:rPr lang="en-US" altLang="ko-KR" sz="1600" dirty="0">
                <a:cs typeface="Arial" panose="020B0604020202020204" pitchFamily="34" charset="0"/>
              </a:rPr>
              <a:t>.</a:t>
            </a: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US" altLang="ko-KR" sz="1600" dirty="0">
                <a:cs typeface="Arial" panose="020B0604020202020204" pitchFamily="34" charset="0"/>
              </a:rPr>
              <a:t>Flatten </a:t>
            </a:r>
            <a:r>
              <a:rPr lang="ko-KR" altLang="en-US" sz="1600" dirty="0">
                <a:cs typeface="Arial" panose="020B0604020202020204" pitchFamily="34" charset="0"/>
              </a:rPr>
              <a:t>레이어를 통해 </a:t>
            </a:r>
            <a:r>
              <a:rPr lang="en-US" altLang="ko-KR" sz="1600" dirty="0">
                <a:cs typeface="Arial" panose="020B0604020202020204" pitchFamily="34" charset="0"/>
              </a:rPr>
              <a:t>Conv1D</a:t>
            </a:r>
            <a:r>
              <a:rPr lang="ko-KR" altLang="en-US" sz="1600" dirty="0">
                <a:cs typeface="Arial" panose="020B0604020202020204" pitchFamily="34" charset="0"/>
              </a:rPr>
              <a:t>로 추출한 패턴을 </a:t>
            </a:r>
            <a:r>
              <a:rPr lang="en-US" altLang="ko-KR" sz="1600" dirty="0">
                <a:cs typeface="Arial" panose="020B0604020202020204" pitchFamily="34" charset="0"/>
              </a:rPr>
              <a:t>1</a:t>
            </a:r>
            <a:r>
              <a:rPr lang="ko-KR" altLang="en-US" sz="1600" dirty="0">
                <a:cs typeface="Arial" panose="020B0604020202020204" pitchFamily="34" charset="0"/>
              </a:rPr>
              <a:t>차원으로 펼쳐 </a:t>
            </a:r>
            <a:r>
              <a:rPr lang="en-US" altLang="ko-KR" sz="1600" dirty="0">
                <a:cs typeface="Arial" panose="020B0604020202020204" pitchFamily="34" charset="0"/>
              </a:rPr>
              <a:t>Dense</a:t>
            </a:r>
            <a:r>
              <a:rPr lang="ko-KR" altLang="en-US" sz="1600" dirty="0">
                <a:cs typeface="Arial" panose="020B0604020202020204" pitchFamily="34" charset="0"/>
              </a:rPr>
              <a:t> 레이어에 전달</a:t>
            </a:r>
            <a:r>
              <a:rPr lang="en-US" altLang="ko-KR" sz="1600" dirty="0">
                <a:cs typeface="Arial" panose="020B0604020202020204" pitchFamily="34" charset="0"/>
              </a:rPr>
              <a:t>.</a:t>
            </a:r>
            <a:endParaRPr lang="ko-KR" altLang="en-US" sz="1600" dirty="0"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22EDA7-D704-0763-C143-3FD66E97D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637" y="3816221"/>
            <a:ext cx="4401794" cy="265681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F6E5F98-3967-5E3C-6EA0-2C1F58854E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2003" y="3816221"/>
            <a:ext cx="5056510" cy="265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259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BE3B3-99B9-ACD9-827F-5F553BCB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직사각형 3">
            <a:extLst>
              <a:ext uri="{FF2B5EF4-FFF2-40B4-BE49-F238E27FC236}">
                <a16:creationId xmlns:a16="http://schemas.microsoft.com/office/drawing/2014/main" id="{0DB6BBD3-4E07-69BA-256E-00A070ED66E9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온도별 배터리 실험</a:t>
            </a:r>
          </a:p>
        </p:txBody>
      </p:sp>
      <p:grpSp>
        <p:nvGrpSpPr>
          <p:cNvPr id="17410" name="그룹 21">
            <a:extLst>
              <a:ext uri="{FF2B5EF4-FFF2-40B4-BE49-F238E27FC236}">
                <a16:creationId xmlns:a16="http://schemas.microsoft.com/office/drawing/2014/main" id="{B887688F-200C-E8FC-70BA-07A27DE657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690225" y="850900"/>
            <a:ext cx="1227138" cy="539750"/>
            <a:chOff x="8305800" y="5904191"/>
            <a:chExt cx="2063631" cy="909502"/>
          </a:xfrm>
        </p:grpSpPr>
        <p:pic>
          <p:nvPicPr>
            <p:cNvPr id="17419" name="그림 22">
              <a:extLst>
                <a:ext uri="{FF2B5EF4-FFF2-40B4-BE49-F238E27FC236}">
                  <a16:creationId xmlns:a16="http://schemas.microsoft.com/office/drawing/2014/main" id="{23A1CC47-7B33-FBD7-2796-A801EDF6E9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9929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그림 23">
              <a:extLst>
                <a:ext uri="{FF2B5EF4-FFF2-40B4-BE49-F238E27FC236}">
                  <a16:creationId xmlns:a16="http://schemas.microsoft.com/office/drawing/2014/main" id="{28D7D7FE-033C-E645-F9CE-534836C4A0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5800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灯片编号占位符 2">
            <a:extLst>
              <a:ext uri="{FF2B5EF4-FFF2-40B4-BE49-F238E27FC236}">
                <a16:creationId xmlns:a16="http://schemas.microsoft.com/office/drawing/2014/main" id="{65B2B392-B915-6813-DE38-8C4CC6553A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0" hangingPunct="0">
              <a:lnSpc>
                <a:spcPct val="100000"/>
              </a:lnSpc>
              <a:spcAft>
                <a:spcPct val="0"/>
              </a:spcAft>
              <a:buFontTx/>
              <a:buNone/>
            </a:pPr>
            <a:fld id="{8AEA4A16-1955-5F4E-9B7D-28267E1B830A}" type="slidenum">
              <a:rPr lang="ko-KR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eaLnBrk="0" hangingPunct="0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5</a:t>
            </a:fld>
            <a:endParaRPr lang="ko-KR" altLang="en-US" dirty="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17412" name="Rectangle 8">
            <a:extLst>
              <a:ext uri="{FF2B5EF4-FFF2-40B4-BE49-F238E27FC236}">
                <a16:creationId xmlns:a16="http://schemas.microsoft.com/office/drawing/2014/main" id="{61869926-A435-8CAF-C17A-BF581E6FF43A}"/>
              </a:ext>
            </a:extLst>
          </p:cNvPr>
          <p:cNvSpPr>
            <a:spLocks noChangeAspect="1"/>
          </p:cNvSpPr>
          <p:nvPr/>
        </p:nvSpPr>
        <p:spPr bwMode="auto">
          <a:xfrm>
            <a:off x="180975" y="850900"/>
            <a:ext cx="11736388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>
              <a:lnSpc>
                <a:spcPct val="110000"/>
              </a:lnSpc>
              <a:buClr>
                <a:srgbClr val="595959"/>
              </a:buClr>
              <a:buFont typeface="Wingdings" pitchFamily="2" charset="2"/>
              <a:buChar char="§"/>
              <a:defRPr/>
            </a:pPr>
            <a:r>
              <a:rPr lang="ko-KR" altLang="en-US" b="1" dirty="0">
                <a:cs typeface="Arial" panose="020B0604020202020204" pitchFamily="34" charset="0"/>
              </a:rPr>
              <a:t>  </a:t>
            </a:r>
            <a:r>
              <a:rPr lang="en-US" altLang="ko-KR" b="1" dirty="0">
                <a:cs typeface="Arial" panose="020B0604020202020204" pitchFamily="34" charset="0"/>
              </a:rPr>
              <a:t> </a:t>
            </a:r>
            <a:r>
              <a:rPr lang="ko-KR" altLang="en-US" b="1" dirty="0">
                <a:cs typeface="Arial" panose="020B0604020202020204" pitchFamily="34" charset="0"/>
              </a:rPr>
              <a:t>저온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b="1" dirty="0">
                <a:cs typeface="Arial" panose="020B0604020202020204" pitchFamily="34" charset="0"/>
              </a:rPr>
              <a:t>55</a:t>
            </a:r>
            <a:r>
              <a:rPr lang="ko-KR" altLang="en-US" b="1" dirty="0">
                <a:cs typeface="Arial" panose="020B0604020202020204" pitchFamily="34" charset="0"/>
              </a:rPr>
              <a:t>번 배터리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ko-KR" altLang="en-US" sz="1600" dirty="0">
                <a:cs typeface="Arial" panose="020B0604020202020204" pitchFamily="34" charset="0"/>
              </a:rPr>
              <a:t>노이즈가 심한 데이터에서는 </a:t>
            </a:r>
            <a:r>
              <a:rPr lang="en-US" altLang="ko-KR" sz="1600" dirty="0">
                <a:cs typeface="Arial" panose="020B0604020202020204" pitchFamily="34" charset="0"/>
              </a:rPr>
              <a:t>LSTM</a:t>
            </a:r>
            <a:r>
              <a:rPr lang="ko-KR" altLang="en-US" sz="1600" dirty="0">
                <a:cs typeface="Arial" panose="020B0604020202020204" pitchFamily="34" charset="0"/>
              </a:rPr>
              <a:t>이 </a:t>
            </a:r>
            <a:r>
              <a:rPr lang="en-US" altLang="ko-KR" sz="1600" dirty="0">
                <a:cs typeface="Arial" panose="020B0604020202020204" pitchFamily="34" charset="0"/>
              </a:rPr>
              <a:t>CNN</a:t>
            </a:r>
            <a:r>
              <a:rPr lang="ko-KR" altLang="en-US" sz="1600" dirty="0">
                <a:cs typeface="Arial" panose="020B0604020202020204" pitchFamily="34" charset="0"/>
              </a:rPr>
              <a:t>보다 조금 더 낮은 오차로 예측함</a:t>
            </a:r>
            <a:r>
              <a:rPr lang="en-US" altLang="ko-KR" sz="1600" dirty="0">
                <a:cs typeface="Arial" panose="020B0604020202020204" pitchFamily="34" charset="0"/>
              </a:rPr>
              <a:t>.</a:t>
            </a:r>
          </a:p>
          <a:p>
            <a:pPr algn="just" eaLnBrk="1">
              <a:lnSpc>
                <a:spcPct val="110000"/>
              </a:lnSpc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762D1F-19C1-6735-2849-E4D22AD1B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3744" y="2102689"/>
            <a:ext cx="8984512" cy="413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206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A13E1-F8C6-FB0A-039D-9FF5020B2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직사각형 3">
            <a:extLst>
              <a:ext uri="{FF2B5EF4-FFF2-40B4-BE49-F238E27FC236}">
                <a16:creationId xmlns:a16="http://schemas.microsoft.com/office/drawing/2014/main" id="{C382CD89-2B86-867C-A868-6AA8BBF3BFD9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온도별 배터리 실험</a:t>
            </a:r>
          </a:p>
        </p:txBody>
      </p:sp>
      <p:grpSp>
        <p:nvGrpSpPr>
          <p:cNvPr id="17410" name="그룹 21">
            <a:extLst>
              <a:ext uri="{FF2B5EF4-FFF2-40B4-BE49-F238E27FC236}">
                <a16:creationId xmlns:a16="http://schemas.microsoft.com/office/drawing/2014/main" id="{80C92E73-0FAF-6F29-BEF0-13DEECF1434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690225" y="850900"/>
            <a:ext cx="1227138" cy="539750"/>
            <a:chOff x="8305800" y="5904191"/>
            <a:chExt cx="2063631" cy="909502"/>
          </a:xfrm>
        </p:grpSpPr>
        <p:pic>
          <p:nvPicPr>
            <p:cNvPr id="17419" name="그림 22">
              <a:extLst>
                <a:ext uri="{FF2B5EF4-FFF2-40B4-BE49-F238E27FC236}">
                  <a16:creationId xmlns:a16="http://schemas.microsoft.com/office/drawing/2014/main" id="{A04D0C35-B302-EFD4-65F5-9DDCFFD7FD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9929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그림 23">
              <a:extLst>
                <a:ext uri="{FF2B5EF4-FFF2-40B4-BE49-F238E27FC236}">
                  <a16:creationId xmlns:a16="http://schemas.microsoft.com/office/drawing/2014/main" id="{17F9303A-6F67-FA77-4F2A-7954398F91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5800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灯片编号占位符 2">
            <a:extLst>
              <a:ext uri="{FF2B5EF4-FFF2-40B4-BE49-F238E27FC236}">
                <a16:creationId xmlns:a16="http://schemas.microsoft.com/office/drawing/2014/main" id="{0C780254-D09A-AD1E-5411-700DEE88AE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0" hangingPunct="0">
              <a:lnSpc>
                <a:spcPct val="100000"/>
              </a:lnSpc>
              <a:spcAft>
                <a:spcPct val="0"/>
              </a:spcAft>
              <a:buFontTx/>
              <a:buNone/>
            </a:pPr>
            <a:fld id="{8AEA4A16-1955-5F4E-9B7D-28267E1B830A}" type="slidenum">
              <a:rPr lang="ko-KR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eaLnBrk="0" hangingPunct="0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6</a:t>
            </a:fld>
            <a:endParaRPr lang="ko-KR" altLang="en-US" dirty="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17412" name="Rectangle 8">
            <a:extLst>
              <a:ext uri="{FF2B5EF4-FFF2-40B4-BE49-F238E27FC236}">
                <a16:creationId xmlns:a16="http://schemas.microsoft.com/office/drawing/2014/main" id="{13A65736-A0ED-FF8B-E6F6-228F6174B8D9}"/>
              </a:ext>
            </a:extLst>
          </p:cNvPr>
          <p:cNvSpPr>
            <a:spLocks noChangeAspect="1"/>
          </p:cNvSpPr>
          <p:nvPr/>
        </p:nvSpPr>
        <p:spPr bwMode="auto">
          <a:xfrm>
            <a:off x="180975" y="850900"/>
            <a:ext cx="11736388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>
              <a:lnSpc>
                <a:spcPct val="110000"/>
              </a:lnSpc>
              <a:buClr>
                <a:srgbClr val="595959"/>
              </a:buClr>
              <a:buFont typeface="Wingdings" pitchFamily="2" charset="2"/>
              <a:buChar char="§"/>
              <a:defRPr/>
            </a:pPr>
            <a:r>
              <a:rPr lang="ko-KR" altLang="en-US" b="1" dirty="0">
                <a:cs typeface="Arial" panose="020B0604020202020204" pitchFamily="34" charset="0"/>
              </a:rPr>
              <a:t>  </a:t>
            </a:r>
            <a:r>
              <a:rPr lang="en-US" altLang="ko-KR" b="1" dirty="0">
                <a:cs typeface="Arial" panose="020B0604020202020204" pitchFamily="34" charset="0"/>
              </a:rPr>
              <a:t> </a:t>
            </a:r>
            <a:r>
              <a:rPr lang="ko-KR" altLang="en-US" b="1" dirty="0">
                <a:cs typeface="Arial" panose="020B0604020202020204" pitchFamily="34" charset="0"/>
              </a:rPr>
              <a:t>저온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b="1" dirty="0">
                <a:cs typeface="Arial" panose="020B0604020202020204" pitchFamily="34" charset="0"/>
              </a:rPr>
              <a:t>56</a:t>
            </a:r>
            <a:r>
              <a:rPr lang="ko-KR" altLang="en-US" b="1" dirty="0">
                <a:cs typeface="Arial" panose="020B0604020202020204" pitchFamily="34" charset="0"/>
              </a:rPr>
              <a:t>번 배터리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7399113-2D16-2CAB-260F-952B6C349A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0625" y="1724967"/>
            <a:ext cx="9068640" cy="418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985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71441-1145-6A74-F412-86F8BED4A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직사각형 3">
            <a:extLst>
              <a:ext uri="{FF2B5EF4-FFF2-40B4-BE49-F238E27FC236}">
                <a16:creationId xmlns:a16="http://schemas.microsoft.com/office/drawing/2014/main" id="{E8F64A74-628E-6D9A-EC72-2AEA32691F43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온도별 배터리 실험</a:t>
            </a:r>
          </a:p>
        </p:txBody>
      </p:sp>
      <p:grpSp>
        <p:nvGrpSpPr>
          <p:cNvPr id="17410" name="그룹 21">
            <a:extLst>
              <a:ext uri="{FF2B5EF4-FFF2-40B4-BE49-F238E27FC236}">
                <a16:creationId xmlns:a16="http://schemas.microsoft.com/office/drawing/2014/main" id="{17533E06-6BF8-3154-E7A4-E1EBF2D2DE4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690225" y="850900"/>
            <a:ext cx="1227138" cy="539750"/>
            <a:chOff x="8305800" y="5904191"/>
            <a:chExt cx="2063631" cy="909502"/>
          </a:xfrm>
        </p:grpSpPr>
        <p:pic>
          <p:nvPicPr>
            <p:cNvPr id="17419" name="그림 22">
              <a:extLst>
                <a:ext uri="{FF2B5EF4-FFF2-40B4-BE49-F238E27FC236}">
                  <a16:creationId xmlns:a16="http://schemas.microsoft.com/office/drawing/2014/main" id="{289AFE31-B0C4-87F3-EA4B-CB1AB19AFA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9929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그림 23">
              <a:extLst>
                <a:ext uri="{FF2B5EF4-FFF2-40B4-BE49-F238E27FC236}">
                  <a16:creationId xmlns:a16="http://schemas.microsoft.com/office/drawing/2014/main" id="{4732A65E-D35A-5F33-9ED8-894956286C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5800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灯片编号占位符 2">
            <a:extLst>
              <a:ext uri="{FF2B5EF4-FFF2-40B4-BE49-F238E27FC236}">
                <a16:creationId xmlns:a16="http://schemas.microsoft.com/office/drawing/2014/main" id="{8C6DAC98-A3A2-47FA-FD39-A7AA6D4E76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0" hangingPunct="0">
              <a:lnSpc>
                <a:spcPct val="100000"/>
              </a:lnSpc>
              <a:spcAft>
                <a:spcPct val="0"/>
              </a:spcAft>
              <a:buFontTx/>
              <a:buNone/>
            </a:pPr>
            <a:fld id="{8AEA4A16-1955-5F4E-9B7D-28267E1B830A}" type="slidenum">
              <a:rPr lang="ko-KR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eaLnBrk="0" hangingPunct="0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7</a:t>
            </a:fld>
            <a:endParaRPr lang="ko-KR" altLang="en-US" dirty="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17412" name="Rectangle 8">
            <a:extLst>
              <a:ext uri="{FF2B5EF4-FFF2-40B4-BE49-F238E27FC236}">
                <a16:creationId xmlns:a16="http://schemas.microsoft.com/office/drawing/2014/main" id="{BC18B114-8ED3-8D7A-15CA-DC3E469A9434}"/>
              </a:ext>
            </a:extLst>
          </p:cNvPr>
          <p:cNvSpPr>
            <a:spLocks noChangeAspect="1"/>
          </p:cNvSpPr>
          <p:nvPr/>
        </p:nvSpPr>
        <p:spPr bwMode="auto">
          <a:xfrm>
            <a:off x="180975" y="850900"/>
            <a:ext cx="11736388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>
              <a:lnSpc>
                <a:spcPct val="110000"/>
              </a:lnSpc>
              <a:buClr>
                <a:srgbClr val="595959"/>
              </a:buClr>
              <a:buFont typeface="Wingdings" pitchFamily="2" charset="2"/>
              <a:buChar char="§"/>
              <a:defRPr/>
            </a:pPr>
            <a:r>
              <a:rPr lang="ko-KR" altLang="en-US" b="1" dirty="0">
                <a:cs typeface="Arial" panose="020B0604020202020204" pitchFamily="34" charset="0"/>
              </a:rPr>
              <a:t>  </a:t>
            </a:r>
            <a:r>
              <a:rPr lang="en-US" altLang="ko-KR" b="1" dirty="0">
                <a:cs typeface="Arial" panose="020B0604020202020204" pitchFamily="34" charset="0"/>
              </a:rPr>
              <a:t> </a:t>
            </a:r>
            <a:r>
              <a:rPr lang="ko-KR" altLang="en-US" b="1" dirty="0">
                <a:cs typeface="Arial" panose="020B0604020202020204" pitchFamily="34" charset="0"/>
              </a:rPr>
              <a:t>저온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b="1" dirty="0">
                <a:cs typeface="Arial" panose="020B0604020202020204" pitchFamily="34" charset="0"/>
              </a:rPr>
              <a:t>53</a:t>
            </a:r>
            <a:r>
              <a:rPr lang="ko-KR" altLang="en-US" b="1" dirty="0">
                <a:cs typeface="Arial" panose="020B0604020202020204" pitchFamily="34" charset="0"/>
              </a:rPr>
              <a:t>번 배터리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6BC434-BE07-F150-D174-C3E0B642E9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582" y="1617457"/>
            <a:ext cx="9466836" cy="439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371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CBCB9-AF25-C03F-428C-859960B81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직사각형 3">
            <a:extLst>
              <a:ext uri="{FF2B5EF4-FFF2-40B4-BE49-F238E27FC236}">
                <a16:creationId xmlns:a16="http://schemas.microsoft.com/office/drawing/2014/main" id="{02660512-5716-D44D-FF7B-895FB80B31EC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온도별 배터리 실험</a:t>
            </a:r>
          </a:p>
        </p:txBody>
      </p:sp>
      <p:grpSp>
        <p:nvGrpSpPr>
          <p:cNvPr id="17410" name="그룹 21">
            <a:extLst>
              <a:ext uri="{FF2B5EF4-FFF2-40B4-BE49-F238E27FC236}">
                <a16:creationId xmlns:a16="http://schemas.microsoft.com/office/drawing/2014/main" id="{425969A8-3BBC-8D36-0326-6F155F922E4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690225" y="850900"/>
            <a:ext cx="1227138" cy="539750"/>
            <a:chOff x="8305800" y="5904191"/>
            <a:chExt cx="2063631" cy="909502"/>
          </a:xfrm>
        </p:grpSpPr>
        <p:pic>
          <p:nvPicPr>
            <p:cNvPr id="17419" name="그림 22">
              <a:extLst>
                <a:ext uri="{FF2B5EF4-FFF2-40B4-BE49-F238E27FC236}">
                  <a16:creationId xmlns:a16="http://schemas.microsoft.com/office/drawing/2014/main" id="{00423A1D-84B1-1347-37CB-024E2FF2D6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9929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그림 23">
              <a:extLst>
                <a:ext uri="{FF2B5EF4-FFF2-40B4-BE49-F238E27FC236}">
                  <a16:creationId xmlns:a16="http://schemas.microsoft.com/office/drawing/2014/main" id="{EC13CC71-40EF-4165-1EB1-83CA688E39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5800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灯片编号占位符 2">
            <a:extLst>
              <a:ext uri="{FF2B5EF4-FFF2-40B4-BE49-F238E27FC236}">
                <a16:creationId xmlns:a16="http://schemas.microsoft.com/office/drawing/2014/main" id="{02036636-E3E0-3DDE-C4E6-572223EEBA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0" hangingPunct="0">
              <a:lnSpc>
                <a:spcPct val="100000"/>
              </a:lnSpc>
              <a:spcAft>
                <a:spcPct val="0"/>
              </a:spcAft>
              <a:buFontTx/>
              <a:buNone/>
            </a:pPr>
            <a:fld id="{8AEA4A16-1955-5F4E-9B7D-28267E1B830A}" type="slidenum">
              <a:rPr lang="ko-KR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eaLnBrk="0" hangingPunct="0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8</a:t>
            </a:fld>
            <a:endParaRPr lang="ko-KR" altLang="en-US" dirty="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17412" name="Rectangle 8">
            <a:extLst>
              <a:ext uri="{FF2B5EF4-FFF2-40B4-BE49-F238E27FC236}">
                <a16:creationId xmlns:a16="http://schemas.microsoft.com/office/drawing/2014/main" id="{9DF6D687-9285-B960-1719-03925AC35422}"/>
              </a:ext>
            </a:extLst>
          </p:cNvPr>
          <p:cNvSpPr>
            <a:spLocks noChangeAspect="1"/>
          </p:cNvSpPr>
          <p:nvPr/>
        </p:nvSpPr>
        <p:spPr bwMode="auto">
          <a:xfrm>
            <a:off x="180975" y="850900"/>
            <a:ext cx="11736388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>
              <a:lnSpc>
                <a:spcPct val="110000"/>
              </a:lnSpc>
              <a:buClr>
                <a:srgbClr val="595959"/>
              </a:buClr>
              <a:buFont typeface="Wingdings" pitchFamily="2" charset="2"/>
              <a:buChar char="§"/>
              <a:defRPr/>
            </a:pPr>
            <a:r>
              <a:rPr lang="ko-KR" altLang="en-US" b="1" dirty="0">
                <a:cs typeface="Arial" panose="020B0604020202020204" pitchFamily="34" charset="0"/>
              </a:rPr>
              <a:t>  </a:t>
            </a:r>
            <a:r>
              <a:rPr lang="en-US" altLang="ko-KR" b="1" dirty="0">
                <a:cs typeface="Arial" panose="020B0604020202020204" pitchFamily="34" charset="0"/>
              </a:rPr>
              <a:t> </a:t>
            </a:r>
            <a:r>
              <a:rPr lang="ko-KR" altLang="en-US" b="1" dirty="0">
                <a:cs typeface="Arial" panose="020B0604020202020204" pitchFamily="34" charset="0"/>
              </a:rPr>
              <a:t>저온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b="1" dirty="0">
                <a:cs typeface="Arial" panose="020B0604020202020204" pitchFamily="34" charset="0"/>
              </a:rPr>
              <a:t>54</a:t>
            </a:r>
            <a:r>
              <a:rPr lang="ko-KR" altLang="en-US" b="1" dirty="0">
                <a:cs typeface="Arial" panose="020B0604020202020204" pitchFamily="34" charset="0"/>
              </a:rPr>
              <a:t>번 배터리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F8F2213-BDE6-6BE7-FD4C-E256B062C6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04327"/>
            <a:ext cx="9220200" cy="436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630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C7371-2559-C3D2-8FE2-FB72690CA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직사각형 3">
            <a:extLst>
              <a:ext uri="{FF2B5EF4-FFF2-40B4-BE49-F238E27FC236}">
                <a16:creationId xmlns:a16="http://schemas.microsoft.com/office/drawing/2014/main" id="{AA371E98-A0AC-8BA9-6741-32657F37A207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온도별 배터리 실험</a:t>
            </a:r>
          </a:p>
        </p:txBody>
      </p:sp>
      <p:grpSp>
        <p:nvGrpSpPr>
          <p:cNvPr id="17410" name="그룹 21">
            <a:extLst>
              <a:ext uri="{FF2B5EF4-FFF2-40B4-BE49-F238E27FC236}">
                <a16:creationId xmlns:a16="http://schemas.microsoft.com/office/drawing/2014/main" id="{E6FFC709-7018-6B28-C21E-9AA1B9059E4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690225" y="850900"/>
            <a:ext cx="1227138" cy="539750"/>
            <a:chOff x="8305800" y="5904191"/>
            <a:chExt cx="2063631" cy="909502"/>
          </a:xfrm>
        </p:grpSpPr>
        <p:pic>
          <p:nvPicPr>
            <p:cNvPr id="17419" name="그림 22">
              <a:extLst>
                <a:ext uri="{FF2B5EF4-FFF2-40B4-BE49-F238E27FC236}">
                  <a16:creationId xmlns:a16="http://schemas.microsoft.com/office/drawing/2014/main" id="{2965A1D7-E28A-5944-E174-B2713A002A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9929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그림 23">
              <a:extLst>
                <a:ext uri="{FF2B5EF4-FFF2-40B4-BE49-F238E27FC236}">
                  <a16:creationId xmlns:a16="http://schemas.microsoft.com/office/drawing/2014/main" id="{C9860D3A-2F85-EBE4-2A05-716C044CC7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5800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灯片编号占位符 2">
            <a:extLst>
              <a:ext uri="{FF2B5EF4-FFF2-40B4-BE49-F238E27FC236}">
                <a16:creationId xmlns:a16="http://schemas.microsoft.com/office/drawing/2014/main" id="{CE48F59C-C3D0-2D51-DF00-6D431A1651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0" hangingPunct="0">
              <a:lnSpc>
                <a:spcPct val="100000"/>
              </a:lnSpc>
              <a:spcAft>
                <a:spcPct val="0"/>
              </a:spcAft>
              <a:buFontTx/>
              <a:buNone/>
            </a:pPr>
            <a:fld id="{8AEA4A16-1955-5F4E-9B7D-28267E1B830A}" type="slidenum">
              <a:rPr lang="ko-KR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eaLnBrk="0" hangingPunct="0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9</a:t>
            </a:fld>
            <a:endParaRPr lang="ko-KR" altLang="en-US" dirty="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17412" name="Rectangle 8">
            <a:extLst>
              <a:ext uri="{FF2B5EF4-FFF2-40B4-BE49-F238E27FC236}">
                <a16:creationId xmlns:a16="http://schemas.microsoft.com/office/drawing/2014/main" id="{B434B01B-0AEF-7FB4-01DF-E36BC8ED1D1B}"/>
              </a:ext>
            </a:extLst>
          </p:cNvPr>
          <p:cNvSpPr>
            <a:spLocks noChangeAspect="1"/>
          </p:cNvSpPr>
          <p:nvPr/>
        </p:nvSpPr>
        <p:spPr bwMode="auto">
          <a:xfrm>
            <a:off x="180975" y="850900"/>
            <a:ext cx="11736388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>
              <a:lnSpc>
                <a:spcPct val="110000"/>
              </a:lnSpc>
              <a:buClr>
                <a:srgbClr val="595959"/>
              </a:buClr>
              <a:buFont typeface="Wingdings" pitchFamily="2" charset="2"/>
              <a:buChar char="§"/>
              <a:defRPr/>
            </a:pPr>
            <a:r>
              <a:rPr lang="ko-KR" altLang="en-US" b="1" dirty="0">
                <a:cs typeface="Arial" panose="020B0604020202020204" pitchFamily="34" charset="0"/>
              </a:rPr>
              <a:t>  </a:t>
            </a:r>
            <a:r>
              <a:rPr lang="en-US" altLang="ko-KR" b="1" dirty="0">
                <a:cs typeface="Arial" panose="020B0604020202020204" pitchFamily="34" charset="0"/>
              </a:rPr>
              <a:t> </a:t>
            </a:r>
            <a:r>
              <a:rPr lang="ko-KR" altLang="en-US" b="1" dirty="0">
                <a:cs typeface="Arial" panose="020B0604020202020204" pitchFamily="34" charset="0"/>
              </a:rPr>
              <a:t>저온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b="1" dirty="0">
                <a:cs typeface="Arial" panose="020B0604020202020204" pitchFamily="34" charset="0"/>
              </a:rPr>
              <a:t>48</a:t>
            </a:r>
            <a:r>
              <a:rPr lang="ko-KR" altLang="en-US" b="1" dirty="0">
                <a:cs typeface="Arial" panose="020B0604020202020204" pitchFamily="34" charset="0"/>
              </a:rPr>
              <a:t>번 배터리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4A361E-9902-4595-5E2D-D6C549FAC8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526" y="1762905"/>
            <a:ext cx="8973285" cy="413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926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BE3B3-99B9-ACD9-827F-5F553BCB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직사각형 3">
            <a:extLst>
              <a:ext uri="{FF2B5EF4-FFF2-40B4-BE49-F238E27FC236}">
                <a16:creationId xmlns:a16="http://schemas.microsoft.com/office/drawing/2014/main" id="{0DB6BBD3-4E07-69BA-256E-00A070ED66E9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온도별 배터리 실험</a:t>
            </a:r>
          </a:p>
        </p:txBody>
      </p:sp>
      <p:grpSp>
        <p:nvGrpSpPr>
          <p:cNvPr id="17410" name="그룹 21">
            <a:extLst>
              <a:ext uri="{FF2B5EF4-FFF2-40B4-BE49-F238E27FC236}">
                <a16:creationId xmlns:a16="http://schemas.microsoft.com/office/drawing/2014/main" id="{B887688F-200C-E8FC-70BA-07A27DE657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690225" y="850900"/>
            <a:ext cx="1227138" cy="539750"/>
            <a:chOff x="8305800" y="5904191"/>
            <a:chExt cx="2063631" cy="909502"/>
          </a:xfrm>
        </p:grpSpPr>
        <p:pic>
          <p:nvPicPr>
            <p:cNvPr id="17419" name="그림 22">
              <a:extLst>
                <a:ext uri="{FF2B5EF4-FFF2-40B4-BE49-F238E27FC236}">
                  <a16:creationId xmlns:a16="http://schemas.microsoft.com/office/drawing/2014/main" id="{23A1CC47-7B33-FBD7-2796-A801EDF6E9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9929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그림 23">
              <a:extLst>
                <a:ext uri="{FF2B5EF4-FFF2-40B4-BE49-F238E27FC236}">
                  <a16:creationId xmlns:a16="http://schemas.microsoft.com/office/drawing/2014/main" id="{28D7D7FE-033C-E645-F9CE-534836C4A0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5800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灯片编号占位符 2">
            <a:extLst>
              <a:ext uri="{FF2B5EF4-FFF2-40B4-BE49-F238E27FC236}">
                <a16:creationId xmlns:a16="http://schemas.microsoft.com/office/drawing/2014/main" id="{65B2B392-B915-6813-DE38-8C4CC6553A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0" hangingPunct="0">
              <a:lnSpc>
                <a:spcPct val="100000"/>
              </a:lnSpc>
              <a:spcAft>
                <a:spcPct val="0"/>
              </a:spcAft>
              <a:buFontTx/>
              <a:buNone/>
            </a:pPr>
            <a:fld id="{8AEA4A16-1955-5F4E-9B7D-28267E1B830A}" type="slidenum">
              <a:rPr lang="ko-KR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eaLnBrk="0" hangingPunct="0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10</a:t>
            </a:fld>
            <a:endParaRPr lang="ko-KR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17412" name="Rectangle 8">
            <a:extLst>
              <a:ext uri="{FF2B5EF4-FFF2-40B4-BE49-F238E27FC236}">
                <a16:creationId xmlns:a16="http://schemas.microsoft.com/office/drawing/2014/main" id="{61869926-A435-8CAF-C17A-BF581E6FF43A}"/>
              </a:ext>
            </a:extLst>
          </p:cNvPr>
          <p:cNvSpPr>
            <a:spLocks noChangeAspect="1"/>
          </p:cNvSpPr>
          <p:nvPr/>
        </p:nvSpPr>
        <p:spPr bwMode="auto">
          <a:xfrm>
            <a:off x="180975" y="850900"/>
            <a:ext cx="11736388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>
              <a:lnSpc>
                <a:spcPct val="110000"/>
              </a:lnSpc>
              <a:buClr>
                <a:srgbClr val="595959"/>
              </a:buClr>
              <a:buFont typeface="Wingdings" pitchFamily="2" charset="2"/>
              <a:buChar char="§"/>
              <a:defRPr/>
            </a:pPr>
            <a:r>
              <a:rPr lang="ko-KR" altLang="en-US" b="1" dirty="0">
                <a:cs typeface="Arial" panose="020B0604020202020204" pitchFamily="34" charset="0"/>
              </a:rPr>
              <a:t>  </a:t>
            </a:r>
            <a:r>
              <a:rPr lang="en-US" altLang="ko-KR" b="1" dirty="0">
                <a:cs typeface="Arial" panose="020B0604020202020204" pitchFamily="34" charset="0"/>
              </a:rPr>
              <a:t> </a:t>
            </a:r>
            <a:r>
              <a:rPr lang="ko-KR" altLang="en-US" b="1" dirty="0">
                <a:cs typeface="Arial" panose="020B0604020202020204" pitchFamily="34" charset="0"/>
              </a:rPr>
              <a:t>상온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b="1" dirty="0">
                <a:cs typeface="Arial" panose="020B0604020202020204" pitchFamily="34" charset="0"/>
              </a:rPr>
              <a:t>5</a:t>
            </a:r>
            <a:r>
              <a:rPr lang="ko-KR" altLang="en-US" b="1" dirty="0">
                <a:cs typeface="Arial" panose="020B0604020202020204" pitchFamily="34" charset="0"/>
              </a:rPr>
              <a:t>번 배터리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55C0F0-75D8-A2D1-BEDF-ECD7233B34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1616537"/>
            <a:ext cx="9029700" cy="42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7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95B6A-1793-756F-8FB1-86A217EB9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직사각형 3">
            <a:extLst>
              <a:ext uri="{FF2B5EF4-FFF2-40B4-BE49-F238E27FC236}">
                <a16:creationId xmlns:a16="http://schemas.microsoft.com/office/drawing/2014/main" id="{84206825-43F3-C23F-DBFD-94D470333342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온도별 배터리 실험</a:t>
            </a:r>
          </a:p>
        </p:txBody>
      </p:sp>
      <p:grpSp>
        <p:nvGrpSpPr>
          <p:cNvPr id="17410" name="그룹 21">
            <a:extLst>
              <a:ext uri="{FF2B5EF4-FFF2-40B4-BE49-F238E27FC236}">
                <a16:creationId xmlns:a16="http://schemas.microsoft.com/office/drawing/2014/main" id="{AFE1BE14-2975-7347-8D06-F46C5B2F984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690225" y="850900"/>
            <a:ext cx="1227138" cy="539750"/>
            <a:chOff x="8305800" y="5904191"/>
            <a:chExt cx="2063631" cy="909502"/>
          </a:xfrm>
        </p:grpSpPr>
        <p:pic>
          <p:nvPicPr>
            <p:cNvPr id="17419" name="그림 22">
              <a:extLst>
                <a:ext uri="{FF2B5EF4-FFF2-40B4-BE49-F238E27FC236}">
                  <a16:creationId xmlns:a16="http://schemas.microsoft.com/office/drawing/2014/main" id="{A7F39DF3-9CAB-11DF-7753-0D3DB605FB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9929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그림 23">
              <a:extLst>
                <a:ext uri="{FF2B5EF4-FFF2-40B4-BE49-F238E27FC236}">
                  <a16:creationId xmlns:a16="http://schemas.microsoft.com/office/drawing/2014/main" id="{5AD09E93-9FF4-68E3-B085-1651C79376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5800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灯片编号占位符 2">
            <a:extLst>
              <a:ext uri="{FF2B5EF4-FFF2-40B4-BE49-F238E27FC236}">
                <a16:creationId xmlns:a16="http://schemas.microsoft.com/office/drawing/2014/main" id="{3F2FE2D0-C4ED-DC85-9416-FC1DD46A46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0" hangingPunct="0">
              <a:lnSpc>
                <a:spcPct val="100000"/>
              </a:lnSpc>
              <a:spcAft>
                <a:spcPct val="0"/>
              </a:spcAft>
              <a:buFontTx/>
              <a:buNone/>
            </a:pPr>
            <a:fld id="{8AEA4A16-1955-5F4E-9B7D-28267E1B830A}" type="slidenum">
              <a:rPr lang="ko-KR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eaLnBrk="0" hangingPunct="0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11</a:t>
            </a:fld>
            <a:endParaRPr lang="ko-KR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17412" name="Rectangle 8">
            <a:extLst>
              <a:ext uri="{FF2B5EF4-FFF2-40B4-BE49-F238E27FC236}">
                <a16:creationId xmlns:a16="http://schemas.microsoft.com/office/drawing/2014/main" id="{E8DB70E3-6F61-F938-7741-F879DAB92E45}"/>
              </a:ext>
            </a:extLst>
          </p:cNvPr>
          <p:cNvSpPr>
            <a:spLocks noChangeAspect="1"/>
          </p:cNvSpPr>
          <p:nvPr/>
        </p:nvSpPr>
        <p:spPr bwMode="auto">
          <a:xfrm>
            <a:off x="180975" y="850900"/>
            <a:ext cx="11736388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>
              <a:lnSpc>
                <a:spcPct val="110000"/>
              </a:lnSpc>
              <a:buClr>
                <a:srgbClr val="595959"/>
              </a:buClr>
              <a:buFont typeface="Wingdings" pitchFamily="2" charset="2"/>
              <a:buChar char="§"/>
              <a:defRPr/>
            </a:pPr>
            <a:r>
              <a:rPr lang="ko-KR" altLang="en-US" b="1" dirty="0">
                <a:cs typeface="Arial" panose="020B0604020202020204" pitchFamily="34" charset="0"/>
              </a:rPr>
              <a:t>  </a:t>
            </a:r>
            <a:r>
              <a:rPr lang="en-US" altLang="ko-KR" b="1" dirty="0">
                <a:cs typeface="Arial" panose="020B0604020202020204" pitchFamily="34" charset="0"/>
              </a:rPr>
              <a:t> </a:t>
            </a:r>
            <a:r>
              <a:rPr lang="ko-KR" altLang="en-US" b="1" dirty="0">
                <a:cs typeface="Arial" panose="020B0604020202020204" pitchFamily="34" charset="0"/>
              </a:rPr>
              <a:t>상온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b="1" dirty="0">
                <a:cs typeface="Arial" panose="020B0604020202020204" pitchFamily="34" charset="0"/>
              </a:rPr>
              <a:t>25</a:t>
            </a:r>
            <a:r>
              <a:rPr lang="ko-KR" altLang="en-US" b="1" dirty="0">
                <a:cs typeface="Arial" panose="020B0604020202020204" pitchFamily="34" charset="0"/>
              </a:rPr>
              <a:t>번 배터리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8EA4C4-272A-4817-D5ED-84E786728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9539" y="1737278"/>
            <a:ext cx="9292921" cy="435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75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404A7-4F9B-8F62-1A9B-9A8E68B62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직사각형 3">
            <a:extLst>
              <a:ext uri="{FF2B5EF4-FFF2-40B4-BE49-F238E27FC236}">
                <a16:creationId xmlns:a16="http://schemas.microsoft.com/office/drawing/2014/main" id="{B35570D0-AC4F-2DD7-C3C7-BBE92266AF51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온도별 배터리 실험</a:t>
            </a:r>
          </a:p>
        </p:txBody>
      </p:sp>
      <p:grpSp>
        <p:nvGrpSpPr>
          <p:cNvPr id="17410" name="그룹 21">
            <a:extLst>
              <a:ext uri="{FF2B5EF4-FFF2-40B4-BE49-F238E27FC236}">
                <a16:creationId xmlns:a16="http://schemas.microsoft.com/office/drawing/2014/main" id="{ADE4ED48-BE0D-1565-F34C-ED4224596DF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690225" y="850900"/>
            <a:ext cx="1227138" cy="539750"/>
            <a:chOff x="8305800" y="5904191"/>
            <a:chExt cx="2063631" cy="909502"/>
          </a:xfrm>
        </p:grpSpPr>
        <p:pic>
          <p:nvPicPr>
            <p:cNvPr id="17419" name="그림 22">
              <a:extLst>
                <a:ext uri="{FF2B5EF4-FFF2-40B4-BE49-F238E27FC236}">
                  <a16:creationId xmlns:a16="http://schemas.microsoft.com/office/drawing/2014/main" id="{08ABE03D-9CFE-A41B-1052-6AB5555848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9929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그림 23">
              <a:extLst>
                <a:ext uri="{FF2B5EF4-FFF2-40B4-BE49-F238E27FC236}">
                  <a16:creationId xmlns:a16="http://schemas.microsoft.com/office/drawing/2014/main" id="{493FAD1E-DB83-82A5-9927-C185B1F477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5800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灯片编号占位符 2">
            <a:extLst>
              <a:ext uri="{FF2B5EF4-FFF2-40B4-BE49-F238E27FC236}">
                <a16:creationId xmlns:a16="http://schemas.microsoft.com/office/drawing/2014/main" id="{A430E6E3-D2DA-9C6B-7BA4-772E5A9A2D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0" hangingPunct="0">
              <a:lnSpc>
                <a:spcPct val="100000"/>
              </a:lnSpc>
              <a:spcAft>
                <a:spcPct val="0"/>
              </a:spcAft>
              <a:buFontTx/>
              <a:buNone/>
            </a:pPr>
            <a:fld id="{8AEA4A16-1955-5F4E-9B7D-28267E1B830A}" type="slidenum">
              <a:rPr lang="ko-KR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eaLnBrk="0" hangingPunct="0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12</a:t>
            </a:fld>
            <a:endParaRPr lang="ko-KR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17412" name="Rectangle 8">
            <a:extLst>
              <a:ext uri="{FF2B5EF4-FFF2-40B4-BE49-F238E27FC236}">
                <a16:creationId xmlns:a16="http://schemas.microsoft.com/office/drawing/2014/main" id="{C02D3A0B-FF1B-C8E7-FA8A-E7793EBC73B9}"/>
              </a:ext>
            </a:extLst>
          </p:cNvPr>
          <p:cNvSpPr>
            <a:spLocks noChangeAspect="1"/>
          </p:cNvSpPr>
          <p:nvPr/>
        </p:nvSpPr>
        <p:spPr bwMode="auto">
          <a:xfrm>
            <a:off x="180975" y="850900"/>
            <a:ext cx="11736388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>
              <a:lnSpc>
                <a:spcPct val="110000"/>
              </a:lnSpc>
              <a:buClr>
                <a:srgbClr val="595959"/>
              </a:buClr>
              <a:buFont typeface="Wingdings" pitchFamily="2" charset="2"/>
              <a:buChar char="§"/>
              <a:defRPr/>
            </a:pPr>
            <a:r>
              <a:rPr lang="ko-KR" altLang="en-US" b="1" dirty="0">
                <a:cs typeface="Arial" panose="020B0604020202020204" pitchFamily="34" charset="0"/>
              </a:rPr>
              <a:t>  </a:t>
            </a:r>
            <a:r>
              <a:rPr lang="en-US" altLang="ko-KR" b="1" dirty="0">
                <a:cs typeface="Arial" panose="020B0604020202020204" pitchFamily="34" charset="0"/>
              </a:rPr>
              <a:t> </a:t>
            </a:r>
            <a:r>
              <a:rPr lang="ko-KR" altLang="en-US" b="1" dirty="0">
                <a:cs typeface="Arial" panose="020B0604020202020204" pitchFamily="34" charset="0"/>
              </a:rPr>
              <a:t>상온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b="1" dirty="0">
                <a:cs typeface="Arial" panose="020B0604020202020204" pitchFamily="34" charset="0"/>
              </a:rPr>
              <a:t>33</a:t>
            </a:r>
            <a:r>
              <a:rPr lang="ko-KR" altLang="en-US" b="1" dirty="0">
                <a:cs typeface="Arial" panose="020B0604020202020204" pitchFamily="34" charset="0"/>
              </a:rPr>
              <a:t>번 배터리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ko-KR" altLang="en-US" sz="1600" dirty="0">
                <a:cs typeface="Arial" panose="020B0604020202020204" pitchFamily="34" charset="0"/>
              </a:rPr>
              <a:t>이전에 </a:t>
            </a:r>
            <a:r>
              <a:rPr lang="en-US" altLang="ko-KR" sz="1600" dirty="0">
                <a:cs typeface="Arial" panose="020B0604020202020204" pitchFamily="34" charset="0"/>
              </a:rPr>
              <a:t>LSTM </a:t>
            </a:r>
            <a:r>
              <a:rPr lang="ko-KR" altLang="en-US" sz="1600" dirty="0">
                <a:cs typeface="Arial" panose="020B0604020202020204" pitchFamily="34" charset="0"/>
              </a:rPr>
              <a:t>모델에서 예측과 비교해 </a:t>
            </a:r>
            <a:r>
              <a:rPr lang="en-US" altLang="ko-KR" sz="1600" dirty="0">
                <a:cs typeface="Arial" panose="020B0604020202020204" pitchFamily="34" charset="0"/>
              </a:rPr>
              <a:t>CNN</a:t>
            </a:r>
            <a:r>
              <a:rPr lang="ko-KR" altLang="en-US" sz="1600" dirty="0">
                <a:cs typeface="Arial" panose="020B0604020202020204" pitchFamily="34" charset="0"/>
              </a:rPr>
              <a:t>모델이 복잡한 패턴을 거의 정확히 예측함</a:t>
            </a:r>
            <a:r>
              <a:rPr lang="en-US" altLang="ko-KR" sz="1600" dirty="0">
                <a:cs typeface="Arial" panose="020B0604020202020204" pitchFamily="34" charset="0"/>
              </a:rPr>
              <a:t>.</a:t>
            </a: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13D0E6-F770-B629-2FE9-A14061E98C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613" y="2107744"/>
            <a:ext cx="9135112" cy="431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090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980A9-4FBE-74C1-0ABC-982177FFE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직사각형 3">
            <a:extLst>
              <a:ext uri="{FF2B5EF4-FFF2-40B4-BE49-F238E27FC236}">
                <a16:creationId xmlns:a16="http://schemas.microsoft.com/office/drawing/2014/main" id="{7135EDA0-D87E-0520-9DC8-B407482444B2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온도별 배터리 실험</a:t>
            </a:r>
          </a:p>
        </p:txBody>
      </p:sp>
      <p:grpSp>
        <p:nvGrpSpPr>
          <p:cNvPr id="17410" name="그룹 21">
            <a:extLst>
              <a:ext uri="{FF2B5EF4-FFF2-40B4-BE49-F238E27FC236}">
                <a16:creationId xmlns:a16="http://schemas.microsoft.com/office/drawing/2014/main" id="{4CC674D4-4949-76FD-7720-F4E35778C4B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690225" y="850900"/>
            <a:ext cx="1227138" cy="539750"/>
            <a:chOff x="8305800" y="5904191"/>
            <a:chExt cx="2063631" cy="909502"/>
          </a:xfrm>
        </p:grpSpPr>
        <p:pic>
          <p:nvPicPr>
            <p:cNvPr id="17419" name="그림 22">
              <a:extLst>
                <a:ext uri="{FF2B5EF4-FFF2-40B4-BE49-F238E27FC236}">
                  <a16:creationId xmlns:a16="http://schemas.microsoft.com/office/drawing/2014/main" id="{6B1FCC37-41AA-74E2-8271-E6FD284E6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9929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그림 23">
              <a:extLst>
                <a:ext uri="{FF2B5EF4-FFF2-40B4-BE49-F238E27FC236}">
                  <a16:creationId xmlns:a16="http://schemas.microsoft.com/office/drawing/2014/main" id="{0CBF0BDE-2DD6-C735-924D-F939CD3D3D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5800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灯片编号占位符 2">
            <a:extLst>
              <a:ext uri="{FF2B5EF4-FFF2-40B4-BE49-F238E27FC236}">
                <a16:creationId xmlns:a16="http://schemas.microsoft.com/office/drawing/2014/main" id="{A0F2DBB5-4626-5A4C-B68C-C67520959B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0" hangingPunct="0">
              <a:lnSpc>
                <a:spcPct val="100000"/>
              </a:lnSpc>
              <a:spcAft>
                <a:spcPct val="0"/>
              </a:spcAft>
              <a:buFontTx/>
              <a:buNone/>
            </a:pPr>
            <a:fld id="{8AEA4A16-1955-5F4E-9B7D-28267E1B830A}" type="slidenum">
              <a:rPr lang="ko-KR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eaLnBrk="0" hangingPunct="0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13</a:t>
            </a:fld>
            <a:endParaRPr lang="ko-KR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17412" name="Rectangle 8">
            <a:extLst>
              <a:ext uri="{FF2B5EF4-FFF2-40B4-BE49-F238E27FC236}">
                <a16:creationId xmlns:a16="http://schemas.microsoft.com/office/drawing/2014/main" id="{4426F86F-3460-E568-0B3D-08412F65D93D}"/>
              </a:ext>
            </a:extLst>
          </p:cNvPr>
          <p:cNvSpPr>
            <a:spLocks noChangeAspect="1"/>
          </p:cNvSpPr>
          <p:nvPr/>
        </p:nvSpPr>
        <p:spPr bwMode="auto">
          <a:xfrm>
            <a:off x="180975" y="850900"/>
            <a:ext cx="11736388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>
              <a:lnSpc>
                <a:spcPct val="110000"/>
              </a:lnSpc>
              <a:buClr>
                <a:srgbClr val="595959"/>
              </a:buClr>
              <a:buFont typeface="Wingdings" pitchFamily="2" charset="2"/>
              <a:buChar char="§"/>
              <a:defRPr/>
            </a:pPr>
            <a:r>
              <a:rPr lang="ko-KR" altLang="en-US" b="1" dirty="0">
                <a:cs typeface="Arial" panose="020B0604020202020204" pitchFamily="34" charset="0"/>
              </a:rPr>
              <a:t>  </a:t>
            </a:r>
            <a:r>
              <a:rPr lang="en-US" altLang="ko-KR" b="1" dirty="0">
                <a:cs typeface="Arial" panose="020B0604020202020204" pitchFamily="34" charset="0"/>
              </a:rPr>
              <a:t> </a:t>
            </a:r>
            <a:r>
              <a:rPr lang="ko-KR" altLang="en-US" b="1" dirty="0">
                <a:cs typeface="Arial" panose="020B0604020202020204" pitchFamily="34" charset="0"/>
              </a:rPr>
              <a:t>상온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b="1" dirty="0">
                <a:cs typeface="Arial" panose="020B0604020202020204" pitchFamily="34" charset="0"/>
              </a:rPr>
              <a:t>7</a:t>
            </a:r>
            <a:r>
              <a:rPr lang="ko-KR" altLang="en-US" b="1" dirty="0">
                <a:cs typeface="Arial" panose="020B0604020202020204" pitchFamily="34" charset="0"/>
              </a:rPr>
              <a:t>번 배터리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4320B3-13A1-199F-E214-A6FA7C2B88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787" y="1781212"/>
            <a:ext cx="9049664" cy="422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33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7EB4B-BF2C-DC82-5027-4954CDD31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직사각형 3">
            <a:extLst>
              <a:ext uri="{FF2B5EF4-FFF2-40B4-BE49-F238E27FC236}">
                <a16:creationId xmlns:a16="http://schemas.microsoft.com/office/drawing/2014/main" id="{8855AD23-87FC-25CB-B52B-C9555B0BE5E4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온도별 배터리 실험</a:t>
            </a:r>
          </a:p>
        </p:txBody>
      </p:sp>
      <p:grpSp>
        <p:nvGrpSpPr>
          <p:cNvPr id="17410" name="그룹 21">
            <a:extLst>
              <a:ext uri="{FF2B5EF4-FFF2-40B4-BE49-F238E27FC236}">
                <a16:creationId xmlns:a16="http://schemas.microsoft.com/office/drawing/2014/main" id="{603386B7-1DB3-6C6F-67E5-59C93251B41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690225" y="850900"/>
            <a:ext cx="1227138" cy="539750"/>
            <a:chOff x="8305800" y="5904191"/>
            <a:chExt cx="2063631" cy="909502"/>
          </a:xfrm>
        </p:grpSpPr>
        <p:pic>
          <p:nvPicPr>
            <p:cNvPr id="17419" name="그림 22">
              <a:extLst>
                <a:ext uri="{FF2B5EF4-FFF2-40B4-BE49-F238E27FC236}">
                  <a16:creationId xmlns:a16="http://schemas.microsoft.com/office/drawing/2014/main" id="{90CD3DAA-FC2C-AD20-5937-F346809F42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9929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그림 23">
              <a:extLst>
                <a:ext uri="{FF2B5EF4-FFF2-40B4-BE49-F238E27FC236}">
                  <a16:creationId xmlns:a16="http://schemas.microsoft.com/office/drawing/2014/main" id="{1880062C-0612-EB15-5A3E-8390F4B535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5800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灯片编号占位符 2">
            <a:extLst>
              <a:ext uri="{FF2B5EF4-FFF2-40B4-BE49-F238E27FC236}">
                <a16:creationId xmlns:a16="http://schemas.microsoft.com/office/drawing/2014/main" id="{73D30641-8734-392D-F925-B9DC392969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0" hangingPunct="0">
              <a:lnSpc>
                <a:spcPct val="100000"/>
              </a:lnSpc>
              <a:spcAft>
                <a:spcPct val="0"/>
              </a:spcAft>
              <a:buFontTx/>
              <a:buNone/>
            </a:pPr>
            <a:fld id="{8AEA4A16-1955-5F4E-9B7D-28267E1B830A}" type="slidenum">
              <a:rPr lang="ko-KR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eaLnBrk="0" hangingPunct="0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14</a:t>
            </a:fld>
            <a:endParaRPr lang="ko-KR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17412" name="Rectangle 8">
            <a:extLst>
              <a:ext uri="{FF2B5EF4-FFF2-40B4-BE49-F238E27FC236}">
                <a16:creationId xmlns:a16="http://schemas.microsoft.com/office/drawing/2014/main" id="{E014B4C5-7329-A9C9-1FF2-828A4DDC2FF6}"/>
              </a:ext>
            </a:extLst>
          </p:cNvPr>
          <p:cNvSpPr>
            <a:spLocks noChangeAspect="1"/>
          </p:cNvSpPr>
          <p:nvPr/>
        </p:nvSpPr>
        <p:spPr bwMode="auto">
          <a:xfrm>
            <a:off x="180975" y="850900"/>
            <a:ext cx="11736388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>
              <a:lnSpc>
                <a:spcPct val="110000"/>
              </a:lnSpc>
              <a:buClr>
                <a:srgbClr val="595959"/>
              </a:buClr>
              <a:buFont typeface="Wingdings" pitchFamily="2" charset="2"/>
              <a:buChar char="§"/>
              <a:defRPr/>
            </a:pPr>
            <a:r>
              <a:rPr lang="ko-KR" altLang="en-US" b="1" dirty="0">
                <a:cs typeface="Arial" panose="020B0604020202020204" pitchFamily="34" charset="0"/>
              </a:rPr>
              <a:t>  </a:t>
            </a:r>
            <a:r>
              <a:rPr lang="en-US" altLang="ko-KR" b="1" dirty="0">
                <a:cs typeface="Arial" panose="020B0604020202020204" pitchFamily="34" charset="0"/>
              </a:rPr>
              <a:t> </a:t>
            </a:r>
            <a:r>
              <a:rPr lang="ko-KR" altLang="en-US" b="1" dirty="0">
                <a:cs typeface="Arial" panose="020B0604020202020204" pitchFamily="34" charset="0"/>
              </a:rPr>
              <a:t>상온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b="1" dirty="0">
                <a:cs typeface="Arial" panose="020B0604020202020204" pitchFamily="34" charset="0"/>
              </a:rPr>
              <a:t>43</a:t>
            </a:r>
            <a:r>
              <a:rPr lang="ko-KR" altLang="en-US" b="1" dirty="0">
                <a:cs typeface="Arial" panose="020B0604020202020204" pitchFamily="34" charset="0"/>
              </a:rPr>
              <a:t>번 배터리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10CB43-42C2-4934-E2A7-B0FB0512E0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2791" y="1781424"/>
            <a:ext cx="9352756" cy="432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156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E0E35-5C77-79BE-C798-826CBC7A9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직사각형 3">
            <a:extLst>
              <a:ext uri="{FF2B5EF4-FFF2-40B4-BE49-F238E27FC236}">
                <a16:creationId xmlns:a16="http://schemas.microsoft.com/office/drawing/2014/main" id="{3958F6E3-1ABC-33FD-2A37-F49A7F51A3B0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온도별 배터리 실험</a:t>
            </a:r>
          </a:p>
        </p:txBody>
      </p:sp>
      <p:grpSp>
        <p:nvGrpSpPr>
          <p:cNvPr id="17410" name="그룹 21">
            <a:extLst>
              <a:ext uri="{FF2B5EF4-FFF2-40B4-BE49-F238E27FC236}">
                <a16:creationId xmlns:a16="http://schemas.microsoft.com/office/drawing/2014/main" id="{C9D11AA6-3939-C9B9-CE0B-00E11E1B2B9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690225" y="850900"/>
            <a:ext cx="1227138" cy="539750"/>
            <a:chOff x="8305800" y="5904191"/>
            <a:chExt cx="2063631" cy="909502"/>
          </a:xfrm>
        </p:grpSpPr>
        <p:pic>
          <p:nvPicPr>
            <p:cNvPr id="17419" name="그림 22">
              <a:extLst>
                <a:ext uri="{FF2B5EF4-FFF2-40B4-BE49-F238E27FC236}">
                  <a16:creationId xmlns:a16="http://schemas.microsoft.com/office/drawing/2014/main" id="{ACFA44E4-CEB9-1370-383A-03F549587B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9929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그림 23">
              <a:extLst>
                <a:ext uri="{FF2B5EF4-FFF2-40B4-BE49-F238E27FC236}">
                  <a16:creationId xmlns:a16="http://schemas.microsoft.com/office/drawing/2014/main" id="{B2955D9B-2837-2C3C-B0E7-E0F2FA019C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5800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灯片编号占位符 2">
            <a:extLst>
              <a:ext uri="{FF2B5EF4-FFF2-40B4-BE49-F238E27FC236}">
                <a16:creationId xmlns:a16="http://schemas.microsoft.com/office/drawing/2014/main" id="{AA8104F2-1F7B-A6D7-B2AC-B4C2239CCE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0" hangingPunct="0">
              <a:lnSpc>
                <a:spcPct val="100000"/>
              </a:lnSpc>
              <a:spcAft>
                <a:spcPct val="0"/>
              </a:spcAft>
              <a:buFontTx/>
              <a:buNone/>
            </a:pPr>
            <a:fld id="{8AEA4A16-1955-5F4E-9B7D-28267E1B830A}" type="slidenum">
              <a:rPr lang="ko-KR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eaLnBrk="0" hangingPunct="0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15</a:t>
            </a:fld>
            <a:endParaRPr lang="ko-KR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17412" name="Rectangle 8">
            <a:extLst>
              <a:ext uri="{FF2B5EF4-FFF2-40B4-BE49-F238E27FC236}">
                <a16:creationId xmlns:a16="http://schemas.microsoft.com/office/drawing/2014/main" id="{5C62DC61-3BDD-1AFE-4AAD-10B710658B5E}"/>
              </a:ext>
            </a:extLst>
          </p:cNvPr>
          <p:cNvSpPr>
            <a:spLocks noChangeAspect="1"/>
          </p:cNvSpPr>
          <p:nvPr/>
        </p:nvSpPr>
        <p:spPr bwMode="auto">
          <a:xfrm>
            <a:off x="180975" y="850900"/>
            <a:ext cx="11736388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>
              <a:lnSpc>
                <a:spcPct val="110000"/>
              </a:lnSpc>
              <a:buClr>
                <a:srgbClr val="595959"/>
              </a:buClr>
              <a:buFont typeface="Wingdings" pitchFamily="2" charset="2"/>
              <a:buChar char="§"/>
              <a:defRPr/>
            </a:pPr>
            <a:r>
              <a:rPr lang="ko-KR" altLang="en-US" b="1" dirty="0">
                <a:cs typeface="Arial" panose="020B0604020202020204" pitchFamily="34" charset="0"/>
              </a:rPr>
              <a:t>  </a:t>
            </a:r>
            <a:r>
              <a:rPr lang="en-US" altLang="ko-KR" b="1" dirty="0">
                <a:cs typeface="Arial" panose="020B0604020202020204" pitchFamily="34" charset="0"/>
              </a:rPr>
              <a:t> </a:t>
            </a:r>
            <a:r>
              <a:rPr lang="ko-KR" altLang="en-US" b="1" dirty="0">
                <a:cs typeface="Arial" panose="020B0604020202020204" pitchFamily="34" charset="0"/>
              </a:rPr>
              <a:t>고온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b="1" dirty="0">
                <a:cs typeface="Arial" panose="020B0604020202020204" pitchFamily="34" charset="0"/>
              </a:rPr>
              <a:t>29</a:t>
            </a:r>
            <a:r>
              <a:rPr lang="ko-KR" altLang="en-US" b="1" dirty="0">
                <a:cs typeface="Arial" panose="020B0604020202020204" pitchFamily="34" charset="0"/>
              </a:rPr>
              <a:t>번 배터리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F645F6-B7CB-A463-669C-7FE4F562AD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495" y="1772781"/>
            <a:ext cx="9533348" cy="435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5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1132B-4CFE-A0D7-2D7C-2A5BDC423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직사각형 3">
            <a:extLst>
              <a:ext uri="{FF2B5EF4-FFF2-40B4-BE49-F238E27FC236}">
                <a16:creationId xmlns:a16="http://schemas.microsoft.com/office/drawing/2014/main" id="{7B310846-A91E-310C-F123-4720A9778253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온도별 배터리 실험</a:t>
            </a:r>
          </a:p>
        </p:txBody>
      </p:sp>
      <p:grpSp>
        <p:nvGrpSpPr>
          <p:cNvPr id="17410" name="그룹 21">
            <a:extLst>
              <a:ext uri="{FF2B5EF4-FFF2-40B4-BE49-F238E27FC236}">
                <a16:creationId xmlns:a16="http://schemas.microsoft.com/office/drawing/2014/main" id="{9153027B-46F8-7E13-CB5D-EC64BC6211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690225" y="850900"/>
            <a:ext cx="1227138" cy="539750"/>
            <a:chOff x="8305800" y="5904191"/>
            <a:chExt cx="2063631" cy="909502"/>
          </a:xfrm>
        </p:grpSpPr>
        <p:pic>
          <p:nvPicPr>
            <p:cNvPr id="17419" name="그림 22">
              <a:extLst>
                <a:ext uri="{FF2B5EF4-FFF2-40B4-BE49-F238E27FC236}">
                  <a16:creationId xmlns:a16="http://schemas.microsoft.com/office/drawing/2014/main" id="{F1867018-6242-0EB1-DE03-0B902C91D1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9929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그림 23">
              <a:extLst>
                <a:ext uri="{FF2B5EF4-FFF2-40B4-BE49-F238E27FC236}">
                  <a16:creationId xmlns:a16="http://schemas.microsoft.com/office/drawing/2014/main" id="{C1E7E55B-0588-074D-1B01-413FDD4111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5800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灯片编号占位符 2">
            <a:extLst>
              <a:ext uri="{FF2B5EF4-FFF2-40B4-BE49-F238E27FC236}">
                <a16:creationId xmlns:a16="http://schemas.microsoft.com/office/drawing/2014/main" id="{DF3CD20D-C96A-EF49-4ACC-BD2BCEC044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0" hangingPunct="0">
              <a:lnSpc>
                <a:spcPct val="100000"/>
              </a:lnSpc>
              <a:spcAft>
                <a:spcPct val="0"/>
              </a:spcAft>
              <a:buFontTx/>
              <a:buNone/>
            </a:pPr>
            <a:fld id="{8AEA4A16-1955-5F4E-9B7D-28267E1B830A}" type="slidenum">
              <a:rPr lang="ko-KR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eaLnBrk="0" hangingPunct="0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16</a:t>
            </a:fld>
            <a:endParaRPr lang="ko-KR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17412" name="Rectangle 8">
            <a:extLst>
              <a:ext uri="{FF2B5EF4-FFF2-40B4-BE49-F238E27FC236}">
                <a16:creationId xmlns:a16="http://schemas.microsoft.com/office/drawing/2014/main" id="{6FCA1110-A529-80C7-2218-3D7CAE460DFE}"/>
              </a:ext>
            </a:extLst>
          </p:cNvPr>
          <p:cNvSpPr>
            <a:spLocks noChangeAspect="1"/>
          </p:cNvSpPr>
          <p:nvPr/>
        </p:nvSpPr>
        <p:spPr bwMode="auto">
          <a:xfrm>
            <a:off x="180975" y="850900"/>
            <a:ext cx="11736388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>
              <a:lnSpc>
                <a:spcPct val="110000"/>
              </a:lnSpc>
              <a:buClr>
                <a:srgbClr val="595959"/>
              </a:buClr>
              <a:buFont typeface="Wingdings" pitchFamily="2" charset="2"/>
              <a:buChar char="§"/>
              <a:defRPr/>
            </a:pPr>
            <a:r>
              <a:rPr lang="ko-KR" altLang="en-US" b="1" dirty="0">
                <a:cs typeface="Arial" panose="020B0604020202020204" pitchFamily="34" charset="0"/>
              </a:rPr>
              <a:t>  </a:t>
            </a:r>
            <a:r>
              <a:rPr lang="en-US" altLang="ko-KR" b="1" dirty="0">
                <a:cs typeface="Arial" panose="020B0604020202020204" pitchFamily="34" charset="0"/>
              </a:rPr>
              <a:t> </a:t>
            </a:r>
            <a:r>
              <a:rPr lang="ko-KR" altLang="en-US" b="1" dirty="0">
                <a:cs typeface="Arial" panose="020B0604020202020204" pitchFamily="34" charset="0"/>
              </a:rPr>
              <a:t>고온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b="1" dirty="0">
                <a:cs typeface="Arial" panose="020B0604020202020204" pitchFamily="34" charset="0"/>
              </a:rPr>
              <a:t>30</a:t>
            </a:r>
            <a:r>
              <a:rPr lang="ko-KR" altLang="en-US" b="1" dirty="0">
                <a:cs typeface="Arial" panose="020B0604020202020204" pitchFamily="34" charset="0"/>
              </a:rPr>
              <a:t>번 배터리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600EC23-21E2-C8A9-335C-846768CA3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1432" y="1767257"/>
            <a:ext cx="9289136" cy="437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683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6D7B2-71F9-3B71-2C26-B8C5C4B4D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직사각형 3">
            <a:extLst>
              <a:ext uri="{FF2B5EF4-FFF2-40B4-BE49-F238E27FC236}">
                <a16:creationId xmlns:a16="http://schemas.microsoft.com/office/drawing/2014/main" id="{8D6F837B-4FAC-8C05-AD87-B172D9B592AC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온도별 배터리 실험</a:t>
            </a:r>
          </a:p>
        </p:txBody>
      </p:sp>
      <p:grpSp>
        <p:nvGrpSpPr>
          <p:cNvPr id="17410" name="그룹 21">
            <a:extLst>
              <a:ext uri="{FF2B5EF4-FFF2-40B4-BE49-F238E27FC236}">
                <a16:creationId xmlns:a16="http://schemas.microsoft.com/office/drawing/2014/main" id="{745D66E0-939C-4AC5-4F70-5DEC380BEBA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690225" y="850900"/>
            <a:ext cx="1227138" cy="539750"/>
            <a:chOff x="8305800" y="5904191"/>
            <a:chExt cx="2063631" cy="909502"/>
          </a:xfrm>
        </p:grpSpPr>
        <p:pic>
          <p:nvPicPr>
            <p:cNvPr id="17419" name="그림 22">
              <a:extLst>
                <a:ext uri="{FF2B5EF4-FFF2-40B4-BE49-F238E27FC236}">
                  <a16:creationId xmlns:a16="http://schemas.microsoft.com/office/drawing/2014/main" id="{EFFEE401-ED6D-1D53-0EE3-D8F91466C0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9929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그림 23">
              <a:extLst>
                <a:ext uri="{FF2B5EF4-FFF2-40B4-BE49-F238E27FC236}">
                  <a16:creationId xmlns:a16="http://schemas.microsoft.com/office/drawing/2014/main" id="{68095063-3D5A-4F7A-7760-7009D1C36F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5800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灯片编号占位符 2">
            <a:extLst>
              <a:ext uri="{FF2B5EF4-FFF2-40B4-BE49-F238E27FC236}">
                <a16:creationId xmlns:a16="http://schemas.microsoft.com/office/drawing/2014/main" id="{D8829F74-4F9B-7CAA-5672-C667BEEB66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0" hangingPunct="0">
              <a:lnSpc>
                <a:spcPct val="100000"/>
              </a:lnSpc>
              <a:spcAft>
                <a:spcPct val="0"/>
              </a:spcAft>
              <a:buFontTx/>
              <a:buNone/>
            </a:pPr>
            <a:fld id="{8AEA4A16-1955-5F4E-9B7D-28267E1B830A}" type="slidenum">
              <a:rPr lang="ko-KR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eaLnBrk="0" hangingPunct="0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17</a:t>
            </a:fld>
            <a:endParaRPr lang="ko-KR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17412" name="Rectangle 8">
            <a:extLst>
              <a:ext uri="{FF2B5EF4-FFF2-40B4-BE49-F238E27FC236}">
                <a16:creationId xmlns:a16="http://schemas.microsoft.com/office/drawing/2014/main" id="{49AB53C0-5303-B22A-7706-75809EBBFCD3}"/>
              </a:ext>
            </a:extLst>
          </p:cNvPr>
          <p:cNvSpPr>
            <a:spLocks noChangeAspect="1"/>
          </p:cNvSpPr>
          <p:nvPr/>
        </p:nvSpPr>
        <p:spPr bwMode="auto">
          <a:xfrm>
            <a:off x="180975" y="850900"/>
            <a:ext cx="11736388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>
              <a:lnSpc>
                <a:spcPct val="110000"/>
              </a:lnSpc>
              <a:buClr>
                <a:srgbClr val="595959"/>
              </a:buClr>
              <a:buFont typeface="Wingdings" pitchFamily="2" charset="2"/>
              <a:buChar char="§"/>
              <a:defRPr/>
            </a:pPr>
            <a:r>
              <a:rPr lang="ko-KR" altLang="en-US" b="1" dirty="0">
                <a:cs typeface="Arial" panose="020B0604020202020204" pitchFamily="34" charset="0"/>
              </a:rPr>
              <a:t>  </a:t>
            </a:r>
            <a:r>
              <a:rPr lang="en-US" altLang="ko-KR" b="1" dirty="0">
                <a:cs typeface="Arial" panose="020B0604020202020204" pitchFamily="34" charset="0"/>
              </a:rPr>
              <a:t> </a:t>
            </a:r>
            <a:r>
              <a:rPr lang="ko-KR" altLang="en-US" b="1" dirty="0">
                <a:cs typeface="Arial" panose="020B0604020202020204" pitchFamily="34" charset="0"/>
              </a:rPr>
              <a:t>고온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b="1" dirty="0">
                <a:cs typeface="Arial" panose="020B0604020202020204" pitchFamily="34" charset="0"/>
              </a:rPr>
              <a:t>31</a:t>
            </a:r>
            <a:r>
              <a:rPr lang="ko-KR" altLang="en-US" b="1" dirty="0">
                <a:cs typeface="Arial" panose="020B0604020202020204" pitchFamily="34" charset="0"/>
              </a:rPr>
              <a:t>번 배터리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F95626F-0EA8-504D-04EC-F1644678AA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989" y="1670738"/>
            <a:ext cx="9671165" cy="442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49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34505-3038-A23E-346D-4BF964157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직사각형 3">
            <a:extLst>
              <a:ext uri="{FF2B5EF4-FFF2-40B4-BE49-F238E27FC236}">
                <a16:creationId xmlns:a16="http://schemas.microsoft.com/office/drawing/2014/main" id="{89E942CA-64C5-5EE5-31B2-687988EBF28B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온도별 배터리 실험</a:t>
            </a:r>
          </a:p>
        </p:txBody>
      </p:sp>
      <p:grpSp>
        <p:nvGrpSpPr>
          <p:cNvPr id="17410" name="그룹 21">
            <a:extLst>
              <a:ext uri="{FF2B5EF4-FFF2-40B4-BE49-F238E27FC236}">
                <a16:creationId xmlns:a16="http://schemas.microsoft.com/office/drawing/2014/main" id="{3A132F3C-1F41-FA8F-9233-70B4A9A0E45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690225" y="850900"/>
            <a:ext cx="1227138" cy="539750"/>
            <a:chOff x="8305800" y="5904191"/>
            <a:chExt cx="2063631" cy="909502"/>
          </a:xfrm>
        </p:grpSpPr>
        <p:pic>
          <p:nvPicPr>
            <p:cNvPr id="17419" name="그림 22">
              <a:extLst>
                <a:ext uri="{FF2B5EF4-FFF2-40B4-BE49-F238E27FC236}">
                  <a16:creationId xmlns:a16="http://schemas.microsoft.com/office/drawing/2014/main" id="{8D6C1CDD-0774-4FC5-6137-1987854ECA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9929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그림 23">
              <a:extLst>
                <a:ext uri="{FF2B5EF4-FFF2-40B4-BE49-F238E27FC236}">
                  <a16:creationId xmlns:a16="http://schemas.microsoft.com/office/drawing/2014/main" id="{EA0E8CCE-6E25-9998-432F-AD5AC93BBF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5800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灯片编号占位符 2">
            <a:extLst>
              <a:ext uri="{FF2B5EF4-FFF2-40B4-BE49-F238E27FC236}">
                <a16:creationId xmlns:a16="http://schemas.microsoft.com/office/drawing/2014/main" id="{8364E501-5DCB-AA7E-A9BF-A1C06B95CE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0" hangingPunct="0">
              <a:lnSpc>
                <a:spcPct val="100000"/>
              </a:lnSpc>
              <a:spcAft>
                <a:spcPct val="0"/>
              </a:spcAft>
              <a:buFontTx/>
              <a:buNone/>
            </a:pPr>
            <a:fld id="{8AEA4A16-1955-5F4E-9B7D-28267E1B830A}" type="slidenum">
              <a:rPr lang="ko-KR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eaLnBrk="0" hangingPunct="0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18</a:t>
            </a:fld>
            <a:endParaRPr lang="ko-KR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17412" name="Rectangle 8">
            <a:extLst>
              <a:ext uri="{FF2B5EF4-FFF2-40B4-BE49-F238E27FC236}">
                <a16:creationId xmlns:a16="http://schemas.microsoft.com/office/drawing/2014/main" id="{5493ADF4-FF28-9420-D372-9F7B2E1B8059}"/>
              </a:ext>
            </a:extLst>
          </p:cNvPr>
          <p:cNvSpPr>
            <a:spLocks noChangeAspect="1"/>
          </p:cNvSpPr>
          <p:nvPr/>
        </p:nvSpPr>
        <p:spPr bwMode="auto">
          <a:xfrm>
            <a:off x="180975" y="850900"/>
            <a:ext cx="11736388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>
              <a:lnSpc>
                <a:spcPct val="110000"/>
              </a:lnSpc>
              <a:buClr>
                <a:srgbClr val="595959"/>
              </a:buClr>
              <a:buFont typeface="Wingdings" pitchFamily="2" charset="2"/>
              <a:buChar char="§"/>
              <a:defRPr/>
            </a:pPr>
            <a:r>
              <a:rPr lang="ko-KR" altLang="en-US" b="1" dirty="0">
                <a:cs typeface="Arial" panose="020B0604020202020204" pitchFamily="34" charset="0"/>
              </a:rPr>
              <a:t>  </a:t>
            </a:r>
            <a:r>
              <a:rPr lang="en-US" altLang="ko-KR" b="1" dirty="0">
                <a:cs typeface="Arial" panose="020B0604020202020204" pitchFamily="34" charset="0"/>
              </a:rPr>
              <a:t> </a:t>
            </a:r>
            <a:r>
              <a:rPr lang="ko-KR" altLang="en-US" b="1" dirty="0">
                <a:cs typeface="Arial" panose="020B0604020202020204" pitchFamily="34" charset="0"/>
              </a:rPr>
              <a:t>고온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b="1" dirty="0">
                <a:cs typeface="Arial" panose="020B0604020202020204" pitchFamily="34" charset="0"/>
              </a:rPr>
              <a:t>32</a:t>
            </a:r>
            <a:r>
              <a:rPr lang="ko-KR" altLang="en-US" b="1" dirty="0">
                <a:cs typeface="Arial" panose="020B0604020202020204" pitchFamily="34" charset="0"/>
              </a:rPr>
              <a:t>번 배터리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F3A61B-BCDB-FB6F-9649-1B08404B3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9725" y="1755294"/>
            <a:ext cx="9312550" cy="425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420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BE3B3-99B9-ACD9-827F-5F553BCB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직사각형 3">
            <a:extLst>
              <a:ext uri="{FF2B5EF4-FFF2-40B4-BE49-F238E27FC236}">
                <a16:creationId xmlns:a16="http://schemas.microsoft.com/office/drawing/2014/main" id="{0DB6BBD3-4E07-69BA-256E-00A070ED66E9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6.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인사이트</a:t>
            </a:r>
          </a:p>
        </p:txBody>
      </p:sp>
      <p:grpSp>
        <p:nvGrpSpPr>
          <p:cNvPr id="17410" name="그룹 21">
            <a:extLst>
              <a:ext uri="{FF2B5EF4-FFF2-40B4-BE49-F238E27FC236}">
                <a16:creationId xmlns:a16="http://schemas.microsoft.com/office/drawing/2014/main" id="{B887688F-200C-E8FC-70BA-07A27DE657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690225" y="850900"/>
            <a:ext cx="1227138" cy="539750"/>
            <a:chOff x="8305800" y="5904191"/>
            <a:chExt cx="2063631" cy="909502"/>
          </a:xfrm>
        </p:grpSpPr>
        <p:pic>
          <p:nvPicPr>
            <p:cNvPr id="17419" name="그림 22">
              <a:extLst>
                <a:ext uri="{FF2B5EF4-FFF2-40B4-BE49-F238E27FC236}">
                  <a16:creationId xmlns:a16="http://schemas.microsoft.com/office/drawing/2014/main" id="{23A1CC47-7B33-FBD7-2796-A801EDF6E9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9929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그림 23">
              <a:extLst>
                <a:ext uri="{FF2B5EF4-FFF2-40B4-BE49-F238E27FC236}">
                  <a16:creationId xmlns:a16="http://schemas.microsoft.com/office/drawing/2014/main" id="{28D7D7FE-033C-E645-F9CE-534836C4A0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5800" y="5904191"/>
              <a:ext cx="909502" cy="909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灯片编号占位符 2">
            <a:extLst>
              <a:ext uri="{FF2B5EF4-FFF2-40B4-BE49-F238E27FC236}">
                <a16:creationId xmlns:a16="http://schemas.microsoft.com/office/drawing/2014/main" id="{65B2B392-B915-6813-DE38-8C4CC6553A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0" hangingPunct="0">
              <a:lnSpc>
                <a:spcPct val="100000"/>
              </a:lnSpc>
              <a:spcAft>
                <a:spcPct val="0"/>
              </a:spcAft>
              <a:buFontTx/>
              <a:buNone/>
            </a:pPr>
            <a:fld id="{8AEA4A16-1955-5F4E-9B7D-28267E1B830A}" type="slidenum">
              <a:rPr lang="ko-KR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eaLnBrk="0" hangingPunct="0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19</a:t>
            </a:fld>
            <a:endParaRPr lang="ko-KR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17412" name="Rectangle 8">
            <a:extLst>
              <a:ext uri="{FF2B5EF4-FFF2-40B4-BE49-F238E27FC236}">
                <a16:creationId xmlns:a16="http://schemas.microsoft.com/office/drawing/2014/main" id="{61869926-A435-8CAF-C17A-BF581E6FF43A}"/>
              </a:ext>
            </a:extLst>
          </p:cNvPr>
          <p:cNvSpPr>
            <a:spLocks noChangeAspect="1"/>
          </p:cNvSpPr>
          <p:nvPr/>
        </p:nvSpPr>
        <p:spPr bwMode="auto">
          <a:xfrm>
            <a:off x="180975" y="850900"/>
            <a:ext cx="11736388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285750" indent="-285750" algn="just" eaLnBrk="1">
              <a:lnSpc>
                <a:spcPct val="110000"/>
              </a:lnSpc>
              <a:buClr>
                <a:srgbClr val="595959"/>
              </a:buClr>
              <a:buFontTx/>
              <a:buChar char="-"/>
              <a:defRPr/>
            </a:pPr>
            <a:endParaRPr lang="en-US" altLang="ko-KR" b="1" dirty="0">
              <a:cs typeface="Arial" panose="020B0604020202020204" pitchFamily="34" charset="0"/>
            </a:endParaRPr>
          </a:p>
          <a:p>
            <a:pPr marL="285750" indent="-285750" algn="just" eaLnBrk="1">
              <a:lnSpc>
                <a:spcPct val="110000"/>
              </a:lnSpc>
              <a:buClr>
                <a:srgbClr val="595959"/>
              </a:buClr>
              <a:buFontTx/>
              <a:buChar char="-"/>
              <a:defRPr/>
            </a:pPr>
            <a:endParaRPr lang="en-US" altLang="ko-KR" b="1" dirty="0">
              <a:cs typeface="Arial" panose="020B0604020202020204" pitchFamily="34" charset="0"/>
            </a:endParaRPr>
          </a:p>
          <a:p>
            <a:pPr marL="285750" indent="-285750" algn="just" eaLnBrk="1">
              <a:lnSpc>
                <a:spcPct val="110000"/>
              </a:lnSpc>
              <a:buClr>
                <a:srgbClr val="595959"/>
              </a:buClr>
              <a:buFontTx/>
              <a:buChar char="-"/>
              <a:defRPr/>
            </a:pPr>
            <a:r>
              <a:rPr lang="ko-KR" altLang="en-US" b="1" dirty="0">
                <a:cs typeface="Arial" panose="020B0604020202020204" pitchFamily="34" charset="0"/>
              </a:rPr>
              <a:t>복잡한 패턴이 있는 데이터에서는 </a:t>
            </a:r>
            <a:r>
              <a:rPr lang="en-US" altLang="ko-KR" b="1" dirty="0">
                <a:cs typeface="Arial" panose="020B0604020202020204" pitchFamily="34" charset="0"/>
              </a:rPr>
              <a:t>CNN</a:t>
            </a:r>
            <a:r>
              <a:rPr lang="ko-KR" altLang="en-US" b="1" dirty="0">
                <a:cs typeface="Arial" panose="020B0604020202020204" pitchFamily="34" charset="0"/>
              </a:rPr>
              <a:t>이 확실한 강점을 보이고</a:t>
            </a:r>
            <a:r>
              <a:rPr lang="en-US" altLang="ko-KR" b="1" dirty="0"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cs typeface="Arial" panose="020B0604020202020204" pitchFamily="34" charset="0"/>
              </a:rPr>
              <a:t>노이즈가 심한 데이터에서는 </a:t>
            </a:r>
            <a:r>
              <a:rPr lang="en-US" altLang="ko-KR" sz="1600" b="1" dirty="0">
                <a:cs typeface="Arial" panose="020B0604020202020204" pitchFamily="34" charset="0"/>
              </a:rPr>
              <a:t>LSTM</a:t>
            </a:r>
            <a:r>
              <a:rPr lang="ko-KR" altLang="en-US" sz="1600" b="1" dirty="0">
                <a:cs typeface="Arial" panose="020B0604020202020204" pitchFamily="34" charset="0"/>
              </a:rPr>
              <a:t>이 강점을 보였다</a:t>
            </a:r>
            <a:r>
              <a:rPr lang="en-US" altLang="ko-KR" sz="1600" b="1" dirty="0">
                <a:cs typeface="Arial" panose="020B0604020202020204" pitchFamily="34" charset="0"/>
              </a:rPr>
              <a:t>.</a:t>
            </a: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marL="285750" indent="-285750" algn="just" eaLnBrk="1">
              <a:lnSpc>
                <a:spcPct val="110000"/>
              </a:lnSpc>
              <a:buClr>
                <a:srgbClr val="595959"/>
              </a:buClr>
              <a:buFontTx/>
              <a:buChar char="-"/>
              <a:defRPr/>
            </a:pPr>
            <a:r>
              <a:rPr lang="ko-KR" altLang="en-US" sz="1600" b="1" dirty="0">
                <a:cs typeface="Arial" panose="020B0604020202020204" pitchFamily="34" charset="0"/>
              </a:rPr>
              <a:t>몇몇 배터리는 </a:t>
            </a:r>
            <a:r>
              <a:rPr lang="en-US" altLang="ko-KR" sz="1600" b="1" dirty="0">
                <a:cs typeface="Arial" panose="020B0604020202020204" pitchFamily="34" charset="0"/>
              </a:rPr>
              <a:t>SOH</a:t>
            </a:r>
            <a:r>
              <a:rPr lang="ko-KR" altLang="en-US" sz="1600" b="1" dirty="0">
                <a:cs typeface="Arial" panose="020B0604020202020204" pitchFamily="34" charset="0"/>
              </a:rPr>
              <a:t>가 </a:t>
            </a:r>
            <a:r>
              <a:rPr lang="en-US" altLang="ko-KR" sz="1600" b="1" dirty="0">
                <a:cs typeface="Arial" panose="020B0604020202020204" pitchFamily="34" charset="0"/>
              </a:rPr>
              <a:t>0</a:t>
            </a:r>
            <a:r>
              <a:rPr lang="ko-KR" altLang="en-US" sz="1600" b="1" dirty="0">
                <a:cs typeface="Arial" panose="020B0604020202020204" pitchFamily="34" charset="0"/>
              </a:rPr>
              <a:t>으로 수직 급락했다가 다시 </a:t>
            </a:r>
            <a:r>
              <a:rPr lang="en-US" altLang="ko-KR" sz="1600" b="1" dirty="0">
                <a:cs typeface="Arial" panose="020B0604020202020204" pitchFamily="34" charset="0"/>
              </a:rPr>
              <a:t>1.0 </a:t>
            </a:r>
            <a:r>
              <a:rPr lang="ko-KR" altLang="en-US" sz="1600" b="1" dirty="0">
                <a:cs typeface="Arial" panose="020B0604020202020204" pitchFamily="34" charset="0"/>
              </a:rPr>
              <a:t>이상으로 회복하는 물리적으로 불가능한 패턴을 보임</a:t>
            </a:r>
            <a:r>
              <a:rPr lang="en-US" altLang="ko-KR" sz="1600" b="1" dirty="0">
                <a:cs typeface="Arial" panose="020B0604020202020204" pitchFamily="34" charset="0"/>
              </a:rPr>
              <a:t>. </a:t>
            </a:r>
            <a:r>
              <a:rPr lang="ko-KR" altLang="en-US" sz="1600" b="1" dirty="0">
                <a:cs typeface="Arial" panose="020B0604020202020204" pitchFamily="34" charset="0"/>
              </a:rPr>
              <a:t>모델 실패는 당연</a:t>
            </a:r>
            <a:r>
              <a:rPr lang="en-US" altLang="ko-KR" sz="1600" b="1" dirty="0">
                <a:cs typeface="Arial" panose="020B0604020202020204" pitchFamily="34" charset="0"/>
              </a:rPr>
              <a:t>!</a:t>
            </a:r>
          </a:p>
          <a:p>
            <a:pPr marL="285750" indent="-285750" algn="just" eaLnBrk="1">
              <a:lnSpc>
                <a:spcPct val="110000"/>
              </a:lnSpc>
              <a:buClr>
                <a:srgbClr val="595959"/>
              </a:buClr>
              <a:buFontTx/>
              <a:buChar char="-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marL="285750" indent="-285750" algn="just" eaLnBrk="1">
              <a:lnSpc>
                <a:spcPct val="110000"/>
              </a:lnSpc>
              <a:buClr>
                <a:srgbClr val="595959"/>
              </a:buClr>
              <a:buFontTx/>
              <a:buChar char="-"/>
              <a:defRPr/>
            </a:pPr>
            <a:r>
              <a:rPr lang="ko-KR" altLang="en-US" sz="1600" b="1" dirty="0">
                <a:cs typeface="Arial" panose="020B0604020202020204" pitchFamily="34" charset="0"/>
              </a:rPr>
              <a:t>테스트 구간에서 반대로 예측하는 배터리들이 존재</a:t>
            </a:r>
            <a:r>
              <a:rPr lang="en-US" altLang="ko-KR" sz="1600" b="1" dirty="0">
                <a:cs typeface="Arial" panose="020B0604020202020204" pitchFamily="34" charset="0"/>
              </a:rPr>
              <a:t>. </a:t>
            </a:r>
            <a:r>
              <a:rPr lang="ko-KR" altLang="en-US" sz="1600" b="1" dirty="0">
                <a:cs typeface="Arial" panose="020B0604020202020204" pitchFamily="34" charset="0"/>
              </a:rPr>
              <a:t>시간 흐름에 따른 하락 패턴을 충분히 학습하지 못함</a:t>
            </a:r>
            <a:r>
              <a:rPr lang="en-US" altLang="ko-KR" sz="1600" b="1" dirty="0">
                <a:cs typeface="Arial" panose="020B0604020202020204" pitchFamily="34" charset="0"/>
              </a:rPr>
              <a:t>.</a:t>
            </a:r>
          </a:p>
          <a:p>
            <a:pPr algn="just" eaLnBrk="1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marL="285750" indent="-285750" algn="just" eaLnBrk="1">
              <a:lnSpc>
                <a:spcPct val="110000"/>
              </a:lnSpc>
              <a:buClr>
                <a:srgbClr val="595959"/>
              </a:buClr>
              <a:buFontTx/>
              <a:buChar char="-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 eaLnBrk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 eaLnBrk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ko-KR" altLang="en-US" sz="1300" b="1" i="1" u="sng" dirty="0"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8927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D4B9931D-871B-34BB-F225-349B7C122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887413"/>
            <a:ext cx="1219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latin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>
              <a:solidFill>
                <a:schemeClr val="tx1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43010" name="object 2">
            <a:extLst>
              <a:ext uri="{FF2B5EF4-FFF2-40B4-BE49-F238E27FC236}">
                <a16:creationId xmlns:a16="http://schemas.microsoft.com/office/drawing/2014/main" id="{AEDAD452-DF44-F091-FE7C-362A97C4A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260975"/>
          </a:xfrm>
          <a:custGeom>
            <a:avLst/>
            <a:gdLst>
              <a:gd name="T0" fmla="*/ 0 w 12192000"/>
              <a:gd name="T1" fmla="*/ 5260848 h 5260975"/>
              <a:gd name="T2" fmla="*/ 12192000 w 12192000"/>
              <a:gd name="T3" fmla="*/ 5260848 h 5260975"/>
              <a:gd name="T4" fmla="*/ 12192000 w 12192000"/>
              <a:gd name="T5" fmla="*/ 0 h 5260975"/>
              <a:gd name="T6" fmla="*/ 0 w 12192000"/>
              <a:gd name="T7" fmla="*/ 0 h 5260975"/>
              <a:gd name="T8" fmla="*/ 0 w 12192000"/>
              <a:gd name="T9" fmla="*/ 5260848 h 52609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192000" h="5260975">
                <a:moveTo>
                  <a:pt x="0" y="5260848"/>
                </a:moveTo>
                <a:lnTo>
                  <a:pt x="12192000" y="5260848"/>
                </a:lnTo>
                <a:lnTo>
                  <a:pt x="12192000" y="0"/>
                </a:lnTo>
                <a:lnTo>
                  <a:pt x="0" y="0"/>
                </a:lnTo>
                <a:lnTo>
                  <a:pt x="0" y="5260848"/>
                </a:lnTo>
                <a:close/>
              </a:path>
            </a:pathLst>
          </a:custGeom>
          <a:solidFill>
            <a:srgbClr val="204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3011" name="TextBox 2">
            <a:extLst>
              <a:ext uri="{FF2B5EF4-FFF2-40B4-BE49-F238E27FC236}">
                <a16:creationId xmlns:a16="http://schemas.microsoft.com/office/drawing/2014/main" id="{B7440C39-E7E4-4678-C95D-0A3CAD80A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3" y="2568575"/>
            <a:ext cx="443547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latin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7000">
                <a:solidFill>
                  <a:schemeClr val="bg1"/>
                </a:solidFill>
                <a:latin typeface="나눔스퀘어" pitchFamily="50" charset="-127"/>
                <a:ea typeface="나눔스퀘어" pitchFamily="50" charset="-127"/>
              </a:rPr>
              <a:t>Thank You</a:t>
            </a:r>
            <a:endParaRPr lang="ko-KR" altLang="en-US" sz="7000">
              <a:solidFill>
                <a:schemeClr val="bg1"/>
              </a:solidFill>
              <a:latin typeface="나눔스퀘어" pitchFamily="50" charset="-127"/>
              <a:ea typeface="나눔스퀘어" pitchFamily="50" charset="-127"/>
            </a:endParaRPr>
          </a:p>
        </p:txBody>
      </p:sp>
      <p:sp>
        <p:nvSpPr>
          <p:cNvPr id="43012" name="灯片编号占位符 1">
            <a:extLst>
              <a:ext uri="{FF2B5EF4-FFF2-40B4-BE49-F238E27FC236}">
                <a16:creationId xmlns:a16="http://schemas.microsoft.com/office/drawing/2014/main" id="{F7DDDEAA-3DA8-D144-6248-B245E9F2DB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fld id="{DF6C1499-9F4F-3949-8C18-A61DC186D1A9}" type="slidenum">
              <a:rPr lang="zh-CN" altLang="en-US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20</a:t>
            </a:fld>
            <a:endParaRPr lang="zh-CN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ljNmZmMDI3MGUxNmMwZGY2NDBjOWFjMTRiN2U3Nm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8474</TotalTime>
  <Pages>1</Pages>
  <Words>423</Words>
  <Characters>0</Characters>
  <Application>Microsoft Office PowerPoint</Application>
  <DocSecurity>0</DocSecurity>
  <PresentationFormat>와이드스크린</PresentationFormat>
  <Lines>0</Lines>
  <Paragraphs>171</Paragraphs>
  <Slides>20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나눔스퀘어</vt:lpstr>
      <vt:lpstr>맑은 고딕</vt:lpstr>
      <vt:lpstr>Arial</vt:lpstr>
      <vt:lpstr>Calibri</vt:lpstr>
      <vt:lpstr>Wingdings</vt:lpstr>
      <vt:lpstr>WPS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穽ᐺ</dc:title>
  <dc:creator>김태림</dc:creator>
  <cp:lastModifiedBy>태림 김</cp:lastModifiedBy>
  <cp:revision>87</cp:revision>
  <dcterms:created xsi:type="dcterms:W3CDTF">2019-06-19T02:08:00Z</dcterms:created>
  <dcterms:modified xsi:type="dcterms:W3CDTF">2025-11-02T16:36:04Z</dcterms:modified>
</cp:coreProperties>
</file>